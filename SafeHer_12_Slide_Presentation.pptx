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ma’am and respected evaluators. We are from the Department of MCA, BMS Institute of Technology and Management. Our complete project is titled SafeHer: an integrated data-driven platform for women’s safety in public spaces. SafeHer combines crowdsourced citizen incident reporting with backend geospatial analysis, hotspot identification, and risk assessment to provide law enforcement authorities with actionable, preventive patrol intelligence. Our project is guided by Dr. M Sridevi, and directly aligns with United Nations Sustainable Development Goal 5 — Gender Equality, particularly Target 5.2 to eliminate violence against women and girls. To implement this comprehensive solution, our project is divided into two complementary modules: Module 1 is my module: “Security provision through hotspot identification and risk assessment for women’s safety in public spaces.” I am Anusha K, 1BY25MC017, and my scope covers the analytical engine—including data cleaning, spatial clustering, hotspot identification, and risk scoring. Module 2 is “Women’s safety and dynamic security monitoring mobile application,” handled by Aman Yadav, 1BY25MC012, which focuses on the citizen mobile client and the administrative Authority Dashboard. Both modules communicate seamlessly through REST APIs to deliver the unified SafeHer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objective of our project is to improve women’s safety in public spaces using a data-driven approach. In the existing system, incidents may be reported through different sources, but it can be difficult to identify where incidents are repeatedly occurring and which locations require more attention. Our project combines incident reporting, location-based analysis, hotspot identification and risk assessment. The mobile application allows users to report safety-related incidents by providing details such as the incident type, date, time, description and geographical location. The reported information is then processed and analysed. Module 1 focuses on analysing the incidents and identifying hotspots and risk levels, while Module 2 focuses on the mobile application and authority dashboard. The main purpose is to provide useful information for authorities so that they can take preventive actions such as better monitoring and patrolling in repeatedly affected areas.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present the literature survey and theoretical foundation of our project. Our work is grounded on well-established research in GIS crime mapping and environmental criminology. First, research by Sherman in 1989 on hotspot theory proved that crime is not distributed evenly across a city, but concentrates heavily in specific micro-places. This justifies why hotspot identification is a scientifically valid planning tool. Second, Chainey and Ratcliffe in 2005 demonstrated that GIS-based hotspot detection allows law enforcement to allocate patrolling and civic resources efficiently. In SafeHer, we use a 1-kilometer spatial grid to evaluate spatial density and recurrence. Third, environmental studies, such as Nehme et al. in 2017 and Safetipin audit studies, show that physical infrastructure like street lighting, CCTV surveillance, and police proximity strongly influence women’s perceived and actual safety. Finally, the research gap we address is that existing mobile applications are mostly reactive SOS panic buttons, while official police records are delayed and coarse. SafeHer bridges this gap by providing a proactive, rule-based, street-level geospatial hotspot and risk assessment platform using crowdsourced community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project, we use different types of data and resources. The first important source is the incident data. This contains information related to reported incidents, including their location, date, time and type. We also use geographical and public infrastructure information. For geographical information, we use OpenStreetMap and related geographical resources. The available Excel dataset is currently focused on Bengaluru. The dataset contains information related to roads, streets and buildings, along with prototype or assumed infrastructure attributes such as lighting and surveillance. These infrastructure attributes are used for the project analysis and demonstration. In addition to the existing dataset, new incident information can come from the mobile application. This allows the system to combine existing data with newly reported incidents.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complete data flow of our project. First, we have the existing data and the new incident data collected through the mobile application. The incident information is sent through an API to the backend. The backend stores the information in the database. After that, Module 1 performs data preprocessing and incident analysis. The data is analysed based on factors such as incident type, date, time, location, frequency and recurrence. Then we perform geospatial analysis to understand where incidents are concentrated. Based on this analysis, we identify hotspots and assign different risk levels such as Low, Medium and High. The analytical results are then provided through APIs to the Authority Dashboard. The dashboard allows authorities to view the information using maps, charts and filters. The system can also support alerts and preventive patrolling based on repeated or concentrated historical incidents.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architecture and technologies used in our project. For the mobile application, we can use a cross-platform framework such as Flutter or React Native. For the backend, we use Python and FastAPI. The database layer uses MongoDB for storing incident information. For data processing and analysis, we use libraries such as Pandas, NumPy and GeoPandas. For geographical visualization, we use OpenStreetMap along with Leaflet or Folium. For charts and analysis visualizations, we use Matplotlib or Plotly. The authority dashboard can be developed using technologies such as HTML, CSS, JavaScript and React. The communication between different components is handled using REST APIs and JSON. We can use tools such as Postman for API testing, and development tools such as VS Code and Android Studio.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divided into two major modules, but both modules work together as a single system. Module 1 is my module. It focuses on incident analysis, geospatial analysis, hotspot identification and risk-level assessment. My module takes the available incident and geographical data, processes it, identifies areas where incidents are concentrated or repeatedly reported, and produces the analytical results. Module 2 is handled by Aman. It focuses on the women’s safety mobile application and the authority dashboard. The mobile application allows users to submit incident reports. The authority dashboard allows authorized personnel to monitor the reported incidents, view maps and charts, apply filters and see hotspot and risk information. So, Module 1 provides the analytical results, while Module 2 provides the reporting and monitoring interface.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explain my module in more detail through its eight-stage analytical pipeline. The first step is data integration, where we combine geographical context with incident reports received from the mobile app. Second is data preprocessing, handling missing values, deduplication, and validating GPS coordinates. Third is incident analysis, categorizing event types, temporal patterns, and recurrence. Fourth is geospatial binning, mapping reports onto a 1-kilometer spatial grid. From Step 4, the workflow moves directly into Step 5: hotspot detection, flagging areas with 3 or more incidents across distinct dates. Sixth is risk stratification, assigning Low, Medium, or High risk tiers using rule-based criteria. Seventh is alert generation, ranking high-risk areas to produce a preventive patrol list. Finally, eighth is the serving layer, publishing GeoJSON and REST APIs so that analytical results seamlessly feed the Authority Dashboard.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type of output produced by Module 1. The purpose of this output is to make the incident analysis easier to understand visually. Instead of looking at individual incident records, authorities can see where incidents are concentrated. The hotspot information can be represented on a map, along with the corresponding risk level. The system can categorize identified areas into Low, Medium and High risk levels. This makes it easier for authorities to focus their attention on areas with repeated or concentrated incidents. The results can also support preventive patrolling and security planning. So, the main output of Module 1 is not just the raw incident data, but a more useful representation of the data through statistics, geographical information, hotspots and risk levels.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explain Module 2. Module 2 focuses on the Women’s Safety and Dynamic Security Monitoring Mobile Application. The application allows users to report women-safety-related incidents. While submitting a report, the user can provide information such as the incident type, date, time, description and geographical location. The information is sent through the API to the backend and stored in the database. The important feature is that new reports can continuously enter the system. This is why the system supports dynamic security monitoring. The new incident information can then be processed by Module 1. The Authority Dashboard provides authorized personnel with a centralized view of the information. Authorities can view incident statistics, geographical information, hotspots and risk levels. They can also filter the information based on factors such as region or city, incident type, date, time and risk level. The system can also generate daily alerts based on recent or recurring incidents to support preventive patrolling.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main screens or interfaces of our proposed system. The first part is the mobile application. The user can access the application and submit an incident report by providing the required information and geographical location. The second part is the Authority Dashboard. The dashboard provides a centralized interface for authorized personnel. It can display incident information using maps, charts and statistics. The authority can apply filters to focus on a particular region, incident type, date, time or risk level. The hotspot and risk information generated by Module 1 can also be visualized on the dashboard. This makes the system easier to use because the authority does not have to manually analyse individual incident records.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project combines women-safety incident reporting with data analysis and security monitoring. Module 1 focuses on analysing historical incidents, performing geospatial analysis, identifying hotspots and assigning risk levels. Module 2 provides the mobile application and Authority Dashboard through which incidents can be reported and monitored. The two modules are connected through the backend and APIs. The main benefit of the system is that it converts incident data into useful information such as hotspots, risk levels, geographical visualizations and alerts. This information can help authorities understand areas where incidents are repeatedly or heavily concentrated and support preventive patrolling and safety planning. Our current available dataset is focused on Bengaluru, while the overall system architecture can be extended to other regions or cities when suitable data is available. The project contributes to SDG 5 – Gender Equality, especially by supporting efforts to address violence and improve safety for women in public spaces.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ma’am. I am ready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56539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10789920" cy="256032"/>
          </a:xfrm>
          <a:prstGeom prst="rect">
            <a:avLst/>
          </a:prstGeom>
          <a:noFill/>
        </p:spPr>
        <p:txBody>
          <a:bodyPr wrap="square" lIns="54864" rIns="54864" tIns="36576" bIns="36576">
            <a:spAutoFit/>
          </a:bodyPr>
          <a:lstStyle/>
          <a:p>
            <a:pPr algn="l"/>
            <a:r>
              <a:rPr sz="1300" b="1">
                <a:solidFill>
                  <a:srgbClr val="C4A35A"/>
                </a:solidFill>
                <a:latin typeface="Calibri"/>
              </a:rPr>
              <a:t>BMS INSTITUTE OF TECHNOLOGY AND MANAGEMENT</a:t>
            </a:r>
          </a:p>
        </p:txBody>
      </p:sp>
      <p:sp>
        <p:nvSpPr>
          <p:cNvPr id="5" name="TextBox 4"/>
          <p:cNvSpPr txBox="1"/>
          <p:nvPr/>
        </p:nvSpPr>
        <p:spPr>
          <a:xfrm>
            <a:off x="731520" y="694944"/>
            <a:ext cx="10789920" cy="256032"/>
          </a:xfrm>
          <a:prstGeom prst="rect">
            <a:avLst/>
          </a:prstGeom>
          <a:noFill/>
        </p:spPr>
        <p:txBody>
          <a:bodyPr wrap="square" lIns="54864" rIns="54864" tIns="36576" bIns="36576">
            <a:spAutoFit/>
          </a:bodyPr>
          <a:lstStyle/>
          <a:p>
            <a:pPr algn="l"/>
            <a:r>
              <a:rPr sz="1200" b="0">
                <a:solidFill>
                  <a:srgbClr val="C8D7EB"/>
                </a:solidFill>
                <a:latin typeface="Calibri"/>
              </a:rPr>
              <a:t>Department of Master of Computer Applications  ·  Project Work Phase I (MMCA34)  ·  Batch 2025–2027</a:t>
            </a:r>
          </a:p>
        </p:txBody>
      </p:sp>
      <p:sp>
        <p:nvSpPr>
          <p:cNvPr id="6" name="Rectangle 5"/>
          <p:cNvSpPr/>
          <p:nvPr/>
        </p:nvSpPr>
        <p:spPr>
          <a:xfrm>
            <a:off x="731520" y="1024128"/>
            <a:ext cx="2377440" cy="36576"/>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188720"/>
            <a:ext cx="1737360" cy="365760"/>
          </a:xfrm>
          <a:prstGeom prst="roundRect">
            <a:avLst/>
          </a:prstGeom>
          <a:solidFill>
            <a:srgbClr val="163A5F"/>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225296"/>
            <a:ext cx="1554480" cy="274320"/>
          </a:xfrm>
          <a:prstGeom prst="rect">
            <a:avLst/>
          </a:prstGeom>
          <a:noFill/>
        </p:spPr>
        <p:txBody>
          <a:bodyPr wrap="square" lIns="54864" rIns="54864" tIns="36576" bIns="36576">
            <a:spAutoFit/>
          </a:bodyPr>
          <a:lstStyle/>
          <a:p>
            <a:pPr algn="ctr"/>
            <a:r>
              <a:rPr sz="1800" b="1">
                <a:solidFill>
                  <a:srgbClr val="C4A35A"/>
                </a:solidFill>
                <a:latin typeface="Calibri"/>
              </a:rPr>
              <a:t>SafeHer</a:t>
            </a:r>
          </a:p>
        </p:txBody>
      </p:sp>
      <p:sp>
        <p:nvSpPr>
          <p:cNvPr id="9" name="TextBox 8"/>
          <p:cNvSpPr txBox="1"/>
          <p:nvPr/>
        </p:nvSpPr>
        <p:spPr>
          <a:xfrm>
            <a:off x="2606040" y="1243584"/>
            <a:ext cx="8686800" cy="274320"/>
          </a:xfrm>
          <a:prstGeom prst="rect">
            <a:avLst/>
          </a:prstGeom>
          <a:noFill/>
        </p:spPr>
        <p:txBody>
          <a:bodyPr wrap="square" lIns="54864" rIns="54864" tIns="36576" bIns="36576">
            <a:spAutoFit/>
          </a:bodyPr>
          <a:lstStyle/>
          <a:p>
            <a:pPr algn="l"/>
            <a:r>
              <a:rPr sz="1400" b="0">
                <a:solidFill>
                  <a:srgbClr val="D6C48A"/>
                </a:solidFill>
                <a:latin typeface="Calibri"/>
              </a:rPr>
              <a:t>— Dynamic Security Monitoring &amp; Women’s Safety System</a:t>
            </a:r>
          </a:p>
        </p:txBody>
      </p:sp>
      <p:sp>
        <p:nvSpPr>
          <p:cNvPr id="10" name="Rounded Rectangle 9"/>
          <p:cNvSpPr/>
          <p:nvPr/>
        </p:nvSpPr>
        <p:spPr>
          <a:xfrm>
            <a:off x="731520" y="1719072"/>
            <a:ext cx="10698480" cy="1353312"/>
          </a:xfrm>
          <a:prstGeom prst="roundRect">
            <a:avLst/>
          </a:prstGeom>
          <a:solidFill>
            <a:srgbClr val="102C4C"/>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719072"/>
            <a:ext cx="91440" cy="135331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792224"/>
            <a:ext cx="10241280" cy="256032"/>
          </a:xfrm>
          <a:prstGeom prst="rect">
            <a:avLst/>
          </a:prstGeom>
          <a:noFill/>
        </p:spPr>
        <p:txBody>
          <a:bodyPr wrap="square" lIns="54864" rIns="54864" tIns="36576" bIns="36576">
            <a:spAutoFit/>
          </a:bodyPr>
          <a:lstStyle/>
          <a:p>
            <a:pPr algn="l"/>
            <a:r>
              <a:rPr sz="1300" b="1">
                <a:solidFill>
                  <a:srgbClr val="C4A35A"/>
                </a:solidFill>
                <a:latin typeface="Calibri"/>
              </a:rPr>
              <a:t>MODULE 1  ·  Anusha K (USN: 1BY25MC017)  ·  Presenter</a:t>
            </a:r>
          </a:p>
        </p:txBody>
      </p:sp>
      <p:sp>
        <p:nvSpPr>
          <p:cNvPr id="13" name="TextBox 12"/>
          <p:cNvSpPr txBox="1"/>
          <p:nvPr/>
        </p:nvSpPr>
        <p:spPr>
          <a:xfrm>
            <a:off x="1005840" y="2066543"/>
            <a:ext cx="10241280" cy="868680"/>
          </a:xfrm>
          <a:prstGeom prst="rect">
            <a:avLst/>
          </a:prstGeom>
          <a:noFill/>
        </p:spPr>
        <p:txBody>
          <a:bodyPr wrap="square" lIns="54864" rIns="54864" tIns="36576" bIns="36576">
            <a:spAutoFit/>
          </a:bodyPr>
          <a:lstStyle/>
          <a:p>
            <a:pPr algn="l"/>
            <a:r>
              <a:rPr sz="1800" b="1">
                <a:solidFill>
                  <a:srgbClr val="FFFFFF"/>
                </a:solidFill>
                <a:latin typeface="Calibri"/>
              </a:rPr>
              <a:t>“Security Provision through Hotspot Identification and Risk Assessment for Women’s Safety in Public Spaces”</a:t>
            </a:r>
          </a:p>
        </p:txBody>
      </p:sp>
      <p:sp>
        <p:nvSpPr>
          <p:cNvPr id="14" name="Rounded Rectangle 13"/>
          <p:cNvSpPr/>
          <p:nvPr/>
        </p:nvSpPr>
        <p:spPr>
          <a:xfrm>
            <a:off x="731520" y="3218688"/>
            <a:ext cx="10698480" cy="1234440"/>
          </a:xfrm>
          <a:prstGeom prst="roundRect">
            <a:avLst/>
          </a:prstGeom>
          <a:solidFill>
            <a:srgbClr val="102C4C"/>
          </a:solidFill>
          <a:ln w="12700">
            <a:solidFill>
              <a:srgbClr val="16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218688"/>
            <a:ext cx="91440" cy="1234440"/>
          </a:xfrm>
          <a:prstGeom prst="rect">
            <a:avLst/>
          </a:prstGeom>
          <a:solidFill>
            <a:srgbClr val="648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291840"/>
            <a:ext cx="10241280" cy="256032"/>
          </a:xfrm>
          <a:prstGeom prst="rect">
            <a:avLst/>
          </a:prstGeom>
          <a:noFill/>
        </p:spPr>
        <p:txBody>
          <a:bodyPr wrap="square" lIns="54864" rIns="54864" tIns="36576" bIns="36576">
            <a:spAutoFit/>
          </a:bodyPr>
          <a:lstStyle/>
          <a:p>
            <a:pPr algn="l"/>
            <a:r>
              <a:rPr sz="1300" b="1">
                <a:solidFill>
                  <a:srgbClr val="A0C8F5"/>
                </a:solidFill>
                <a:latin typeface="Calibri"/>
              </a:rPr>
              <a:t>MODULE 2  ·  Aman Yadav (USN: 1BY25MC012)</a:t>
            </a:r>
          </a:p>
        </p:txBody>
      </p:sp>
      <p:sp>
        <p:nvSpPr>
          <p:cNvPr id="17" name="TextBox 16"/>
          <p:cNvSpPr txBox="1"/>
          <p:nvPr/>
        </p:nvSpPr>
        <p:spPr>
          <a:xfrm>
            <a:off x="1005840" y="3566160"/>
            <a:ext cx="10241280" cy="731520"/>
          </a:xfrm>
          <a:prstGeom prst="rect">
            <a:avLst/>
          </a:prstGeom>
          <a:noFill/>
        </p:spPr>
        <p:txBody>
          <a:bodyPr wrap="square" lIns="54864" rIns="54864" tIns="36576" bIns="36576">
            <a:spAutoFit/>
          </a:bodyPr>
          <a:lstStyle/>
          <a:p>
            <a:pPr algn="l"/>
            <a:r>
              <a:rPr sz="1700" b="1">
                <a:solidFill>
                  <a:srgbClr val="F0F5FC"/>
                </a:solidFill>
                <a:latin typeface="Calibri"/>
              </a:rPr>
              <a:t>“Women’s Safety and Dynamic Security Monitoring Mobile Application”</a:t>
            </a:r>
          </a:p>
        </p:txBody>
      </p:sp>
      <p:sp>
        <p:nvSpPr>
          <p:cNvPr id="18" name="Rounded Rectangle 17"/>
          <p:cNvSpPr/>
          <p:nvPr/>
        </p:nvSpPr>
        <p:spPr>
          <a:xfrm>
            <a:off x="731520" y="4617720"/>
            <a:ext cx="5120640" cy="1325880"/>
          </a:xfrm>
          <a:prstGeom prst="roundRect">
            <a:avLst/>
          </a:prstGeom>
          <a:solidFill>
            <a:srgbClr val="10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617720"/>
            <a:ext cx="73152" cy="132588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709160"/>
            <a:ext cx="4754880" cy="228600"/>
          </a:xfrm>
          <a:prstGeom prst="rect">
            <a:avLst/>
          </a:prstGeom>
          <a:noFill/>
        </p:spPr>
        <p:txBody>
          <a:bodyPr wrap="square" lIns="54864" rIns="54864" tIns="36576" bIns="36576">
            <a:spAutoFit/>
          </a:bodyPr>
          <a:lstStyle/>
          <a:p>
            <a:pPr algn="l"/>
            <a:r>
              <a:rPr sz="1100" b="1">
                <a:solidFill>
                  <a:srgbClr val="C4A35A"/>
                </a:solidFill>
                <a:latin typeface="Calibri"/>
              </a:rPr>
              <a:t>PROJECT GUIDANCE</a:t>
            </a:r>
          </a:p>
        </p:txBody>
      </p:sp>
      <p:sp>
        <p:nvSpPr>
          <p:cNvPr id="21" name="TextBox 20"/>
          <p:cNvSpPr txBox="1"/>
          <p:nvPr/>
        </p:nvSpPr>
        <p:spPr>
          <a:xfrm>
            <a:off x="960120" y="4956048"/>
            <a:ext cx="4754880" cy="320040"/>
          </a:xfrm>
          <a:prstGeom prst="rect">
            <a:avLst/>
          </a:prstGeom>
          <a:noFill/>
        </p:spPr>
        <p:txBody>
          <a:bodyPr wrap="square" lIns="54864" rIns="54864" tIns="36576" bIns="36576">
            <a:spAutoFit/>
          </a:bodyPr>
          <a:lstStyle/>
          <a:p>
            <a:pPr algn="l"/>
            <a:r>
              <a:rPr sz="1800" b="1">
                <a:solidFill>
                  <a:srgbClr val="FFFFFF"/>
                </a:solidFill>
                <a:latin typeface="Calibri"/>
              </a:rPr>
              <a:t>Dr. M Sridevi</a:t>
            </a:r>
          </a:p>
        </p:txBody>
      </p:sp>
      <p:sp>
        <p:nvSpPr>
          <p:cNvPr id="22" name="TextBox 21"/>
          <p:cNvSpPr txBox="1"/>
          <p:nvPr/>
        </p:nvSpPr>
        <p:spPr>
          <a:xfrm>
            <a:off x="960120" y="5303520"/>
            <a:ext cx="4754880" cy="502920"/>
          </a:xfrm>
          <a:prstGeom prst="rect">
            <a:avLst/>
          </a:prstGeom>
          <a:noFill/>
        </p:spPr>
        <p:txBody>
          <a:bodyPr wrap="square" lIns="54864" rIns="54864" tIns="36576" bIns="36576">
            <a:spAutoFit/>
          </a:bodyPr>
          <a:lstStyle/>
          <a:p>
            <a:pPr algn="l"/>
            <a:r>
              <a:rPr sz="1100" b="0">
                <a:solidFill>
                  <a:srgbClr val="BECDE1"/>
                </a:solidFill>
                <a:latin typeface="Calibri"/>
              </a:rPr>
              <a:t>Department of Master of Computer Applications
BMS Institute of Technology &amp; Management</a:t>
            </a:r>
          </a:p>
        </p:txBody>
      </p:sp>
      <p:sp>
        <p:nvSpPr>
          <p:cNvPr id="23" name="Rounded Rectangle 22"/>
          <p:cNvSpPr/>
          <p:nvPr/>
        </p:nvSpPr>
        <p:spPr>
          <a:xfrm>
            <a:off x="6035040" y="4617720"/>
            <a:ext cx="5394960" cy="1325880"/>
          </a:xfrm>
          <a:prstGeom prst="roundRect">
            <a:avLst/>
          </a:prstGeom>
          <a:solidFill>
            <a:srgbClr val="10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35040" y="4617720"/>
            <a:ext cx="73152" cy="1325880"/>
          </a:xfrm>
          <a:prstGeom prst="rect">
            <a:avLst/>
          </a:prstGeom>
          <a:solidFill>
            <a:srgbClr val="DC3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4709160"/>
            <a:ext cx="5029200" cy="228600"/>
          </a:xfrm>
          <a:prstGeom prst="rect">
            <a:avLst/>
          </a:prstGeom>
          <a:noFill/>
        </p:spPr>
        <p:txBody>
          <a:bodyPr wrap="square" lIns="54864" rIns="54864" tIns="36576" bIns="36576">
            <a:spAutoFit/>
          </a:bodyPr>
          <a:lstStyle/>
          <a:p>
            <a:pPr algn="l"/>
            <a:r>
              <a:rPr sz="1100" b="1">
                <a:solidFill>
                  <a:srgbClr val="F58296"/>
                </a:solidFill>
                <a:latin typeface="Calibri"/>
              </a:rPr>
              <a:t>UNITED NATIONS SUSTAINABLE DEVELOPMENT GOALS</a:t>
            </a:r>
          </a:p>
        </p:txBody>
      </p:sp>
      <p:sp>
        <p:nvSpPr>
          <p:cNvPr id="26" name="TextBox 25"/>
          <p:cNvSpPr txBox="1"/>
          <p:nvPr/>
        </p:nvSpPr>
        <p:spPr>
          <a:xfrm>
            <a:off x="6263640" y="4956048"/>
            <a:ext cx="5029200" cy="320040"/>
          </a:xfrm>
          <a:prstGeom prst="rect">
            <a:avLst/>
          </a:prstGeom>
          <a:noFill/>
        </p:spPr>
        <p:txBody>
          <a:bodyPr wrap="square" lIns="54864" rIns="54864" tIns="36576" bIns="36576">
            <a:spAutoFit/>
          </a:bodyPr>
          <a:lstStyle/>
          <a:p>
            <a:pPr algn="l"/>
            <a:r>
              <a:rPr sz="1700" b="1">
                <a:solidFill>
                  <a:srgbClr val="FFFFFF"/>
                </a:solidFill>
                <a:latin typeface="Calibri"/>
              </a:rPr>
              <a:t>SDG 5: Gender Equality  ·  Target 5.2</a:t>
            </a:r>
          </a:p>
        </p:txBody>
      </p:sp>
      <p:sp>
        <p:nvSpPr>
          <p:cNvPr id="27" name="TextBox 26"/>
          <p:cNvSpPr txBox="1"/>
          <p:nvPr/>
        </p:nvSpPr>
        <p:spPr>
          <a:xfrm>
            <a:off x="6263640" y="5303520"/>
            <a:ext cx="5029200" cy="502920"/>
          </a:xfrm>
          <a:prstGeom prst="rect">
            <a:avLst/>
          </a:prstGeom>
          <a:noFill/>
        </p:spPr>
        <p:txBody>
          <a:bodyPr wrap="square" lIns="54864" rIns="54864" tIns="36576" bIns="36576">
            <a:spAutoFit/>
          </a:bodyPr>
          <a:lstStyle/>
          <a:p>
            <a:pPr algn="l"/>
            <a:r>
              <a:rPr sz="1100" b="0">
                <a:solidFill>
                  <a:srgbClr val="DCE6F5"/>
                </a:solidFill>
                <a:latin typeface="Calibri"/>
              </a:rPr>
              <a:t>Objective: Eliminate all forms of violence against all women and girls in public and private spheres.</a:t>
            </a:r>
          </a:p>
        </p:txBody>
      </p:sp>
      <p:sp>
        <p:nvSpPr>
          <p:cNvPr id="28" name="Rectangle 27"/>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31" name="TextBox 30"/>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INTRODUCTION &amp; PROJECT CONTEXT</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Data-Driven Safety Provision in Public Spaces</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Moving from isolated, delayed incident records to proactive hotspot identification and risk assessment</a:t>
            </a:r>
          </a:p>
        </p:txBody>
      </p:sp>
      <p:sp>
        <p:nvSpPr>
          <p:cNvPr id="8" name="Rounded Rectangle 7"/>
          <p:cNvSpPr/>
          <p:nvPr/>
        </p:nvSpPr>
        <p:spPr>
          <a:xfrm>
            <a:off x="548640" y="1325880"/>
            <a:ext cx="3520440" cy="48920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62456"/>
            <a:ext cx="73152" cy="481888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35608"/>
            <a:ext cx="3227832" cy="274320"/>
          </a:xfrm>
          <a:prstGeom prst="rect">
            <a:avLst/>
          </a:prstGeom>
          <a:noFill/>
        </p:spPr>
        <p:txBody>
          <a:bodyPr wrap="square" lIns="54864" rIns="54864" tIns="36576" bIns="36576">
            <a:spAutoFit/>
          </a:bodyPr>
          <a:lstStyle/>
          <a:p>
            <a:pPr algn="l"/>
            <a:r>
              <a:rPr sz="1250" b="1">
                <a:solidFill>
                  <a:srgbClr val="0C2340"/>
                </a:solidFill>
                <a:latin typeface="Calibri"/>
              </a:rPr>
              <a:t>1. The Existing Difficulty</a:t>
            </a:r>
          </a:p>
        </p:txBody>
      </p:sp>
      <p:sp>
        <p:nvSpPr>
          <p:cNvPr id="11" name="TextBox 10"/>
          <p:cNvSpPr txBox="1"/>
          <p:nvPr/>
        </p:nvSpPr>
        <p:spPr>
          <a:xfrm>
            <a:off x="731520" y="1728216"/>
            <a:ext cx="3227832" cy="4434840"/>
          </a:xfrm>
          <a:prstGeom prst="rect">
            <a:avLst/>
          </a:prstGeom>
          <a:noFill/>
        </p:spPr>
        <p:txBody>
          <a:bodyPr wrap="square" lIns="0" rIns="0" tIns="0" bIns="0">
            <a:spAutoFit/>
          </a:bodyPr>
          <a:lstStyle/>
          <a:p>
            <a:pPr>
              <a:spcAft>
                <a:spcPts val="400"/>
              </a:spcAft>
            </a:pPr>
            <a:r>
              <a:rPr sz="1000" b="1">
                <a:solidFill>
                  <a:srgbClr val="163A5F"/>
                </a:solidFill>
                <a:latin typeface="Calibri"/>
              </a:rPr>
              <a:t>Fragmented Incident Logging: </a:t>
            </a:r>
            <a:r>
              <a:rPr sz="1000" b="0">
                <a:solidFill>
                  <a:srgbClr val="1B2430"/>
                </a:solidFill>
                <a:latin typeface="Calibri"/>
              </a:rPr>
              <a:t>Incidents are recorded across isolated police registers, helplines, and FIRs without unified spatial synthesis.</a:t>
            </a:r>
          </a:p>
          <a:p>
            <a:pPr>
              <a:spcAft>
                <a:spcPts val="400"/>
              </a:spcAft>
            </a:pPr>
            <a:r>
              <a:rPr sz="1000" b="1">
                <a:solidFill>
                  <a:srgbClr val="163A5F"/>
                </a:solidFill>
                <a:latin typeface="Calibri"/>
              </a:rPr>
              <a:t>Lack of Spatial Concentration: </a:t>
            </a:r>
            <a:r>
              <a:rPr sz="1000" b="0">
                <a:solidFill>
                  <a:srgbClr val="1B2430"/>
                </a:solidFill>
                <a:latin typeface="Calibri"/>
              </a:rPr>
              <a:t>Duty officers cannot readily identify WHERE repeated incidents concentrate; coarse city totals fail to pinpoint vulnerable streets.</a:t>
            </a:r>
          </a:p>
          <a:p>
            <a:pPr>
              <a:spcAft>
                <a:spcPts val="400"/>
              </a:spcAft>
            </a:pPr>
            <a:r>
              <a:rPr sz="1000" b="1">
                <a:solidFill>
                  <a:srgbClr val="163A5F"/>
                </a:solidFill>
                <a:latin typeface="Calibri"/>
              </a:rPr>
              <a:t>Delayed Response: </a:t>
            </a:r>
            <a:r>
              <a:rPr sz="1000" b="0">
                <a:solidFill>
                  <a:srgbClr val="1B2430"/>
                </a:solidFill>
                <a:latin typeface="Calibri"/>
              </a:rPr>
              <a:t>Traditional reporting is retrospective and bureaucratic, leaving law enforcement without actionable real-time spatial intelligence.</a:t>
            </a:r>
          </a:p>
          <a:p>
            <a:pPr>
              <a:spcAft>
                <a:spcPts val="400"/>
              </a:spcAft>
            </a:pPr>
            <a:r>
              <a:rPr sz="1000" b="1">
                <a:solidFill>
                  <a:srgbClr val="163A5F"/>
                </a:solidFill>
                <a:latin typeface="Calibri"/>
              </a:rPr>
              <a:t>Patrol Resource Challenge: </a:t>
            </a:r>
            <a:r>
              <a:rPr sz="1000" b="0">
                <a:solidFill>
                  <a:srgbClr val="1B2430"/>
                </a:solidFill>
                <a:latin typeface="Calibri"/>
              </a:rPr>
              <a:t>Without street-level recurrence insights, police patrol allocation remains arbitrary rather than evidence-based.</a:t>
            </a:r>
          </a:p>
        </p:txBody>
      </p:sp>
      <p:sp>
        <p:nvSpPr>
          <p:cNvPr id="12" name="Rounded Rectangle 11"/>
          <p:cNvSpPr/>
          <p:nvPr/>
        </p:nvSpPr>
        <p:spPr>
          <a:xfrm>
            <a:off x="4343400" y="1325880"/>
            <a:ext cx="3520440" cy="48920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362456"/>
            <a:ext cx="73152" cy="4818888"/>
          </a:xfrm>
          <a:prstGeom prst="rect">
            <a:avLst/>
          </a:prstGeom>
          <a:solidFill>
            <a:srgbClr val="9A7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435608"/>
            <a:ext cx="3227832" cy="274320"/>
          </a:xfrm>
          <a:prstGeom prst="rect">
            <a:avLst/>
          </a:prstGeom>
          <a:noFill/>
        </p:spPr>
        <p:txBody>
          <a:bodyPr wrap="square" lIns="54864" rIns="54864" tIns="36576" bIns="36576">
            <a:spAutoFit/>
          </a:bodyPr>
          <a:lstStyle/>
          <a:p>
            <a:pPr algn="l"/>
            <a:r>
              <a:rPr sz="1250" b="1">
                <a:solidFill>
                  <a:srgbClr val="0C2340"/>
                </a:solidFill>
                <a:latin typeface="Calibri"/>
              </a:rPr>
              <a:t>2. The SafeHer Solution</a:t>
            </a:r>
          </a:p>
        </p:txBody>
      </p:sp>
      <p:sp>
        <p:nvSpPr>
          <p:cNvPr id="15" name="TextBox 14"/>
          <p:cNvSpPr txBox="1"/>
          <p:nvPr/>
        </p:nvSpPr>
        <p:spPr>
          <a:xfrm>
            <a:off x="4526280" y="1728216"/>
            <a:ext cx="3227832" cy="4434840"/>
          </a:xfrm>
          <a:prstGeom prst="rect">
            <a:avLst/>
          </a:prstGeom>
          <a:noFill/>
        </p:spPr>
        <p:txBody>
          <a:bodyPr wrap="square" lIns="0" rIns="0" tIns="0" bIns="0">
            <a:spAutoFit/>
          </a:bodyPr>
          <a:lstStyle/>
          <a:p>
            <a:pPr>
              <a:spcAft>
                <a:spcPts val="400"/>
              </a:spcAft>
            </a:pPr>
            <a:r>
              <a:rPr sz="1000" b="1">
                <a:solidFill>
                  <a:srgbClr val="163A5F"/>
                </a:solidFill>
                <a:latin typeface="Calibri"/>
              </a:rPr>
              <a:t>Four Integrated Pillars: </a:t>
            </a:r>
            <a:r>
              <a:rPr sz="1000" b="0">
                <a:solidFill>
                  <a:srgbClr val="1B2430"/>
                </a:solidFill>
                <a:latin typeface="Calibri"/>
              </a:rPr>
              <a:t>Unites Mobile Incident Reporting, Location-Based Analysis, Hotspot Identification, and Risk Assessment.</a:t>
            </a:r>
          </a:p>
          <a:p>
            <a:pPr>
              <a:spcAft>
                <a:spcPts val="400"/>
              </a:spcAft>
            </a:pPr>
            <a:r>
              <a:rPr sz="1000" b="1">
                <a:solidFill>
                  <a:srgbClr val="163A5F"/>
                </a:solidFill>
                <a:latin typeface="Calibri"/>
              </a:rPr>
              <a:t>Citizen Mobile Intake: </a:t>
            </a:r>
            <a:r>
              <a:rPr sz="1000" b="0">
                <a:solidFill>
                  <a:srgbClr val="1B2430"/>
                </a:solidFill>
                <a:latin typeface="Calibri"/>
              </a:rPr>
              <a:t>Enables women to record incident type, timestamp, description, and high-accuracy GPS coordinates on the spot.</a:t>
            </a:r>
          </a:p>
          <a:p>
            <a:pPr>
              <a:spcAft>
                <a:spcPts val="400"/>
              </a:spcAft>
            </a:pPr>
            <a:r>
              <a:rPr sz="1000" b="1">
                <a:solidFill>
                  <a:srgbClr val="163A5F"/>
                </a:solidFill>
                <a:latin typeface="Calibri"/>
              </a:rPr>
              <a:t>Spatial Processing Engine: </a:t>
            </a:r>
            <a:r>
              <a:rPr sz="1000" b="0">
                <a:solidFill>
                  <a:srgbClr val="1B2430"/>
                </a:solidFill>
                <a:latin typeface="Calibri"/>
              </a:rPr>
              <a:t>Module 1 analyzes frequency, spatial concentration, and temporal recurrence across street grids.</a:t>
            </a:r>
          </a:p>
          <a:p>
            <a:pPr>
              <a:spcAft>
                <a:spcPts val="400"/>
              </a:spcAft>
            </a:pPr>
            <a:r>
              <a:rPr sz="1000" b="1">
                <a:solidFill>
                  <a:srgbClr val="163A5F"/>
                </a:solidFill>
                <a:latin typeface="Calibri"/>
              </a:rPr>
              <a:t>Dynamic Dual Modules: </a:t>
            </a:r>
            <a:r>
              <a:rPr sz="1000" b="0">
                <a:solidFill>
                  <a:srgbClr val="1B2430"/>
                </a:solidFill>
                <a:latin typeface="Calibri"/>
              </a:rPr>
              <a:t>Module 1 generates analytical intelligence; Module 2 delivers the mobile reporting app &amp; authority dashboard.</a:t>
            </a:r>
          </a:p>
        </p:txBody>
      </p:sp>
      <p:sp>
        <p:nvSpPr>
          <p:cNvPr id="16" name="Rounded Rectangle 15"/>
          <p:cNvSpPr/>
          <p:nvPr/>
        </p:nvSpPr>
        <p:spPr>
          <a:xfrm>
            <a:off x="8138160" y="1325880"/>
            <a:ext cx="3520440" cy="48920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362456"/>
            <a:ext cx="73152" cy="4818888"/>
          </a:xfrm>
          <a:prstGeom prst="rect">
            <a:avLst/>
          </a:prstGeom>
          <a:solidFill>
            <a:srgbClr val="1E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435608"/>
            <a:ext cx="3227832" cy="274320"/>
          </a:xfrm>
          <a:prstGeom prst="rect">
            <a:avLst/>
          </a:prstGeom>
          <a:noFill/>
        </p:spPr>
        <p:txBody>
          <a:bodyPr wrap="square" lIns="54864" rIns="54864" tIns="36576" bIns="36576">
            <a:spAutoFit/>
          </a:bodyPr>
          <a:lstStyle/>
          <a:p>
            <a:pPr algn="l"/>
            <a:r>
              <a:rPr sz="1250" b="1">
                <a:solidFill>
                  <a:srgbClr val="0C2340"/>
                </a:solidFill>
                <a:latin typeface="Calibri"/>
              </a:rPr>
              <a:t>3. Impact &amp; Authority Value</a:t>
            </a:r>
          </a:p>
        </p:txBody>
      </p:sp>
      <p:sp>
        <p:nvSpPr>
          <p:cNvPr id="19" name="TextBox 18"/>
          <p:cNvSpPr txBox="1"/>
          <p:nvPr/>
        </p:nvSpPr>
        <p:spPr>
          <a:xfrm>
            <a:off x="8321040" y="1728216"/>
            <a:ext cx="3227832" cy="4434840"/>
          </a:xfrm>
          <a:prstGeom prst="rect">
            <a:avLst/>
          </a:prstGeom>
          <a:noFill/>
        </p:spPr>
        <p:txBody>
          <a:bodyPr wrap="square" lIns="0" rIns="0" tIns="0" bIns="0">
            <a:spAutoFit/>
          </a:bodyPr>
          <a:lstStyle/>
          <a:p>
            <a:pPr>
              <a:spcAft>
                <a:spcPts val="400"/>
              </a:spcAft>
            </a:pPr>
            <a:r>
              <a:rPr sz="1000" b="1">
                <a:solidFill>
                  <a:srgbClr val="163A5F"/>
                </a:solidFill>
                <a:latin typeface="Calibri"/>
              </a:rPr>
              <a:t>Actionable Intelligence: </a:t>
            </a:r>
            <a:r>
              <a:rPr sz="1000" b="0">
                <a:solidFill>
                  <a:srgbClr val="1B2430"/>
                </a:solidFill>
                <a:latin typeface="Calibri"/>
              </a:rPr>
              <a:t>Converts raw crowdsourced reports into categorized risk zones (Low, Medium, High) for clear situational awareness.</a:t>
            </a:r>
          </a:p>
          <a:p>
            <a:pPr>
              <a:spcAft>
                <a:spcPts val="400"/>
              </a:spcAft>
            </a:pPr>
            <a:r>
              <a:rPr sz="1000" b="1">
                <a:solidFill>
                  <a:srgbClr val="163A5F"/>
                </a:solidFill>
                <a:latin typeface="Calibri"/>
              </a:rPr>
              <a:t>Preventive Patrolling: </a:t>
            </a:r>
            <a:r>
              <a:rPr sz="1000" b="0">
                <a:solidFill>
                  <a:srgbClr val="1B2430"/>
                </a:solidFill>
                <a:latin typeface="Calibri"/>
              </a:rPr>
              <a:t>Enables law enforcement to focus patrol units on repeatedly affected locations before further incident escalation.</a:t>
            </a:r>
          </a:p>
          <a:p>
            <a:pPr>
              <a:spcAft>
                <a:spcPts val="400"/>
              </a:spcAft>
            </a:pPr>
            <a:r>
              <a:rPr sz="1000" b="1">
                <a:solidFill>
                  <a:srgbClr val="163A5F"/>
                </a:solidFill>
                <a:latin typeface="Calibri"/>
              </a:rPr>
              <a:t>Centralized Monitoring: </a:t>
            </a:r>
            <a:r>
              <a:rPr sz="1000" b="0">
                <a:solidFill>
                  <a:srgbClr val="1B2430"/>
                </a:solidFill>
                <a:latin typeface="Calibri"/>
              </a:rPr>
              <a:t>Equips authorities with interactive maps, filtering by region, incident type, date, and risk.</a:t>
            </a:r>
          </a:p>
          <a:p>
            <a:pPr>
              <a:spcAft>
                <a:spcPts val="400"/>
              </a:spcAft>
            </a:pPr>
            <a:r>
              <a:rPr sz="1000" b="1">
                <a:solidFill>
                  <a:srgbClr val="163A5F"/>
                </a:solidFill>
                <a:latin typeface="Calibri"/>
              </a:rPr>
              <a:t>SDG 5.2 Contribution: </a:t>
            </a:r>
            <a:r>
              <a:rPr sz="1000" b="0">
                <a:solidFill>
                  <a:srgbClr val="1B2430"/>
                </a:solidFill>
                <a:latin typeface="Calibri"/>
              </a:rPr>
              <a:t>Direct technological intervention to eliminate public violence against women and girls.</a:t>
            </a:r>
          </a:p>
        </p:txBody>
      </p:sp>
      <p:sp>
        <p:nvSpPr>
          <p:cNvPr id="20" name="Rectangle 19"/>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3" name="TextBox 22"/>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LITERATURE SURVEY &amp; RESEARCH FOUNDATION</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Theoretical Foundations &amp; Academic Benchmarks</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Grounded in environmental criminology, GIS hotspot clustering, and civic safety audits</a:t>
            </a:r>
          </a:p>
        </p:txBody>
      </p:sp>
      <p:sp>
        <p:nvSpPr>
          <p:cNvPr id="8" name="Rounded Rectangle 7"/>
          <p:cNvSpPr/>
          <p:nvPr/>
        </p:nvSpPr>
        <p:spPr>
          <a:xfrm>
            <a:off x="548640" y="132588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62456"/>
            <a:ext cx="73152" cy="2350008"/>
          </a:xfrm>
          <a:prstGeom prst="rect">
            <a:avLst/>
          </a:prstGeom>
          <a:solidFill>
            <a:srgbClr val="9A7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3560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1. Hotspot Theory &amp; Spatial Concentration (Sherman, 1989)</a:t>
            </a:r>
          </a:p>
        </p:txBody>
      </p:sp>
      <p:sp>
        <p:nvSpPr>
          <p:cNvPr id="11" name="TextBox 10"/>
          <p:cNvSpPr txBox="1"/>
          <p:nvPr/>
        </p:nvSpPr>
        <p:spPr>
          <a:xfrm>
            <a:off x="731520" y="172821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Micro-Place Concentration: </a:t>
            </a:r>
            <a:r>
              <a:rPr sz="950" b="0">
                <a:solidFill>
                  <a:srgbClr val="1B2430"/>
                </a:solidFill>
                <a:latin typeface="Calibri"/>
              </a:rPr>
              <a:t>Landmark research establishes that crime and safety risks do not scatter uniformly; up to 50% of incidents concentrate in less than 3% of micro-places.</a:t>
            </a:r>
          </a:p>
          <a:p>
            <a:pPr>
              <a:spcAft>
                <a:spcPts val="300"/>
              </a:spcAft>
            </a:pPr>
            <a:r>
              <a:rPr sz="950" b="1">
                <a:solidFill>
                  <a:srgbClr val="163A5F"/>
                </a:solidFill>
                <a:latin typeface="Calibri"/>
              </a:rPr>
              <a:t>Scientific Justification: </a:t>
            </a:r>
            <a:r>
              <a:rPr sz="950" b="0">
                <a:solidFill>
                  <a:srgbClr val="1B2430"/>
                </a:solidFill>
                <a:latin typeface="Calibri"/>
              </a:rPr>
              <a:t>Validates hotspot mapping as an empirically sound planning methodology rather than subjective visualization.</a:t>
            </a:r>
          </a:p>
          <a:p>
            <a:pPr>
              <a:spcAft>
                <a:spcPts val="300"/>
              </a:spcAft>
            </a:pPr>
            <a:r>
              <a:rPr sz="950" b="1">
                <a:solidFill>
                  <a:srgbClr val="163A5F"/>
                </a:solidFill>
                <a:latin typeface="Calibri"/>
              </a:rPr>
              <a:t>Planning Benchmark: </a:t>
            </a:r>
            <a:r>
              <a:rPr sz="950" b="0">
                <a:solidFill>
                  <a:srgbClr val="1B2430"/>
                </a:solidFill>
                <a:latin typeface="Calibri"/>
              </a:rPr>
              <a:t>Hotspot grids represent legitimate operational units for municipal intervention and civic resource allocation.</a:t>
            </a:r>
          </a:p>
        </p:txBody>
      </p:sp>
      <p:sp>
        <p:nvSpPr>
          <p:cNvPr id="12" name="Rounded Rectangle 11"/>
          <p:cNvSpPr/>
          <p:nvPr/>
        </p:nvSpPr>
        <p:spPr>
          <a:xfrm>
            <a:off x="6217920" y="132588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62456"/>
            <a:ext cx="73152" cy="2350008"/>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43560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2. GIS Crime Mapping &amp; Patrol Allocation (Chainey &amp; Ratcliffe, 2005)</a:t>
            </a:r>
          </a:p>
        </p:txBody>
      </p:sp>
      <p:sp>
        <p:nvSpPr>
          <p:cNvPr id="15" name="TextBox 14"/>
          <p:cNvSpPr txBox="1"/>
          <p:nvPr/>
        </p:nvSpPr>
        <p:spPr>
          <a:xfrm>
            <a:off x="6400800" y="172821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Evidence-Based Dispatch: </a:t>
            </a:r>
            <a:r>
              <a:rPr sz="950" b="0">
                <a:solidFill>
                  <a:srgbClr val="1B2430"/>
                </a:solidFill>
                <a:latin typeface="Calibri"/>
              </a:rPr>
              <a:t>Demonstrates the efficacy of spatial clustering algorithms to deploy limited police patrols to high-density recurrence zones.</a:t>
            </a:r>
          </a:p>
          <a:p>
            <a:pPr>
              <a:spcAft>
                <a:spcPts val="300"/>
              </a:spcAft>
            </a:pPr>
            <a:r>
              <a:rPr sz="950" b="1">
                <a:solidFill>
                  <a:srgbClr val="163A5F"/>
                </a:solidFill>
                <a:latin typeface="Calibri"/>
              </a:rPr>
              <a:t>Grid-Based Density Modeling: </a:t>
            </a:r>
            <a:r>
              <a:rPr sz="950" b="0">
                <a:solidFill>
                  <a:srgbClr val="1B2430"/>
                </a:solidFill>
                <a:latin typeface="Calibri"/>
              </a:rPr>
              <a:t>Establishes standard methodologies for spatial density aggregation, inspiring SafeHer's 1 km analytical cell structure.</a:t>
            </a:r>
          </a:p>
          <a:p>
            <a:pPr>
              <a:spcAft>
                <a:spcPts val="300"/>
              </a:spcAft>
            </a:pPr>
            <a:r>
              <a:rPr sz="950" b="1">
                <a:solidFill>
                  <a:srgbClr val="163A5F"/>
                </a:solidFill>
                <a:latin typeface="Calibri"/>
              </a:rPr>
              <a:t>Operational Transparency: </a:t>
            </a:r>
            <a:r>
              <a:rPr sz="950" b="0">
                <a:solidFill>
                  <a:srgbClr val="1B2430"/>
                </a:solidFill>
                <a:latin typeface="Calibri"/>
              </a:rPr>
              <a:t>Spatial models provide transparent, defensible rationales for police administration briefings.</a:t>
            </a:r>
          </a:p>
        </p:txBody>
      </p:sp>
      <p:sp>
        <p:nvSpPr>
          <p:cNvPr id="16" name="Rounded Rectangle 15"/>
          <p:cNvSpPr/>
          <p:nvPr/>
        </p:nvSpPr>
        <p:spPr>
          <a:xfrm>
            <a:off x="548640" y="388620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73152" cy="2350008"/>
          </a:xfrm>
          <a:prstGeom prst="rect">
            <a:avLst/>
          </a:prstGeom>
          <a:solidFill>
            <a:srgbClr val="1E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9592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3. Built Environment Determinants (Nehme et al., 2017 &amp; Safetipin Audits)</a:t>
            </a:r>
          </a:p>
        </p:txBody>
      </p:sp>
      <p:sp>
        <p:nvSpPr>
          <p:cNvPr id="19" name="TextBox 18"/>
          <p:cNvSpPr txBox="1"/>
          <p:nvPr/>
        </p:nvSpPr>
        <p:spPr>
          <a:xfrm>
            <a:off x="731520" y="428853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Environmental Vulnerability: </a:t>
            </a:r>
            <a:r>
              <a:rPr sz="950" b="0">
                <a:solidFill>
                  <a:srgbClr val="1B2430"/>
                </a:solidFill>
                <a:latin typeface="Calibri"/>
              </a:rPr>
              <a:t>Quantifies how physical infrastructure—such as unlit street stretches, blind alleys, and isolated transit stops—directly shapes danger.</a:t>
            </a:r>
          </a:p>
          <a:p>
            <a:pPr>
              <a:spcAft>
                <a:spcPts val="300"/>
              </a:spcAft>
            </a:pPr>
            <a:r>
              <a:rPr sz="950" b="1">
                <a:solidFill>
                  <a:srgbClr val="163A5F"/>
                </a:solidFill>
                <a:latin typeface="Calibri"/>
              </a:rPr>
              <a:t>Perceptual Safety Factors: </a:t>
            </a:r>
            <a:r>
              <a:rPr sz="950" b="0">
                <a:solidFill>
                  <a:srgbClr val="1B2430"/>
                </a:solidFill>
                <a:latin typeface="Calibri"/>
              </a:rPr>
              <a:t>Validates collecting feeling safe/unsafe perceptions alongside formal crime reports.</a:t>
            </a:r>
          </a:p>
          <a:p>
            <a:pPr>
              <a:spcAft>
                <a:spcPts val="300"/>
              </a:spcAft>
            </a:pPr>
            <a:r>
              <a:rPr sz="950" b="1">
                <a:solidFill>
                  <a:srgbClr val="163A5F"/>
                </a:solidFill>
                <a:latin typeface="Calibri"/>
              </a:rPr>
              <a:t>Multivariate Risk Fusion: </a:t>
            </a:r>
            <a:r>
              <a:rPr sz="950" b="0">
                <a:solidFill>
                  <a:srgbClr val="1B2430"/>
                </a:solidFill>
                <a:latin typeface="Calibri"/>
              </a:rPr>
              <a:t>Supports SafeHer's methodology of integrating crowd reports with street lighting and police proximity layers.</a:t>
            </a:r>
          </a:p>
        </p:txBody>
      </p:sp>
      <p:sp>
        <p:nvSpPr>
          <p:cNvPr id="20" name="Rounded Rectangle 19"/>
          <p:cNvSpPr/>
          <p:nvPr/>
        </p:nvSpPr>
        <p:spPr>
          <a:xfrm>
            <a:off x="6217920" y="388620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922776"/>
            <a:ext cx="73152" cy="23500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99592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4. Research Gap &amp; The SafeHer Technological Advance</a:t>
            </a:r>
          </a:p>
        </p:txBody>
      </p:sp>
      <p:sp>
        <p:nvSpPr>
          <p:cNvPr id="23" name="TextBox 22"/>
          <p:cNvSpPr txBox="1"/>
          <p:nvPr/>
        </p:nvSpPr>
        <p:spPr>
          <a:xfrm>
            <a:off x="6400800" y="428853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Commercial SOS Limitations: </a:t>
            </a:r>
            <a:r>
              <a:rPr sz="950" b="0">
                <a:solidFill>
                  <a:srgbClr val="1B2430"/>
                </a:solidFill>
                <a:latin typeface="Calibri"/>
              </a:rPr>
              <a:t>Existing safety mobile apps rely almost exclusively on reactive SOS buttons, offering no preventive spatial insights.</a:t>
            </a:r>
          </a:p>
          <a:p>
            <a:pPr>
              <a:spcAft>
                <a:spcPts val="300"/>
              </a:spcAft>
            </a:pPr>
            <a:r>
              <a:rPr sz="950" b="1">
                <a:solidFill>
                  <a:srgbClr val="163A5F"/>
                </a:solidFill>
                <a:latin typeface="Calibri"/>
              </a:rPr>
              <a:t>Bureaucratic Delay Gap: </a:t>
            </a:r>
            <a:r>
              <a:rPr sz="950" b="0">
                <a:solidFill>
                  <a:srgbClr val="1B2430"/>
                </a:solidFill>
                <a:latin typeface="Calibri"/>
              </a:rPr>
              <a:t>Official police FIR records are retrospective, coarse, and delayed by weeks or months.</a:t>
            </a:r>
          </a:p>
          <a:p>
            <a:pPr>
              <a:spcAft>
                <a:spcPts val="300"/>
              </a:spcAft>
            </a:pPr>
            <a:r>
              <a:rPr sz="950" b="1">
                <a:solidFill>
                  <a:srgbClr val="163A5F"/>
                </a:solidFill>
                <a:latin typeface="Calibri"/>
              </a:rPr>
              <a:t>SafeHer Innovation: </a:t>
            </a:r>
            <a:r>
              <a:rPr sz="950" b="0">
                <a:solidFill>
                  <a:srgbClr val="1B2430"/>
                </a:solidFill>
                <a:latin typeface="Calibri"/>
              </a:rPr>
              <a:t>Delivers an automated, self-serve, rule-based geospatial hotspot and risk engine converting crowdsourced mobile GPS into daily patrol alerts.</a:t>
            </a:r>
          </a:p>
        </p:txBody>
      </p:sp>
      <p:sp>
        <p:nvSpPr>
          <p:cNvPr id="24" name="Rectangle 23"/>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7" name="TextBox 26"/>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DATASETS &amp; GEOGRAPHICAL RESOURCES</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Fusing Incident Intelligence with Street Infrastructure</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Grounding analysis on OpenStreetMap geography, Bengaluru datasets, and dynamic mobile reporting</a:t>
            </a:r>
          </a:p>
        </p:txBody>
      </p:sp>
      <p:sp>
        <p:nvSpPr>
          <p:cNvPr id="8" name="Rounded Rectangle 7"/>
          <p:cNvSpPr/>
          <p:nvPr/>
        </p:nvSpPr>
        <p:spPr>
          <a:xfrm>
            <a:off x="548640" y="1325880"/>
            <a:ext cx="5303520" cy="23774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62456"/>
            <a:ext cx="73152" cy="2304288"/>
          </a:xfrm>
          <a:prstGeom prst="rect">
            <a:avLst/>
          </a:prstGeom>
          <a:solidFill>
            <a:srgbClr val="9A7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3560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Source A: Incident Data &amp; Real-Time Reporting</a:t>
            </a:r>
          </a:p>
        </p:txBody>
      </p:sp>
      <p:sp>
        <p:nvSpPr>
          <p:cNvPr id="11" name="TextBox 10"/>
          <p:cNvSpPr txBox="1"/>
          <p:nvPr/>
        </p:nvSpPr>
        <p:spPr>
          <a:xfrm>
            <a:off x="731520" y="1728216"/>
            <a:ext cx="5010912" cy="1920240"/>
          </a:xfrm>
          <a:prstGeom prst="rect">
            <a:avLst/>
          </a:prstGeom>
          <a:noFill/>
        </p:spPr>
        <p:txBody>
          <a:bodyPr wrap="square" lIns="0" rIns="0" tIns="0" bIns="0">
            <a:spAutoFit/>
          </a:bodyPr>
          <a:lstStyle/>
          <a:p>
            <a:pPr>
              <a:spcAft>
                <a:spcPts val="300"/>
              </a:spcAft>
            </a:pPr>
            <a:r>
              <a:rPr sz="950" b="1">
                <a:solidFill>
                  <a:srgbClr val="163A5F"/>
                </a:solidFill>
                <a:latin typeface="Calibri"/>
              </a:rPr>
              <a:t>Incident Attributes: </a:t>
            </a:r>
            <a:r>
              <a:rPr sz="950" b="0">
                <a:solidFill>
                  <a:srgbClr val="1B2430"/>
                </a:solidFill>
                <a:latin typeface="Calibri"/>
              </a:rPr>
              <a:t>Captures incident category (harassment, feeling unsafe, stalking), date, time of day, description, and GPS coordinates.</a:t>
            </a:r>
          </a:p>
          <a:p>
            <a:pPr>
              <a:spcAft>
                <a:spcPts val="300"/>
              </a:spcAft>
            </a:pPr>
            <a:r>
              <a:rPr sz="950" b="1">
                <a:solidFill>
                  <a:srgbClr val="163A5F"/>
                </a:solidFill>
                <a:latin typeface="Calibri"/>
              </a:rPr>
              <a:t>Historical Baseline: </a:t>
            </a:r>
            <a:r>
              <a:rPr sz="950" b="0">
                <a:solidFill>
                  <a:srgbClr val="1B2430"/>
                </a:solidFill>
                <a:latin typeface="Calibri"/>
              </a:rPr>
              <a:t>Synthesized incident records linked directly to street geometries rather than aggregated district sums.</a:t>
            </a:r>
          </a:p>
          <a:p>
            <a:pPr>
              <a:spcAft>
                <a:spcPts val="300"/>
              </a:spcAft>
            </a:pPr>
            <a:r>
              <a:rPr sz="950" b="1">
                <a:solidFill>
                  <a:srgbClr val="163A5F"/>
                </a:solidFill>
                <a:latin typeface="Calibri"/>
              </a:rPr>
              <a:t>Dynamic Mobile Reports: </a:t>
            </a:r>
            <a:r>
              <a:rPr sz="950" b="0">
                <a:solidFill>
                  <a:srgbClr val="1B2430"/>
                </a:solidFill>
                <a:latin typeface="Calibri"/>
              </a:rPr>
              <a:t>Mobile application continuously feeds fresh citizen reports into the database, keeping spatial analysis alive.</a:t>
            </a:r>
          </a:p>
        </p:txBody>
      </p:sp>
      <p:sp>
        <p:nvSpPr>
          <p:cNvPr id="12" name="Rounded Rectangle 11"/>
          <p:cNvSpPr/>
          <p:nvPr/>
        </p:nvSpPr>
        <p:spPr>
          <a:xfrm>
            <a:off x="548640" y="388620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22776"/>
            <a:ext cx="73152" cy="2350008"/>
          </a:xfrm>
          <a:prstGeom prst="rect">
            <a:avLst/>
          </a:prstGeom>
          <a:solidFill>
            <a:srgbClr val="1E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9592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Source B: Bengaluru Street Safety Dataset</a:t>
            </a:r>
          </a:p>
        </p:txBody>
      </p:sp>
      <p:sp>
        <p:nvSpPr>
          <p:cNvPr id="15" name="TextBox 14"/>
          <p:cNvSpPr txBox="1"/>
          <p:nvPr/>
        </p:nvSpPr>
        <p:spPr>
          <a:xfrm>
            <a:off x="731520" y="428853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Current Focus: Bengaluru: </a:t>
            </a:r>
            <a:r>
              <a:rPr sz="950" b="0">
                <a:solidFill>
                  <a:srgbClr val="1B2430"/>
                </a:solidFill>
                <a:latin typeface="Calibri"/>
              </a:rPr>
              <a:t>Structured Excel dataset ('bengaluru_street_safety_REAL.xlsx') tailored to Bengaluru public spaces.</a:t>
            </a:r>
          </a:p>
          <a:p>
            <a:pPr>
              <a:spcAft>
                <a:spcPts val="300"/>
              </a:spcAft>
            </a:pPr>
            <a:r>
              <a:rPr sz="950" b="1">
                <a:solidFill>
                  <a:srgbClr val="163A5F"/>
                </a:solidFill>
                <a:latin typeface="Calibri"/>
              </a:rPr>
              <a:t>Built Environment: </a:t>
            </a:r>
            <a:r>
              <a:rPr sz="950" b="0">
                <a:solidFill>
                  <a:srgbClr val="1B2430"/>
                </a:solidFill>
                <a:latin typeface="Calibri"/>
              </a:rPr>
              <a:t>Encompasses roads, streets, intersections, and public transit nodes.</a:t>
            </a:r>
          </a:p>
          <a:p>
            <a:pPr>
              <a:spcAft>
                <a:spcPts val="300"/>
              </a:spcAft>
            </a:pPr>
            <a:r>
              <a:rPr sz="950" b="1">
                <a:solidFill>
                  <a:srgbClr val="163A5F"/>
                </a:solidFill>
                <a:latin typeface="Calibri"/>
              </a:rPr>
              <a:t>Infrastructure Indicators: </a:t>
            </a:r>
            <a:r>
              <a:rPr sz="950" b="0">
                <a:solidFill>
                  <a:srgbClr val="1B2430"/>
                </a:solidFill>
                <a:latin typeface="Calibri"/>
              </a:rPr>
              <a:t>Includes prototype &amp; assumed safety attributes: street lighting condition, surveillance presence, and police proximity.</a:t>
            </a:r>
          </a:p>
          <a:p>
            <a:pPr>
              <a:spcAft>
                <a:spcPts val="300"/>
              </a:spcAft>
            </a:pPr>
            <a:r>
              <a:rPr sz="950" b="1">
                <a:solidFill>
                  <a:srgbClr val="163A5F"/>
                </a:solidFill>
                <a:latin typeface="Calibri"/>
              </a:rPr>
              <a:t>Demonstration Model: </a:t>
            </a:r>
            <a:r>
              <a:rPr sz="950" b="0">
                <a:solidFill>
                  <a:srgbClr val="1B2430"/>
                </a:solidFill>
                <a:latin typeface="Calibri"/>
              </a:rPr>
              <a:t>Serves as the empirical foundation for testing hotspot clustering and risk scoring algorithms.</a:t>
            </a:r>
          </a:p>
        </p:txBody>
      </p:sp>
      <p:sp>
        <p:nvSpPr>
          <p:cNvPr id="16" name="Rounded Rectangle 15"/>
          <p:cNvSpPr/>
          <p:nvPr/>
        </p:nvSpPr>
        <p:spPr>
          <a:xfrm>
            <a:off x="6217920" y="1325880"/>
            <a:ext cx="5303520" cy="498348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62456"/>
            <a:ext cx="73152" cy="4910328"/>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3560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Geographical Framework &amp; Infrastructure Fusion</a:t>
            </a:r>
          </a:p>
        </p:txBody>
      </p:sp>
      <p:sp>
        <p:nvSpPr>
          <p:cNvPr id="19" name="TextBox 18"/>
          <p:cNvSpPr txBox="1"/>
          <p:nvPr/>
        </p:nvSpPr>
        <p:spPr>
          <a:xfrm>
            <a:off x="6400800" y="1728216"/>
            <a:ext cx="5010912" cy="4526280"/>
          </a:xfrm>
          <a:prstGeom prst="rect">
            <a:avLst/>
          </a:prstGeom>
          <a:noFill/>
        </p:spPr>
        <p:txBody>
          <a:bodyPr wrap="square" lIns="0" rIns="0" tIns="0" bIns="0">
            <a:spAutoFit/>
          </a:bodyPr>
          <a:lstStyle/>
          <a:p>
            <a:pPr>
              <a:spcAft>
                <a:spcPts val="300"/>
              </a:spcAft>
            </a:pPr>
            <a:r>
              <a:rPr sz="950" b="1">
                <a:solidFill>
                  <a:srgbClr val="163A5F"/>
                </a:solidFill>
                <a:latin typeface="Calibri"/>
              </a:rPr>
              <a:t>OpenStreetMap (OSM) Integration: </a:t>
            </a:r>
            <a:r>
              <a:rPr sz="950" b="0">
                <a:solidFill>
                  <a:srgbClr val="1B2430"/>
                </a:solidFill>
                <a:latin typeface="Calibri"/>
              </a:rPr>
              <a:t>Uses OpenStreetMap through Overpass API for real-world geometry, road classes, and public POIs.</a:t>
            </a:r>
          </a:p>
          <a:p>
            <a:pPr>
              <a:spcAft>
                <a:spcPts val="300"/>
              </a:spcAft>
            </a:pPr>
            <a:r>
              <a:rPr sz="950" b="1">
                <a:solidFill>
                  <a:srgbClr val="163A5F"/>
                </a:solidFill>
                <a:latin typeface="Calibri"/>
              </a:rPr>
              <a:t>Street-Level Resolution: </a:t>
            </a:r>
            <a:r>
              <a:rPr sz="950" b="0">
                <a:solidFill>
                  <a:srgbClr val="1B2430"/>
                </a:solidFill>
                <a:latin typeface="Calibri"/>
              </a:rPr>
              <a:t>Pins every record to precise street segments rather than misleading broad district polygons.</a:t>
            </a:r>
          </a:p>
          <a:p>
            <a:pPr>
              <a:spcAft>
                <a:spcPts val="300"/>
              </a:spcAft>
            </a:pPr>
            <a:r>
              <a:rPr sz="950" b="1">
                <a:solidFill>
                  <a:srgbClr val="163A5F"/>
                </a:solidFill>
                <a:latin typeface="Calibri"/>
              </a:rPr>
              <a:t>Infrastructure Safety Determinants: </a:t>
            </a:r>
            <a:r>
              <a:rPr sz="950" b="0">
                <a:solidFill>
                  <a:srgbClr val="1B2430"/>
                </a:solidFill>
                <a:latin typeface="Calibri"/>
              </a:rPr>
              <a:t>Evaluates physical urban safety determinants:</a:t>
            </a:r>
          </a:p>
          <a:p>
            <a:pPr>
              <a:spcAft>
                <a:spcPts val="300"/>
              </a:spcAft>
            </a:pPr>
            <a:r>
              <a:rPr sz="950" b="1">
                <a:solidFill>
                  <a:srgbClr val="163A5F"/>
                </a:solidFill>
                <a:latin typeface="Calibri"/>
              </a:rPr>
              <a:t>• Public Lighting Condition: </a:t>
            </a:r>
            <a:r>
              <a:rPr sz="950" b="0">
                <a:solidFill>
                  <a:srgbClr val="1B2430"/>
                </a:solidFill>
                <a:latin typeface="Calibri"/>
              </a:rPr>
              <a:t>Assesses lit streets vs. unlit stretches to quantify darkness vulnerability.</a:t>
            </a:r>
          </a:p>
          <a:p>
            <a:pPr>
              <a:spcAft>
                <a:spcPts val="300"/>
              </a:spcAft>
            </a:pPr>
            <a:r>
              <a:rPr sz="950" b="1">
                <a:solidFill>
                  <a:srgbClr val="163A5F"/>
                </a:solidFill>
                <a:latin typeface="Calibri"/>
              </a:rPr>
              <a:t>• CCTV Surveillance Density: </a:t>
            </a:r>
            <a:r>
              <a:rPr sz="950" b="0">
                <a:solidFill>
                  <a:srgbClr val="1B2430"/>
                </a:solidFill>
                <a:latin typeface="Calibri"/>
              </a:rPr>
              <a:t>Surveillance camera locations to evaluate deterrence factors.</a:t>
            </a:r>
          </a:p>
          <a:p>
            <a:pPr>
              <a:spcAft>
                <a:spcPts val="300"/>
              </a:spcAft>
            </a:pPr>
            <a:r>
              <a:rPr sz="950" b="1">
                <a:solidFill>
                  <a:srgbClr val="163A5F"/>
                </a:solidFill>
                <a:latin typeface="Calibri"/>
              </a:rPr>
              <a:t>• Police Station Proximity: </a:t>
            </a:r>
            <a:r>
              <a:rPr sz="950" b="0">
                <a:solidFill>
                  <a:srgbClr val="1B2430"/>
                </a:solidFill>
                <a:latin typeface="Calibri"/>
              </a:rPr>
              <a:t>Distance in meters to nearest law enforcement post.</a:t>
            </a:r>
          </a:p>
          <a:p>
            <a:pPr>
              <a:spcAft>
                <a:spcPts val="300"/>
              </a:spcAft>
            </a:pPr>
            <a:r>
              <a:rPr sz="950" b="1">
                <a:solidFill>
                  <a:srgbClr val="163A5F"/>
                </a:solidFill>
                <a:latin typeface="Calibri"/>
              </a:rPr>
              <a:t>Continuous Data Fusion: </a:t>
            </a:r>
            <a:r>
              <a:rPr sz="950" b="0">
                <a:solidFill>
                  <a:srgbClr val="1B2430"/>
                </a:solidFill>
                <a:latin typeface="Calibri"/>
              </a:rPr>
              <a:t>As new incidents arrive via mobile app, they immediately fuse with the underlying infrastructure layer for unified re-scoring.</a:t>
            </a:r>
          </a:p>
        </p:txBody>
      </p:sp>
      <p:sp>
        <p:nvSpPr>
          <p:cNvPr id="20" name="Rectangle 19"/>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3" name="TextBox 22"/>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COMPLETE SYSTEM DATA FLOW</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From Mobile Capture to Authority Decision-Making</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End-to-end data pipeline from citizen input through FastAPI, Module 1 analytics, to the Authority Dashboard</a:t>
            </a:r>
          </a:p>
        </p:txBody>
      </p:sp>
      <p:pic>
        <p:nvPicPr>
          <p:cNvPr id="8" name="Picture 7" descr="review-dataflow.png"/>
          <p:cNvPicPr>
            <a:picLocks noChangeAspect="1"/>
          </p:cNvPicPr>
          <p:nvPr/>
        </p:nvPicPr>
        <p:blipFill>
          <a:blip r:embed="rId3"/>
          <a:stretch>
            <a:fillRect/>
          </a:stretch>
        </p:blipFill>
        <p:spPr>
          <a:xfrm>
            <a:off x="548640" y="1280160"/>
            <a:ext cx="11091672" cy="5029200"/>
          </a:xfrm>
          <a:prstGeom prst="rect">
            <a:avLst/>
          </a:prstGeom>
        </p:spPr>
      </p:pic>
      <p:sp>
        <p:nvSpPr>
          <p:cNvPr id="9" name="Rectangle 8"/>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12" name="TextBox 11"/>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ARCHITECTURE &amp; TECHNOLOGY STACK</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Robust, Decoupled Full-Stack Architecture</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Cross-platform client applications, Python analytical backend, and modern web dashboards</a:t>
            </a:r>
          </a:p>
        </p:txBody>
      </p:sp>
      <p:pic>
        <p:nvPicPr>
          <p:cNvPr id="8" name="Picture 7" descr="safeher-architecture.png"/>
          <p:cNvPicPr>
            <a:picLocks noChangeAspect="1"/>
          </p:cNvPicPr>
          <p:nvPr/>
        </p:nvPicPr>
        <p:blipFill>
          <a:blip r:embed="rId3"/>
          <a:stretch>
            <a:fillRect/>
          </a:stretch>
        </p:blipFill>
        <p:spPr>
          <a:xfrm>
            <a:off x="548640" y="1325880"/>
            <a:ext cx="5852160" cy="2389632"/>
          </a:xfrm>
          <a:prstGeom prst="rect">
            <a:avLst/>
          </a:prstGeom>
        </p:spPr>
      </p:pic>
      <p:sp>
        <p:nvSpPr>
          <p:cNvPr id="9" name="Rounded Rectangle 8"/>
          <p:cNvSpPr/>
          <p:nvPr/>
        </p:nvSpPr>
        <p:spPr>
          <a:xfrm>
            <a:off x="6583680" y="1325880"/>
            <a:ext cx="5029200" cy="758952"/>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1362456"/>
            <a:ext cx="73152" cy="685800"/>
          </a:xfrm>
          <a:prstGeom prst="rect">
            <a:avLst/>
          </a:prstGeom>
          <a:solidFill>
            <a:srgbClr val="9A7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380744"/>
            <a:ext cx="4709160" cy="274320"/>
          </a:xfrm>
          <a:prstGeom prst="rect">
            <a:avLst/>
          </a:prstGeom>
          <a:noFill/>
        </p:spPr>
        <p:txBody>
          <a:bodyPr wrap="none" lIns="0" rIns="0" tIns="0" bIns="0">
            <a:spAutoFit/>
          </a:bodyPr>
          <a:lstStyle/>
          <a:p>
            <a:r>
              <a:rPr sz="1000" b="1">
                <a:solidFill>
                  <a:srgbClr val="9A7A38"/>
                </a:solidFill>
                <a:latin typeface="Calibri"/>
              </a:rPr>
              <a:t>MOBILE CLIENT  ·  </a:t>
            </a:r>
            <a:r>
              <a:rPr sz="1100" b="1">
                <a:solidFill>
                  <a:srgbClr val="0C2340"/>
                </a:solidFill>
                <a:latin typeface="Calibri"/>
              </a:rPr>
              <a:t>React Native / Expo / Flutter</a:t>
            </a:r>
          </a:p>
        </p:txBody>
      </p:sp>
      <p:sp>
        <p:nvSpPr>
          <p:cNvPr id="12" name="TextBox 11"/>
          <p:cNvSpPr txBox="1"/>
          <p:nvPr/>
        </p:nvSpPr>
        <p:spPr>
          <a:xfrm>
            <a:off x="6766560" y="1673352"/>
            <a:ext cx="4709160" cy="365760"/>
          </a:xfrm>
          <a:prstGeom prst="rect">
            <a:avLst/>
          </a:prstGeom>
          <a:noFill/>
        </p:spPr>
        <p:txBody>
          <a:bodyPr wrap="square" lIns="0" rIns="0" tIns="0" bIns="0">
            <a:spAutoFit/>
          </a:bodyPr>
          <a:lstStyle/>
          <a:p>
            <a:r>
              <a:rPr sz="950" b="0">
                <a:solidFill>
                  <a:srgbClr val="55606E"/>
                </a:solidFill>
                <a:latin typeface="Calibri"/>
              </a:rPr>
              <a:t>Cross-platform mobile client with GPS geolocation &amp; offline safety caching</a:t>
            </a:r>
          </a:p>
        </p:txBody>
      </p:sp>
      <p:sp>
        <p:nvSpPr>
          <p:cNvPr id="13" name="Rounded Rectangle 12"/>
          <p:cNvSpPr/>
          <p:nvPr/>
        </p:nvSpPr>
        <p:spPr>
          <a:xfrm>
            <a:off x="6583680" y="2148839"/>
            <a:ext cx="5029200" cy="758952"/>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0" y="2185415"/>
            <a:ext cx="73152" cy="685800"/>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2203703"/>
            <a:ext cx="4709160" cy="274320"/>
          </a:xfrm>
          <a:prstGeom prst="rect">
            <a:avLst/>
          </a:prstGeom>
          <a:noFill/>
        </p:spPr>
        <p:txBody>
          <a:bodyPr wrap="none" lIns="0" rIns="0" tIns="0" bIns="0">
            <a:spAutoFit/>
          </a:bodyPr>
          <a:lstStyle/>
          <a:p>
            <a:r>
              <a:rPr sz="1000" b="1">
                <a:solidFill>
                  <a:srgbClr val="163A5F"/>
                </a:solidFill>
                <a:latin typeface="Calibri"/>
              </a:rPr>
              <a:t>BACKEND SERVICES  ·  </a:t>
            </a:r>
            <a:r>
              <a:rPr sz="1100" b="1">
                <a:solidFill>
                  <a:srgbClr val="0C2340"/>
                </a:solidFill>
                <a:latin typeface="Calibri"/>
              </a:rPr>
              <a:t>Python 3 &amp; FastAPI</a:t>
            </a:r>
          </a:p>
        </p:txBody>
      </p:sp>
      <p:sp>
        <p:nvSpPr>
          <p:cNvPr id="16" name="TextBox 15"/>
          <p:cNvSpPr txBox="1"/>
          <p:nvPr/>
        </p:nvSpPr>
        <p:spPr>
          <a:xfrm>
            <a:off x="6766560" y="2496311"/>
            <a:ext cx="4709160" cy="365760"/>
          </a:xfrm>
          <a:prstGeom prst="rect">
            <a:avLst/>
          </a:prstGeom>
          <a:noFill/>
        </p:spPr>
        <p:txBody>
          <a:bodyPr wrap="square" lIns="0" rIns="0" tIns="0" bIns="0">
            <a:spAutoFit/>
          </a:bodyPr>
          <a:lstStyle/>
          <a:p>
            <a:r>
              <a:rPr sz="950" b="0">
                <a:solidFill>
                  <a:srgbClr val="55606E"/>
                </a:solidFill>
                <a:latin typeface="Calibri"/>
              </a:rPr>
              <a:t>High-performance asynchronous REST API handling report ingestion &amp; pipeline triggers</a:t>
            </a:r>
          </a:p>
        </p:txBody>
      </p:sp>
      <p:sp>
        <p:nvSpPr>
          <p:cNvPr id="17" name="Rounded Rectangle 16"/>
          <p:cNvSpPr/>
          <p:nvPr/>
        </p:nvSpPr>
        <p:spPr>
          <a:xfrm>
            <a:off x="6583680" y="2971800"/>
            <a:ext cx="5029200" cy="758952"/>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0" y="3008376"/>
            <a:ext cx="73152" cy="685800"/>
          </a:xfrm>
          <a:prstGeom prst="rect">
            <a:avLst/>
          </a:prstGeom>
          <a:solidFill>
            <a:srgbClr val="1E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3026664"/>
            <a:ext cx="4709160" cy="274320"/>
          </a:xfrm>
          <a:prstGeom prst="rect">
            <a:avLst/>
          </a:prstGeom>
          <a:noFill/>
        </p:spPr>
        <p:txBody>
          <a:bodyPr wrap="none" lIns="0" rIns="0" tIns="0" bIns="0">
            <a:spAutoFit/>
          </a:bodyPr>
          <a:lstStyle/>
          <a:p>
            <a:r>
              <a:rPr sz="1000" b="1">
                <a:solidFill>
                  <a:srgbClr val="1E5FA0"/>
                </a:solidFill>
                <a:latin typeface="Calibri"/>
              </a:rPr>
              <a:t>DATABASE LAYER  ·  </a:t>
            </a:r>
            <a:r>
              <a:rPr sz="1100" b="1">
                <a:solidFill>
                  <a:srgbClr val="0C2340"/>
                </a:solidFill>
                <a:latin typeface="Calibri"/>
              </a:rPr>
              <a:t>MongoDB / JSON Store</a:t>
            </a:r>
          </a:p>
        </p:txBody>
      </p:sp>
      <p:sp>
        <p:nvSpPr>
          <p:cNvPr id="20" name="TextBox 19"/>
          <p:cNvSpPr txBox="1"/>
          <p:nvPr/>
        </p:nvSpPr>
        <p:spPr>
          <a:xfrm>
            <a:off x="6766560" y="3319272"/>
            <a:ext cx="4709160" cy="365760"/>
          </a:xfrm>
          <a:prstGeom prst="rect">
            <a:avLst/>
          </a:prstGeom>
          <a:noFill/>
        </p:spPr>
        <p:txBody>
          <a:bodyPr wrap="square" lIns="0" rIns="0" tIns="0" bIns="0">
            <a:spAutoFit/>
          </a:bodyPr>
          <a:lstStyle/>
          <a:p>
            <a:r>
              <a:rPr sz="950" b="0">
                <a:solidFill>
                  <a:srgbClr val="55606E"/>
                </a:solidFill>
                <a:latin typeface="Calibri"/>
              </a:rPr>
              <a:t>Document database for flexible incident schemas and geospatial indices</a:t>
            </a:r>
          </a:p>
        </p:txBody>
      </p:sp>
      <p:sp>
        <p:nvSpPr>
          <p:cNvPr id="21" name="Rounded Rectangle 20"/>
          <p:cNvSpPr/>
          <p:nvPr/>
        </p:nvSpPr>
        <p:spPr>
          <a:xfrm>
            <a:off x="6583680" y="3794759"/>
            <a:ext cx="5029200" cy="758952"/>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0" y="3831335"/>
            <a:ext cx="73152" cy="6858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0" y="3849623"/>
            <a:ext cx="4709160" cy="274320"/>
          </a:xfrm>
          <a:prstGeom prst="rect">
            <a:avLst/>
          </a:prstGeom>
          <a:noFill/>
        </p:spPr>
        <p:txBody>
          <a:bodyPr wrap="none" lIns="0" rIns="0" tIns="0" bIns="0">
            <a:spAutoFit/>
          </a:bodyPr>
          <a:lstStyle/>
          <a:p>
            <a:r>
              <a:rPr sz="1000" b="1">
                <a:solidFill>
                  <a:srgbClr val="B91C1C"/>
                </a:solidFill>
                <a:latin typeface="Calibri"/>
              </a:rPr>
              <a:t>ANALYTICS &amp; GIS  ·  </a:t>
            </a:r>
            <a:r>
              <a:rPr sz="1100" b="1">
                <a:solidFill>
                  <a:srgbClr val="0C2340"/>
                </a:solidFill>
                <a:latin typeface="Calibri"/>
              </a:rPr>
              <a:t>Pandas, NumPy &amp; GeoPandas</a:t>
            </a:r>
          </a:p>
        </p:txBody>
      </p:sp>
      <p:sp>
        <p:nvSpPr>
          <p:cNvPr id="24" name="TextBox 23"/>
          <p:cNvSpPr txBox="1"/>
          <p:nvPr/>
        </p:nvSpPr>
        <p:spPr>
          <a:xfrm>
            <a:off x="6766560" y="4142231"/>
            <a:ext cx="4709160" cy="365760"/>
          </a:xfrm>
          <a:prstGeom prst="rect">
            <a:avLst/>
          </a:prstGeom>
          <a:noFill/>
        </p:spPr>
        <p:txBody>
          <a:bodyPr wrap="square" lIns="0" rIns="0" tIns="0" bIns="0">
            <a:spAutoFit/>
          </a:bodyPr>
          <a:lstStyle/>
          <a:p>
            <a:r>
              <a:rPr sz="950" b="0">
                <a:solidFill>
                  <a:srgbClr val="55606E"/>
                </a:solidFill>
                <a:latin typeface="Calibri"/>
              </a:rPr>
              <a:t>Data wrangling, spatial bounding, grid clustering, and risk scoring</a:t>
            </a:r>
          </a:p>
        </p:txBody>
      </p:sp>
      <p:sp>
        <p:nvSpPr>
          <p:cNvPr id="25" name="Rounded Rectangle 24"/>
          <p:cNvSpPr/>
          <p:nvPr/>
        </p:nvSpPr>
        <p:spPr>
          <a:xfrm>
            <a:off x="6583680" y="4617720"/>
            <a:ext cx="5029200" cy="758952"/>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0" y="4654296"/>
            <a:ext cx="73152" cy="685800"/>
          </a:xfrm>
          <a:prstGeom prst="rect">
            <a:avLst/>
          </a:prstGeom>
          <a:solidFill>
            <a:srgbClr val="16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4672584"/>
            <a:ext cx="4709160" cy="274320"/>
          </a:xfrm>
          <a:prstGeom prst="rect">
            <a:avLst/>
          </a:prstGeom>
          <a:noFill/>
        </p:spPr>
        <p:txBody>
          <a:bodyPr wrap="none" lIns="0" rIns="0" tIns="0" bIns="0">
            <a:spAutoFit/>
          </a:bodyPr>
          <a:lstStyle/>
          <a:p>
            <a:r>
              <a:rPr sz="1000" b="1">
                <a:solidFill>
                  <a:srgbClr val="168855"/>
                </a:solidFill>
                <a:latin typeface="Calibri"/>
              </a:rPr>
              <a:t>MAPPING &amp; VISUALS  ·  </a:t>
            </a:r>
            <a:r>
              <a:rPr sz="1100" b="1">
                <a:solidFill>
                  <a:srgbClr val="0C2340"/>
                </a:solidFill>
                <a:latin typeface="Calibri"/>
              </a:rPr>
              <a:t>Leaflet, Folium &amp; Matplotlib</a:t>
            </a:r>
          </a:p>
        </p:txBody>
      </p:sp>
      <p:sp>
        <p:nvSpPr>
          <p:cNvPr id="28" name="TextBox 27"/>
          <p:cNvSpPr txBox="1"/>
          <p:nvPr/>
        </p:nvSpPr>
        <p:spPr>
          <a:xfrm>
            <a:off x="6766560" y="4965192"/>
            <a:ext cx="4709160" cy="365760"/>
          </a:xfrm>
          <a:prstGeom prst="rect">
            <a:avLst/>
          </a:prstGeom>
          <a:noFill/>
        </p:spPr>
        <p:txBody>
          <a:bodyPr wrap="square" lIns="0" rIns="0" tIns="0" bIns="0">
            <a:spAutoFit/>
          </a:bodyPr>
          <a:lstStyle/>
          <a:p>
            <a:r>
              <a:rPr sz="950" b="0">
                <a:solidFill>
                  <a:srgbClr val="55606E"/>
                </a:solidFill>
                <a:latin typeface="Calibri"/>
              </a:rPr>
              <a:t>OpenStreetMap rendering, interactive risk markers, and analytical SVG charts</a:t>
            </a:r>
          </a:p>
        </p:txBody>
      </p:sp>
      <p:sp>
        <p:nvSpPr>
          <p:cNvPr id="29" name="Rounded Rectangle 28"/>
          <p:cNvSpPr/>
          <p:nvPr/>
        </p:nvSpPr>
        <p:spPr>
          <a:xfrm>
            <a:off x="6583680" y="5440680"/>
            <a:ext cx="5029200" cy="758952"/>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0" y="5477256"/>
            <a:ext cx="73152" cy="6858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5495544"/>
            <a:ext cx="4709160" cy="274320"/>
          </a:xfrm>
          <a:prstGeom prst="rect">
            <a:avLst/>
          </a:prstGeom>
          <a:noFill/>
        </p:spPr>
        <p:txBody>
          <a:bodyPr wrap="none" lIns="0" rIns="0" tIns="0" bIns="0">
            <a:spAutoFit/>
          </a:bodyPr>
          <a:lstStyle/>
          <a:p>
            <a:r>
              <a:rPr sz="1000" b="1">
                <a:solidFill>
                  <a:srgbClr val="0C2340"/>
                </a:solidFill>
                <a:latin typeface="Calibri"/>
              </a:rPr>
              <a:t>AUTHORITY DASHBOARD  ·  </a:t>
            </a:r>
            <a:r>
              <a:rPr sz="1100" b="1">
                <a:solidFill>
                  <a:srgbClr val="0C2340"/>
                </a:solidFill>
                <a:latin typeface="Calibri"/>
              </a:rPr>
              <a:t>React / Next.js, HTML5 &amp; CSS3</a:t>
            </a:r>
          </a:p>
        </p:txBody>
      </p:sp>
      <p:sp>
        <p:nvSpPr>
          <p:cNvPr id="32" name="TextBox 31"/>
          <p:cNvSpPr txBox="1"/>
          <p:nvPr/>
        </p:nvSpPr>
        <p:spPr>
          <a:xfrm>
            <a:off x="6766560" y="5788152"/>
            <a:ext cx="4709160" cy="365760"/>
          </a:xfrm>
          <a:prstGeom prst="rect">
            <a:avLst/>
          </a:prstGeom>
          <a:noFill/>
        </p:spPr>
        <p:txBody>
          <a:bodyPr wrap="square" lIns="0" rIns="0" tIns="0" bIns="0">
            <a:spAutoFit/>
          </a:bodyPr>
          <a:lstStyle/>
          <a:p>
            <a:r>
              <a:rPr sz="950" b="0">
                <a:solidFill>
                  <a:srgbClr val="55606E"/>
                </a:solidFill>
                <a:latin typeface="Calibri"/>
              </a:rPr>
              <a:t>Centralized administrative interface with multi-filter maps and patrol lists</a:t>
            </a:r>
          </a:p>
        </p:txBody>
      </p:sp>
      <p:sp>
        <p:nvSpPr>
          <p:cNvPr id="33" name="Rectangle 32"/>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36" name="TextBox 35"/>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PROJECT MODULARIZATION &amp; SCOPE DIVISION</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Two Independent Modules · One Seamless System</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Decoupled responsibilities enabling rigorous academic evaluation and robust production integration</a:t>
            </a:r>
          </a:p>
        </p:txBody>
      </p:sp>
      <p:pic>
        <p:nvPicPr>
          <p:cNvPr id="8" name="Picture 7" descr="safeher-two-paths.png"/>
          <p:cNvPicPr>
            <a:picLocks noChangeAspect="1"/>
          </p:cNvPicPr>
          <p:nvPr/>
        </p:nvPicPr>
        <p:blipFill>
          <a:blip r:embed="rId3"/>
          <a:stretch>
            <a:fillRect/>
          </a:stretch>
        </p:blipFill>
        <p:spPr>
          <a:xfrm>
            <a:off x="548640" y="1280160"/>
            <a:ext cx="11091672" cy="5029200"/>
          </a:xfrm>
          <a:prstGeom prst="rect">
            <a:avLst/>
          </a:prstGeom>
        </p:spPr>
      </p:pic>
      <p:sp>
        <p:nvSpPr>
          <p:cNvPr id="9" name="Rectangle 8"/>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12" name="TextBox 11"/>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MODULE 1 METHODOLOGY: HOTSPOT &amp; RISK ASSESSMENT</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Eight-Stage Analytical Pipeline for Public Safety</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Rule-based spatial clustering and multi-factor risk categorization based on historical incident density</a:t>
            </a:r>
          </a:p>
        </p:txBody>
      </p:sp>
      <p:pic>
        <p:nvPicPr>
          <p:cNvPr id="8" name="Picture 7" descr="safeher-module1-flow.png"/>
          <p:cNvPicPr>
            <a:picLocks noChangeAspect="1"/>
          </p:cNvPicPr>
          <p:nvPr/>
        </p:nvPicPr>
        <p:blipFill>
          <a:blip r:embed="rId3"/>
          <a:stretch>
            <a:fillRect/>
          </a:stretch>
        </p:blipFill>
        <p:spPr>
          <a:xfrm>
            <a:off x="548640" y="1261872"/>
            <a:ext cx="11091672" cy="5176114"/>
          </a:xfrm>
          <a:prstGeom prst="rect">
            <a:avLst/>
          </a:prstGeom>
        </p:spPr>
      </p:pic>
      <p:sp>
        <p:nvSpPr>
          <p:cNvPr id="9" name="Rectangle 8"/>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12" name="TextBox 11"/>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MODULE 1 SAMPLE ANALYTICAL RESULTS</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Spatial Hotspot Visualization &amp; Risk Classification</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Demonstrating pipeline outputs on a 1,079-report validation run across surveyed public areas</a:t>
            </a:r>
          </a:p>
        </p:txBody>
      </p:sp>
      <p:pic>
        <p:nvPicPr>
          <p:cNvPr id="8" name="Picture 7" descr="safeher-hotspots-map.png"/>
          <p:cNvPicPr>
            <a:picLocks noChangeAspect="1"/>
          </p:cNvPicPr>
          <p:nvPr/>
        </p:nvPicPr>
        <p:blipFill>
          <a:blip r:embed="rId3"/>
          <a:stretch>
            <a:fillRect/>
          </a:stretch>
        </p:blipFill>
        <p:spPr>
          <a:xfrm>
            <a:off x="548640" y="1325880"/>
            <a:ext cx="5852160" cy="3291840"/>
          </a:xfrm>
          <a:prstGeom prst="rect">
            <a:avLst/>
          </a:prstGeom>
        </p:spPr>
      </p:pic>
      <p:sp>
        <p:nvSpPr>
          <p:cNvPr id="9" name="Rounded Rectangle 8"/>
          <p:cNvSpPr/>
          <p:nvPr/>
        </p:nvSpPr>
        <p:spPr>
          <a:xfrm>
            <a:off x="6583680" y="1325880"/>
            <a:ext cx="5029200" cy="16916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1362456"/>
            <a:ext cx="73152" cy="1618488"/>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435608"/>
            <a:ext cx="4736592" cy="274320"/>
          </a:xfrm>
          <a:prstGeom prst="rect">
            <a:avLst/>
          </a:prstGeom>
          <a:noFill/>
        </p:spPr>
        <p:txBody>
          <a:bodyPr wrap="square" lIns="54864" rIns="54864" tIns="36576" bIns="36576">
            <a:spAutoFit/>
          </a:bodyPr>
          <a:lstStyle/>
          <a:p>
            <a:pPr algn="l"/>
            <a:r>
              <a:rPr sz="1250" b="1">
                <a:solidFill>
                  <a:srgbClr val="0C2340"/>
                </a:solidFill>
                <a:latin typeface="Calibri"/>
              </a:rPr>
              <a:t>Validation Run Summary Statistics</a:t>
            </a:r>
          </a:p>
        </p:txBody>
      </p:sp>
      <p:sp>
        <p:nvSpPr>
          <p:cNvPr id="12" name="TextBox 11"/>
          <p:cNvSpPr txBox="1"/>
          <p:nvPr/>
        </p:nvSpPr>
        <p:spPr>
          <a:xfrm>
            <a:off x="6766560" y="1728216"/>
            <a:ext cx="4736592" cy="1234440"/>
          </a:xfrm>
          <a:prstGeom prst="rect">
            <a:avLst/>
          </a:prstGeom>
          <a:noFill/>
        </p:spPr>
        <p:txBody>
          <a:bodyPr wrap="square" lIns="0" rIns="0" tIns="0" bIns="0">
            <a:spAutoFit/>
          </a:bodyPr>
          <a:lstStyle/>
          <a:p>
            <a:pPr>
              <a:spcAft>
                <a:spcPts val="250"/>
              </a:spcAft>
            </a:pPr>
            <a:r>
              <a:rPr sz="950" b="1">
                <a:solidFill>
                  <a:srgbClr val="163A5F"/>
                </a:solidFill>
                <a:latin typeface="Calibri"/>
              </a:rPr>
              <a:t>Total Community Reports: </a:t>
            </a:r>
            <a:r>
              <a:rPr sz="950" b="0">
                <a:solidFill>
                  <a:srgbClr val="1B2430"/>
                </a:solidFill>
                <a:latin typeface="Calibri"/>
              </a:rPr>
              <a:t>1,079 citizen inputs processed through Module 1 pipeline.</a:t>
            </a:r>
          </a:p>
          <a:p>
            <a:pPr>
              <a:spcAft>
                <a:spcPts val="250"/>
              </a:spcAft>
            </a:pPr>
            <a:r>
              <a:rPr sz="950" b="1">
                <a:solidFill>
                  <a:srgbClr val="163A5F"/>
                </a:solidFill>
                <a:latin typeface="Calibri"/>
              </a:rPr>
              <a:t>Verified Incident Records: </a:t>
            </a:r>
            <a:r>
              <a:rPr sz="950" b="0">
                <a:solidFill>
                  <a:srgbClr val="1B2430"/>
                </a:solidFill>
                <a:latin typeface="Calibri"/>
              </a:rPr>
              <a:t>534 safety events extracted (247 harassment, 287 unsafe perceptions).</a:t>
            </a:r>
          </a:p>
          <a:p>
            <a:pPr>
              <a:spcAft>
                <a:spcPts val="250"/>
              </a:spcAft>
            </a:pPr>
            <a:r>
              <a:rPr sz="950" b="1">
                <a:solidFill>
                  <a:srgbClr val="163A5F"/>
                </a:solidFill>
                <a:latin typeface="Calibri"/>
              </a:rPr>
              <a:t>Identified Hotspot Cells: </a:t>
            </a:r>
            <a:r>
              <a:rPr sz="950" b="0">
                <a:solidFill>
                  <a:srgbClr val="1B2430"/>
                </a:solidFill>
                <a:latin typeface="Calibri"/>
              </a:rPr>
              <a:t>72 spatial grid cells (~1 km resolution) meeting recurrence thresholds.</a:t>
            </a:r>
          </a:p>
          <a:p>
            <a:pPr>
              <a:spcAft>
                <a:spcPts val="250"/>
              </a:spcAft>
            </a:pPr>
            <a:r>
              <a:rPr sz="950" b="1">
                <a:solidFill>
                  <a:srgbClr val="163A5F"/>
                </a:solidFill>
                <a:latin typeface="Calibri"/>
              </a:rPr>
              <a:t>Actionable Patrol Alerts: </a:t>
            </a:r>
            <a:r>
              <a:rPr sz="950" b="0">
                <a:solidFill>
                  <a:srgbClr val="1B2430"/>
                </a:solidFill>
                <a:latin typeface="Calibri"/>
              </a:rPr>
              <a:t>55 priority security alerts generated for law enforcement deployment.</a:t>
            </a:r>
          </a:p>
        </p:txBody>
      </p:sp>
      <p:sp>
        <p:nvSpPr>
          <p:cNvPr id="13" name="Rounded Rectangle 12"/>
          <p:cNvSpPr/>
          <p:nvPr/>
        </p:nvSpPr>
        <p:spPr>
          <a:xfrm>
            <a:off x="6583680" y="3154680"/>
            <a:ext cx="5029200" cy="1874519"/>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0" y="3191256"/>
            <a:ext cx="73152" cy="1801367"/>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264408"/>
            <a:ext cx="4736592" cy="274320"/>
          </a:xfrm>
          <a:prstGeom prst="rect">
            <a:avLst/>
          </a:prstGeom>
          <a:noFill/>
        </p:spPr>
        <p:txBody>
          <a:bodyPr wrap="square" lIns="54864" rIns="54864" tIns="36576" bIns="36576">
            <a:spAutoFit/>
          </a:bodyPr>
          <a:lstStyle/>
          <a:p>
            <a:pPr algn="l"/>
            <a:r>
              <a:rPr sz="1250" b="1">
                <a:solidFill>
                  <a:srgbClr val="0C2340"/>
                </a:solidFill>
                <a:latin typeface="Calibri"/>
              </a:rPr>
              <a:t>Risk Level Classification Breakdown</a:t>
            </a:r>
          </a:p>
        </p:txBody>
      </p:sp>
      <p:sp>
        <p:nvSpPr>
          <p:cNvPr id="16" name="TextBox 15"/>
          <p:cNvSpPr txBox="1"/>
          <p:nvPr/>
        </p:nvSpPr>
        <p:spPr>
          <a:xfrm>
            <a:off x="6766560" y="3557016"/>
            <a:ext cx="4736592" cy="1417319"/>
          </a:xfrm>
          <a:prstGeom prst="rect">
            <a:avLst/>
          </a:prstGeom>
          <a:noFill/>
        </p:spPr>
        <p:txBody>
          <a:bodyPr wrap="square" lIns="0" rIns="0" tIns="0" bIns="0">
            <a:spAutoFit/>
          </a:bodyPr>
          <a:lstStyle/>
          <a:p>
            <a:pPr>
              <a:spcAft>
                <a:spcPts val="250"/>
              </a:spcAft>
            </a:pPr>
            <a:r>
              <a:rPr sz="950" b="1">
                <a:solidFill>
                  <a:srgbClr val="163A5F"/>
                </a:solidFill>
                <a:latin typeface="Calibri"/>
              </a:rPr>
              <a:t>High Risk (30 Hotspots): </a:t>
            </a:r>
            <a:r>
              <a:rPr sz="950" b="0">
                <a:solidFill>
                  <a:srgbClr val="1B2430"/>
                </a:solidFill>
                <a:latin typeface="Calibri"/>
              </a:rPr>
              <a:t>Severe spatial clustering &amp; harassment recurrence; priority for immediate police patrols.</a:t>
            </a:r>
          </a:p>
          <a:p>
            <a:pPr>
              <a:spcAft>
                <a:spcPts val="250"/>
              </a:spcAft>
            </a:pPr>
            <a:r>
              <a:rPr sz="950" b="1">
                <a:solidFill>
                  <a:srgbClr val="163A5F"/>
                </a:solidFill>
                <a:latin typeface="Calibri"/>
              </a:rPr>
              <a:t>Medium Risk (19 Hotspots): </a:t>
            </a:r>
            <a:r>
              <a:rPr sz="950" b="0">
                <a:solidFill>
                  <a:srgbClr val="1B2430"/>
                </a:solidFill>
                <a:latin typeface="Calibri"/>
              </a:rPr>
              <a:t>Moderate recurrence; scheduled for civic lighting upgrades and surveillance reviews.</a:t>
            </a:r>
          </a:p>
          <a:p>
            <a:pPr>
              <a:spcAft>
                <a:spcPts val="250"/>
              </a:spcAft>
            </a:pPr>
            <a:r>
              <a:rPr sz="950" b="1">
                <a:solidFill>
                  <a:srgbClr val="163A5F"/>
                </a:solidFill>
                <a:latin typeface="Calibri"/>
              </a:rPr>
              <a:t>Low Risk (23 Hotspots): </a:t>
            </a:r>
            <a:r>
              <a:rPr sz="950" b="0">
                <a:solidFill>
                  <a:srgbClr val="1B2430"/>
                </a:solidFill>
                <a:latin typeface="Calibri"/>
              </a:rPr>
              <a:t>Baseline risk zones (&gt;=3 incidents); designated for ongoing monitoring.</a:t>
            </a:r>
          </a:p>
        </p:txBody>
      </p:sp>
      <p:sp>
        <p:nvSpPr>
          <p:cNvPr id="17" name="Rounded Rectangle 16"/>
          <p:cNvSpPr/>
          <p:nvPr/>
        </p:nvSpPr>
        <p:spPr>
          <a:xfrm>
            <a:off x="6583680" y="5166360"/>
            <a:ext cx="5029200" cy="1097280"/>
          </a:xfrm>
          <a:prstGeom prst="roundRect">
            <a:avLst/>
          </a:prstGeom>
          <a:solidFill>
            <a:srgbClr val="FDF8ED"/>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5230368"/>
            <a:ext cx="4663440" cy="228600"/>
          </a:xfrm>
          <a:prstGeom prst="rect">
            <a:avLst/>
          </a:prstGeom>
          <a:noFill/>
        </p:spPr>
        <p:txBody>
          <a:bodyPr wrap="square" lIns="54864" rIns="54864" tIns="36576" bIns="36576">
            <a:spAutoFit/>
          </a:bodyPr>
          <a:lstStyle/>
          <a:p>
            <a:pPr algn="l"/>
            <a:r>
              <a:rPr sz="1000" b="1">
                <a:solidFill>
                  <a:srgbClr val="9A7A38"/>
                </a:solidFill>
                <a:latin typeface="Calibri"/>
              </a:rPr>
              <a:t>OPERATIONAL VALUE FOR LAW ENFORCEMENT</a:t>
            </a:r>
          </a:p>
        </p:txBody>
      </p:sp>
      <p:sp>
        <p:nvSpPr>
          <p:cNvPr id="19" name="TextBox 18"/>
          <p:cNvSpPr txBox="1"/>
          <p:nvPr/>
        </p:nvSpPr>
        <p:spPr>
          <a:xfrm>
            <a:off x="6766560" y="5468112"/>
            <a:ext cx="4663440" cy="713232"/>
          </a:xfrm>
          <a:prstGeom prst="rect">
            <a:avLst/>
          </a:prstGeom>
          <a:noFill/>
        </p:spPr>
        <p:txBody>
          <a:bodyPr wrap="square" lIns="54864" rIns="54864" tIns="36576" bIns="36576">
            <a:spAutoFit/>
          </a:bodyPr>
          <a:lstStyle/>
          <a:p>
            <a:pPr algn="l"/>
            <a:r>
              <a:rPr sz="1050" b="0">
                <a:solidFill>
                  <a:srgbClr val="1B2430"/>
                </a:solidFill>
                <a:latin typeface="Calibri"/>
              </a:rPr>
              <a:t>Instead of sifting through voluminous paper registers, duty officers inspect a visual color-coded map and patrol list, directing personnel to verified recurring risk zones.</a:t>
            </a:r>
          </a:p>
        </p:txBody>
      </p:sp>
      <p:sp>
        <p:nvSpPr>
          <p:cNvPr id="20" name="Rectangle 19"/>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3" name="TextBox 22"/>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MODULE 2: MOBILE APPLICATION &amp; AUTHORITY DASHBOARD</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Dynamic Crowdsourced Reporting &amp; Centralized Monitoring</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Continuous incident intake and administrative oversight handled by Aman Yadav (1BY25MC012)</a:t>
            </a:r>
          </a:p>
        </p:txBody>
      </p:sp>
      <p:pic>
        <p:nvPicPr>
          <p:cNvPr id="8" name="Picture 7" descr="safeher-admin-dashboard.png"/>
          <p:cNvPicPr>
            <a:picLocks noChangeAspect="1"/>
          </p:cNvPicPr>
          <p:nvPr/>
        </p:nvPicPr>
        <p:blipFill>
          <a:blip r:embed="rId3"/>
          <a:stretch>
            <a:fillRect/>
          </a:stretch>
        </p:blipFill>
        <p:spPr>
          <a:xfrm>
            <a:off x="548640" y="1325880"/>
            <a:ext cx="5852160" cy="3291840"/>
          </a:xfrm>
          <a:prstGeom prst="rect">
            <a:avLst/>
          </a:prstGeom>
        </p:spPr>
      </p:pic>
      <p:sp>
        <p:nvSpPr>
          <p:cNvPr id="9" name="Rounded Rectangle 8"/>
          <p:cNvSpPr/>
          <p:nvPr/>
        </p:nvSpPr>
        <p:spPr>
          <a:xfrm>
            <a:off x="6583680" y="1325880"/>
            <a:ext cx="5029200" cy="155448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1362456"/>
            <a:ext cx="73152" cy="1481328"/>
          </a:xfrm>
          <a:prstGeom prst="rect">
            <a:avLst/>
          </a:prstGeom>
          <a:solidFill>
            <a:srgbClr val="9A7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435608"/>
            <a:ext cx="4736592" cy="274320"/>
          </a:xfrm>
          <a:prstGeom prst="rect">
            <a:avLst/>
          </a:prstGeom>
          <a:noFill/>
        </p:spPr>
        <p:txBody>
          <a:bodyPr wrap="square" lIns="54864" rIns="54864" tIns="36576" bIns="36576">
            <a:spAutoFit/>
          </a:bodyPr>
          <a:lstStyle/>
          <a:p>
            <a:pPr algn="l"/>
            <a:r>
              <a:rPr sz="1250" b="1">
                <a:solidFill>
                  <a:srgbClr val="0C2340"/>
                </a:solidFill>
                <a:latin typeface="Calibri"/>
              </a:rPr>
              <a:t>1. Citizen Mobile Reporting Application</a:t>
            </a:r>
          </a:p>
        </p:txBody>
      </p:sp>
      <p:sp>
        <p:nvSpPr>
          <p:cNvPr id="12" name="TextBox 11"/>
          <p:cNvSpPr txBox="1"/>
          <p:nvPr/>
        </p:nvSpPr>
        <p:spPr>
          <a:xfrm>
            <a:off x="6766560" y="1728216"/>
            <a:ext cx="4736592" cy="1097280"/>
          </a:xfrm>
          <a:prstGeom prst="rect">
            <a:avLst/>
          </a:prstGeom>
          <a:noFill/>
        </p:spPr>
        <p:txBody>
          <a:bodyPr wrap="square" lIns="0" rIns="0" tIns="0" bIns="0">
            <a:spAutoFit/>
          </a:bodyPr>
          <a:lstStyle/>
          <a:p>
            <a:pPr>
              <a:spcAft>
                <a:spcPts val="250"/>
              </a:spcAft>
            </a:pPr>
            <a:r>
              <a:rPr sz="950" b="1">
                <a:solidFill>
                  <a:srgbClr val="163A5F"/>
                </a:solidFill>
                <a:latin typeface="Calibri"/>
              </a:rPr>
              <a:t>Low-Friction Reporting: </a:t>
            </a:r>
            <a:r>
              <a:rPr sz="950" b="0">
                <a:solidFill>
                  <a:srgbClr val="1B2430"/>
                </a:solidFill>
                <a:latin typeface="Calibri"/>
              </a:rPr>
              <a:t>Quick report logging: incident category, date, time, description, and GPS coordinates.</a:t>
            </a:r>
          </a:p>
          <a:p>
            <a:pPr>
              <a:spcAft>
                <a:spcPts val="250"/>
              </a:spcAft>
            </a:pPr>
            <a:r>
              <a:rPr sz="950" b="1">
                <a:solidFill>
                  <a:srgbClr val="163A5F"/>
                </a:solidFill>
                <a:latin typeface="Calibri"/>
              </a:rPr>
              <a:t>Ambient Perceptions: </a:t>
            </a:r>
            <a:r>
              <a:rPr sz="950" b="0">
                <a:solidFill>
                  <a:srgbClr val="1B2430"/>
                </a:solidFill>
                <a:latin typeface="Calibri"/>
              </a:rPr>
              <a:t>Enables women to mark feeling safe or unsafe without requiring an overt crime event.</a:t>
            </a:r>
          </a:p>
          <a:p>
            <a:pPr>
              <a:spcAft>
                <a:spcPts val="250"/>
              </a:spcAft>
            </a:pPr>
            <a:r>
              <a:rPr sz="950" b="1">
                <a:solidFill>
                  <a:srgbClr val="163A5F"/>
                </a:solidFill>
                <a:latin typeface="Calibri"/>
              </a:rPr>
              <a:t>Privacy-First Ingestion: </a:t>
            </a:r>
            <a:r>
              <a:rPr sz="950" b="0">
                <a:solidFill>
                  <a:srgbClr val="1B2430"/>
                </a:solidFill>
                <a:latin typeface="Calibri"/>
              </a:rPr>
              <a:t>Anonymous submission protects citizen identity, encouraging honest reporting.</a:t>
            </a:r>
          </a:p>
        </p:txBody>
      </p:sp>
      <p:sp>
        <p:nvSpPr>
          <p:cNvPr id="13" name="Rounded Rectangle 12"/>
          <p:cNvSpPr/>
          <p:nvPr/>
        </p:nvSpPr>
        <p:spPr>
          <a:xfrm>
            <a:off x="6583680" y="2999232"/>
            <a:ext cx="5029200" cy="155448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0" y="3035808"/>
            <a:ext cx="73152" cy="1481328"/>
          </a:xfrm>
          <a:prstGeom prst="rect">
            <a:avLst/>
          </a:prstGeom>
          <a:solidFill>
            <a:srgbClr val="1E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108960"/>
            <a:ext cx="4736592" cy="274320"/>
          </a:xfrm>
          <a:prstGeom prst="rect">
            <a:avLst/>
          </a:prstGeom>
          <a:noFill/>
        </p:spPr>
        <p:txBody>
          <a:bodyPr wrap="square" lIns="54864" rIns="54864" tIns="36576" bIns="36576">
            <a:spAutoFit/>
          </a:bodyPr>
          <a:lstStyle/>
          <a:p>
            <a:pPr algn="l"/>
            <a:r>
              <a:rPr sz="1250" b="1">
                <a:solidFill>
                  <a:srgbClr val="0C2340"/>
                </a:solidFill>
                <a:latin typeface="Calibri"/>
              </a:rPr>
              <a:t>2. Dynamic Security Monitoring</a:t>
            </a:r>
          </a:p>
        </p:txBody>
      </p:sp>
      <p:sp>
        <p:nvSpPr>
          <p:cNvPr id="16" name="TextBox 15"/>
          <p:cNvSpPr txBox="1"/>
          <p:nvPr/>
        </p:nvSpPr>
        <p:spPr>
          <a:xfrm>
            <a:off x="6766560" y="3401568"/>
            <a:ext cx="4736592" cy="1097280"/>
          </a:xfrm>
          <a:prstGeom prst="rect">
            <a:avLst/>
          </a:prstGeom>
          <a:noFill/>
        </p:spPr>
        <p:txBody>
          <a:bodyPr wrap="square" lIns="0" rIns="0" tIns="0" bIns="0">
            <a:spAutoFit/>
          </a:bodyPr>
          <a:lstStyle/>
          <a:p>
            <a:pPr>
              <a:spcAft>
                <a:spcPts val="250"/>
              </a:spcAft>
            </a:pPr>
            <a:r>
              <a:rPr sz="950" b="1">
                <a:solidFill>
                  <a:srgbClr val="163A5F"/>
                </a:solidFill>
                <a:latin typeface="Calibri"/>
              </a:rPr>
              <a:t>Continuous Intake: </a:t>
            </a:r>
            <a:r>
              <a:rPr sz="950" b="0">
                <a:solidFill>
                  <a:srgbClr val="1B2430"/>
                </a:solidFill>
                <a:latin typeface="Calibri"/>
              </a:rPr>
              <a:t>System does not freeze on static historical files; new reports arrive live via API.</a:t>
            </a:r>
          </a:p>
          <a:p>
            <a:pPr>
              <a:spcAft>
                <a:spcPts val="250"/>
              </a:spcAft>
            </a:pPr>
            <a:r>
              <a:rPr sz="950" b="1">
                <a:solidFill>
                  <a:srgbClr val="163A5F"/>
                </a:solidFill>
                <a:latin typeface="Calibri"/>
              </a:rPr>
              <a:t>Dynamic Re-Clustering: </a:t>
            </a:r>
            <a:r>
              <a:rPr sz="950" b="0">
                <a:solidFill>
                  <a:srgbClr val="1B2430"/>
                </a:solidFill>
                <a:latin typeface="Calibri"/>
              </a:rPr>
              <a:t>Fresh reports automatically update Module 1 datasets for refreshed hotspot scoring.</a:t>
            </a:r>
          </a:p>
          <a:p>
            <a:pPr>
              <a:spcAft>
                <a:spcPts val="250"/>
              </a:spcAft>
            </a:pPr>
            <a:r>
              <a:rPr sz="950" b="1">
                <a:solidFill>
                  <a:srgbClr val="163A5F"/>
                </a:solidFill>
                <a:latin typeface="Calibri"/>
              </a:rPr>
              <a:t>Adaptive Heatmaps: </a:t>
            </a:r>
            <a:r>
              <a:rPr sz="950" b="0">
                <a:solidFill>
                  <a:srgbClr val="1B2430"/>
                </a:solidFill>
                <a:latin typeface="Calibri"/>
              </a:rPr>
              <a:t>Visual risk tiers evolve dynamically as neighborhood safety patterns shift.</a:t>
            </a:r>
          </a:p>
        </p:txBody>
      </p:sp>
      <p:sp>
        <p:nvSpPr>
          <p:cNvPr id="17" name="Rounded Rectangle 16"/>
          <p:cNvSpPr/>
          <p:nvPr/>
        </p:nvSpPr>
        <p:spPr>
          <a:xfrm>
            <a:off x="6583680" y="4681728"/>
            <a:ext cx="5029200" cy="155448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0" y="4718304"/>
            <a:ext cx="73152" cy="14813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4791456"/>
            <a:ext cx="4736592" cy="274320"/>
          </a:xfrm>
          <a:prstGeom prst="rect">
            <a:avLst/>
          </a:prstGeom>
          <a:noFill/>
        </p:spPr>
        <p:txBody>
          <a:bodyPr wrap="square" lIns="54864" rIns="54864" tIns="36576" bIns="36576">
            <a:spAutoFit/>
          </a:bodyPr>
          <a:lstStyle/>
          <a:p>
            <a:pPr algn="l"/>
            <a:r>
              <a:rPr sz="1250" b="1">
                <a:solidFill>
                  <a:srgbClr val="0C2340"/>
                </a:solidFill>
                <a:latin typeface="Calibri"/>
              </a:rPr>
              <a:t>3. Authority Monitoring &amp; Daily Alerts</a:t>
            </a:r>
          </a:p>
        </p:txBody>
      </p:sp>
      <p:sp>
        <p:nvSpPr>
          <p:cNvPr id="20" name="TextBox 19"/>
          <p:cNvSpPr txBox="1"/>
          <p:nvPr/>
        </p:nvSpPr>
        <p:spPr>
          <a:xfrm>
            <a:off x="6766560" y="5084064"/>
            <a:ext cx="4736592" cy="1097280"/>
          </a:xfrm>
          <a:prstGeom prst="rect">
            <a:avLst/>
          </a:prstGeom>
          <a:noFill/>
        </p:spPr>
        <p:txBody>
          <a:bodyPr wrap="square" lIns="0" rIns="0" tIns="0" bIns="0">
            <a:spAutoFit/>
          </a:bodyPr>
          <a:lstStyle/>
          <a:p>
            <a:pPr>
              <a:spcAft>
                <a:spcPts val="250"/>
              </a:spcAft>
            </a:pPr>
            <a:r>
              <a:rPr sz="950" b="1">
                <a:solidFill>
                  <a:srgbClr val="163A5F"/>
                </a:solidFill>
                <a:latin typeface="Calibri"/>
              </a:rPr>
              <a:t>Multi-Dimensional Filtering: </a:t>
            </a:r>
            <a:r>
              <a:rPr sz="950" b="0">
                <a:solidFill>
                  <a:srgbClr val="1B2430"/>
                </a:solidFill>
                <a:latin typeface="Calibri"/>
              </a:rPr>
              <a:t>Filter incidents by district/region, incident type, date range, and risk tier.</a:t>
            </a:r>
          </a:p>
          <a:p>
            <a:pPr>
              <a:spcAft>
                <a:spcPts val="250"/>
              </a:spcAft>
            </a:pPr>
            <a:r>
              <a:rPr sz="950" b="1">
                <a:solidFill>
                  <a:srgbClr val="163A5F"/>
                </a:solidFill>
                <a:latin typeface="Calibri"/>
              </a:rPr>
              <a:t>Operational Patrol Alerts: </a:t>
            </a:r>
            <a:r>
              <a:rPr sz="950" b="0">
                <a:solidFill>
                  <a:srgbClr val="1B2430"/>
                </a:solidFill>
                <a:latin typeface="Calibri"/>
              </a:rPr>
              <a:t>Generates daily targeted alerts directing police units to recurring risk zones.</a:t>
            </a:r>
          </a:p>
          <a:p>
            <a:pPr>
              <a:spcAft>
                <a:spcPts val="250"/>
              </a:spcAft>
            </a:pPr>
            <a:r>
              <a:rPr sz="950" b="1">
                <a:solidFill>
                  <a:srgbClr val="163A5F"/>
                </a:solidFill>
                <a:latin typeface="Calibri"/>
              </a:rPr>
              <a:t>Centralized Command: </a:t>
            </a:r>
            <a:r>
              <a:rPr sz="950" b="0">
                <a:solidFill>
                  <a:srgbClr val="1B2430"/>
                </a:solidFill>
                <a:latin typeface="Calibri"/>
              </a:rPr>
              <a:t>Provides officers with unified administrative maps and actionable metric lists.</a:t>
            </a:r>
          </a:p>
        </p:txBody>
      </p:sp>
      <p:sp>
        <p:nvSpPr>
          <p:cNvPr id="21" name="Rectangle 20"/>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4" name="TextBox 23"/>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SAFEHER SYSTEM INTERFACES &amp; USER EXPERIENCE</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Integrated Mobile Client &amp; Authority Command Center</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Clean citizen-facing reporting screens paired with a multi-layered administrative dashboard</a:t>
            </a:r>
          </a:p>
        </p:txBody>
      </p:sp>
      <p:pic>
        <p:nvPicPr>
          <p:cNvPr id="8" name="Picture 7" descr="safeher-app-report.png"/>
          <p:cNvPicPr>
            <a:picLocks noChangeAspect="1"/>
          </p:cNvPicPr>
          <p:nvPr/>
        </p:nvPicPr>
        <p:blipFill>
          <a:blip r:embed="rId3"/>
          <a:stretch>
            <a:fillRect/>
          </a:stretch>
        </p:blipFill>
        <p:spPr>
          <a:xfrm>
            <a:off x="548640" y="1325880"/>
            <a:ext cx="2160270" cy="3840480"/>
          </a:xfrm>
          <a:prstGeom prst="rect">
            <a:avLst/>
          </a:prstGeom>
        </p:spPr>
      </p:pic>
      <p:sp>
        <p:nvSpPr>
          <p:cNvPr id="9" name="Rounded Rectangle 8"/>
          <p:cNvSpPr/>
          <p:nvPr/>
        </p:nvSpPr>
        <p:spPr>
          <a:xfrm>
            <a:off x="548640" y="5303520"/>
            <a:ext cx="2267712" cy="960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5358384"/>
            <a:ext cx="2103120" cy="219456"/>
          </a:xfrm>
          <a:prstGeom prst="rect">
            <a:avLst/>
          </a:prstGeom>
          <a:noFill/>
        </p:spPr>
        <p:txBody>
          <a:bodyPr wrap="square" lIns="54864" rIns="54864" tIns="36576" bIns="36576">
            <a:spAutoFit/>
          </a:bodyPr>
          <a:lstStyle/>
          <a:p>
            <a:pPr algn="l"/>
            <a:r>
              <a:rPr sz="1050" b="1">
                <a:solidFill>
                  <a:srgbClr val="0C2340"/>
                </a:solidFill>
                <a:latin typeface="Calibri"/>
              </a:rPr>
              <a:t>Mobile Report Screen</a:t>
            </a:r>
          </a:p>
        </p:txBody>
      </p:sp>
      <p:sp>
        <p:nvSpPr>
          <p:cNvPr id="11" name="TextBox 10"/>
          <p:cNvSpPr txBox="1"/>
          <p:nvPr/>
        </p:nvSpPr>
        <p:spPr>
          <a:xfrm>
            <a:off x="621792" y="5596128"/>
            <a:ext cx="2103120" cy="594360"/>
          </a:xfrm>
          <a:prstGeom prst="rect">
            <a:avLst/>
          </a:prstGeom>
          <a:noFill/>
        </p:spPr>
        <p:txBody>
          <a:bodyPr wrap="square" lIns="54864" rIns="54864" tIns="36576" bIns="36576">
            <a:spAutoFit/>
          </a:bodyPr>
          <a:lstStyle/>
          <a:p>
            <a:pPr algn="l"/>
            <a:r>
              <a:rPr sz="850" b="0">
                <a:solidFill>
                  <a:srgbClr val="55606E"/>
                </a:solidFill>
                <a:latin typeface="Calibri"/>
              </a:rPr>
              <a:t>Allows citizens to select incident type, rating, note, and auto-populate GPS location.</a:t>
            </a:r>
          </a:p>
        </p:txBody>
      </p:sp>
      <p:pic>
        <p:nvPicPr>
          <p:cNvPr id="12" name="Picture 11" descr="safeher-app-map.png"/>
          <p:cNvPicPr>
            <a:picLocks noChangeAspect="1"/>
          </p:cNvPicPr>
          <p:nvPr/>
        </p:nvPicPr>
        <p:blipFill>
          <a:blip r:embed="rId4"/>
          <a:stretch>
            <a:fillRect/>
          </a:stretch>
        </p:blipFill>
        <p:spPr>
          <a:xfrm>
            <a:off x="3017520" y="1325880"/>
            <a:ext cx="2160270" cy="3840480"/>
          </a:xfrm>
          <a:prstGeom prst="rect">
            <a:avLst/>
          </a:prstGeom>
        </p:spPr>
      </p:pic>
      <p:sp>
        <p:nvSpPr>
          <p:cNvPr id="13" name="Rounded Rectangle 12"/>
          <p:cNvSpPr/>
          <p:nvPr/>
        </p:nvSpPr>
        <p:spPr>
          <a:xfrm>
            <a:off x="3017520" y="5303520"/>
            <a:ext cx="2267712" cy="9601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5358384"/>
            <a:ext cx="2103120" cy="219456"/>
          </a:xfrm>
          <a:prstGeom prst="rect">
            <a:avLst/>
          </a:prstGeom>
          <a:noFill/>
        </p:spPr>
        <p:txBody>
          <a:bodyPr wrap="square" lIns="54864" rIns="54864" tIns="36576" bIns="36576">
            <a:spAutoFit/>
          </a:bodyPr>
          <a:lstStyle/>
          <a:p>
            <a:pPr algn="l"/>
            <a:r>
              <a:rPr sz="1050" b="1">
                <a:solidFill>
                  <a:srgbClr val="0C2340"/>
                </a:solidFill>
                <a:latin typeface="Calibri"/>
              </a:rPr>
              <a:t>Citizen Community Map</a:t>
            </a:r>
          </a:p>
        </p:txBody>
      </p:sp>
      <p:sp>
        <p:nvSpPr>
          <p:cNvPr id="15" name="TextBox 14"/>
          <p:cNvSpPr txBox="1"/>
          <p:nvPr/>
        </p:nvSpPr>
        <p:spPr>
          <a:xfrm>
            <a:off x="3090672" y="5596128"/>
            <a:ext cx="2103120" cy="594360"/>
          </a:xfrm>
          <a:prstGeom prst="rect">
            <a:avLst/>
          </a:prstGeom>
          <a:noFill/>
        </p:spPr>
        <p:txBody>
          <a:bodyPr wrap="square" lIns="54864" rIns="54864" tIns="36576" bIns="36576">
            <a:spAutoFit/>
          </a:bodyPr>
          <a:lstStyle/>
          <a:p>
            <a:pPr algn="l"/>
            <a:r>
              <a:rPr sz="850" b="0">
                <a:solidFill>
                  <a:srgbClr val="55606E"/>
                </a:solidFill>
                <a:latin typeface="Calibri"/>
              </a:rPr>
              <a:t>Shows verified safe routes, community flags, and active hotspot zones for transit safety.</a:t>
            </a:r>
          </a:p>
        </p:txBody>
      </p:sp>
      <p:pic>
        <p:nvPicPr>
          <p:cNvPr id="16" name="Picture 15" descr="safeher-dashboard-filters.png"/>
          <p:cNvPicPr>
            <a:picLocks noChangeAspect="1"/>
          </p:cNvPicPr>
          <p:nvPr/>
        </p:nvPicPr>
        <p:blipFill>
          <a:blip r:embed="rId5"/>
          <a:stretch>
            <a:fillRect/>
          </a:stretch>
        </p:blipFill>
        <p:spPr>
          <a:xfrm>
            <a:off x="5486400" y="1325880"/>
            <a:ext cx="5943600" cy="3343275"/>
          </a:xfrm>
          <a:prstGeom prst="rect">
            <a:avLst/>
          </a:prstGeom>
        </p:spPr>
      </p:pic>
      <p:sp>
        <p:nvSpPr>
          <p:cNvPr id="17" name="Rounded Rectangle 16"/>
          <p:cNvSpPr/>
          <p:nvPr/>
        </p:nvSpPr>
        <p:spPr>
          <a:xfrm>
            <a:off x="5486400" y="4800600"/>
            <a:ext cx="5943600" cy="146304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0" y="4800600"/>
            <a:ext cx="73152" cy="1463040"/>
          </a:xfrm>
          <a:prstGeom prst="rect">
            <a:avLst/>
          </a:prstGeom>
          <a:solidFill>
            <a:srgbClr val="1E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0" y="4882896"/>
            <a:ext cx="5623560" cy="237744"/>
          </a:xfrm>
          <a:prstGeom prst="rect">
            <a:avLst/>
          </a:prstGeom>
          <a:noFill/>
        </p:spPr>
        <p:txBody>
          <a:bodyPr wrap="square" lIns="54864" rIns="54864" tIns="36576" bIns="36576">
            <a:spAutoFit/>
          </a:bodyPr>
          <a:lstStyle/>
          <a:p>
            <a:pPr algn="l"/>
            <a:r>
              <a:rPr sz="1150" b="1">
                <a:solidFill>
                  <a:srgbClr val="0C2340"/>
                </a:solidFill>
                <a:latin typeface="Calibri"/>
              </a:rPr>
              <a:t>Authority Command Dashboard &amp; Filtering Suite</a:t>
            </a:r>
          </a:p>
        </p:txBody>
      </p:sp>
      <p:sp>
        <p:nvSpPr>
          <p:cNvPr id="20" name="TextBox 19"/>
          <p:cNvSpPr txBox="1"/>
          <p:nvPr/>
        </p:nvSpPr>
        <p:spPr>
          <a:xfrm>
            <a:off x="5669280" y="5138928"/>
            <a:ext cx="5623560" cy="1051560"/>
          </a:xfrm>
          <a:prstGeom prst="rect">
            <a:avLst/>
          </a:prstGeom>
          <a:noFill/>
        </p:spPr>
        <p:txBody>
          <a:bodyPr wrap="square" lIns="54864" rIns="54864" tIns="36576" bIns="36576">
            <a:spAutoFit/>
          </a:bodyPr>
          <a:lstStyle/>
          <a:p>
            <a:pPr algn="l"/>
            <a:r>
              <a:rPr sz="950" b="0">
                <a:solidFill>
                  <a:srgbClr val="1B2430"/>
                </a:solidFill>
                <a:latin typeface="Calibri"/>
              </a:rPr>
              <a:t>• Centralized interface displaying incident statistics, heatmaps, and spatial clusters.
• Multi-dimensional filters: query by region/district, incident category, time of day, and risk tier.
• Automated dispatch recommendations: visualizes 55 daily patrol alerts without manual compilation.</a:t>
            </a:r>
          </a:p>
        </p:txBody>
      </p:sp>
      <p:sp>
        <p:nvSpPr>
          <p:cNvPr id="21" name="Rectangle 20"/>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4" name="TextBox 23"/>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27432"/>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
            <a:ext cx="11064240" cy="219456"/>
          </a:xfrm>
          <a:prstGeom prst="rect">
            <a:avLst/>
          </a:prstGeom>
          <a:noFill/>
        </p:spPr>
        <p:txBody>
          <a:bodyPr wrap="square" lIns="54864" rIns="54864" tIns="36576" bIns="36576">
            <a:spAutoFit/>
          </a:bodyPr>
          <a:lstStyle/>
          <a:p>
            <a:pPr algn="l"/>
            <a:r>
              <a:rPr sz="1100" b="1">
                <a:solidFill>
                  <a:srgbClr val="9A7A38"/>
                </a:solidFill>
                <a:latin typeface="Calibri"/>
              </a:rPr>
              <a:t>CONCLUSION &amp; PROJECT CONTRIBUTIONS</a:t>
            </a:r>
          </a:p>
        </p:txBody>
      </p:sp>
      <p:sp>
        <p:nvSpPr>
          <p:cNvPr id="6" name="TextBox 5"/>
          <p:cNvSpPr txBox="1"/>
          <p:nvPr/>
        </p:nvSpPr>
        <p:spPr>
          <a:xfrm>
            <a:off x="548640" y="438912"/>
            <a:ext cx="11064240" cy="384048"/>
          </a:xfrm>
          <a:prstGeom prst="rect">
            <a:avLst/>
          </a:prstGeom>
          <a:noFill/>
        </p:spPr>
        <p:txBody>
          <a:bodyPr wrap="square" lIns="54864" rIns="54864" tIns="36576" bIns="36576">
            <a:spAutoFit/>
          </a:bodyPr>
          <a:lstStyle/>
          <a:p>
            <a:pPr algn="l"/>
            <a:r>
              <a:rPr sz="2100" b="1">
                <a:solidFill>
                  <a:srgbClr val="0C2340"/>
                </a:solidFill>
                <a:latin typeface="Calibri"/>
              </a:rPr>
              <a:t>Synthesizing Incident Intelligence for Public Safety</a:t>
            </a:r>
          </a:p>
        </p:txBody>
      </p:sp>
      <p:sp>
        <p:nvSpPr>
          <p:cNvPr id="7" name="TextBox 6"/>
          <p:cNvSpPr txBox="1"/>
          <p:nvPr/>
        </p:nvSpPr>
        <p:spPr>
          <a:xfrm>
            <a:off x="548640" y="841248"/>
            <a:ext cx="11064240" cy="292608"/>
          </a:xfrm>
          <a:prstGeom prst="rect">
            <a:avLst/>
          </a:prstGeom>
          <a:noFill/>
        </p:spPr>
        <p:txBody>
          <a:bodyPr wrap="square" lIns="54864" rIns="54864" tIns="36576" bIns="36576">
            <a:spAutoFit/>
          </a:bodyPr>
          <a:lstStyle/>
          <a:p>
            <a:pPr algn="l"/>
            <a:r>
              <a:rPr sz="1200" b="0">
                <a:solidFill>
                  <a:srgbClr val="55606E"/>
                </a:solidFill>
                <a:latin typeface="Calibri"/>
              </a:rPr>
              <a:t>A validated end-to-end framework uniting citizen reporting, spatial analytics, and preventive patrolling</a:t>
            </a:r>
          </a:p>
        </p:txBody>
      </p:sp>
      <p:sp>
        <p:nvSpPr>
          <p:cNvPr id="8" name="Rounded Rectangle 7"/>
          <p:cNvSpPr/>
          <p:nvPr/>
        </p:nvSpPr>
        <p:spPr>
          <a:xfrm>
            <a:off x="548640" y="132588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62456"/>
            <a:ext cx="73152" cy="2350008"/>
          </a:xfrm>
          <a:prstGeom prst="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3560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1. Unified Two-Module Platform</a:t>
            </a:r>
          </a:p>
        </p:txBody>
      </p:sp>
      <p:sp>
        <p:nvSpPr>
          <p:cNvPr id="11" name="TextBox 10"/>
          <p:cNvSpPr txBox="1"/>
          <p:nvPr/>
        </p:nvSpPr>
        <p:spPr>
          <a:xfrm>
            <a:off x="731520" y="172821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Seamless Integration: </a:t>
            </a:r>
            <a:r>
              <a:rPr sz="950" b="0">
                <a:solidFill>
                  <a:srgbClr val="1B2430"/>
                </a:solidFill>
                <a:latin typeface="Calibri"/>
              </a:rPr>
              <a:t>Successfully couples Module 1 (geospatial hotspot &amp; risk engine) with Module 2 (mobile app &amp; authority dashboard) via REST APIs.</a:t>
            </a:r>
          </a:p>
          <a:p>
            <a:pPr>
              <a:spcAft>
                <a:spcPts val="300"/>
              </a:spcAft>
            </a:pPr>
            <a:r>
              <a:rPr sz="950" b="1">
                <a:solidFill>
                  <a:srgbClr val="163A5F"/>
                </a:solidFill>
                <a:latin typeface="Calibri"/>
              </a:rPr>
              <a:t>Collaborative Division: </a:t>
            </a:r>
            <a:r>
              <a:rPr sz="950" b="0">
                <a:solidFill>
                  <a:srgbClr val="1B2430"/>
                </a:solidFill>
                <a:latin typeface="Calibri"/>
              </a:rPr>
              <a:t>Clear division of roles: analytical intelligence by Anusha K, client applications and dashboard by Aman Yadav.</a:t>
            </a:r>
          </a:p>
          <a:p>
            <a:pPr>
              <a:spcAft>
                <a:spcPts val="300"/>
              </a:spcAft>
            </a:pPr>
            <a:r>
              <a:rPr sz="950" b="1">
                <a:solidFill>
                  <a:srgbClr val="163A5F"/>
                </a:solidFill>
                <a:latin typeface="Calibri"/>
              </a:rPr>
              <a:t>End-to-End Pipeline: </a:t>
            </a:r>
            <a:r>
              <a:rPr sz="950" b="0">
                <a:solidFill>
                  <a:srgbClr val="1B2430"/>
                </a:solidFill>
                <a:latin typeface="Calibri"/>
              </a:rPr>
              <a:t>From a citizen tap on a phone screen to an officer's interactive patrol map, no manual intermediary is needed.</a:t>
            </a:r>
          </a:p>
        </p:txBody>
      </p:sp>
      <p:sp>
        <p:nvSpPr>
          <p:cNvPr id="12" name="Rounded Rectangle 11"/>
          <p:cNvSpPr/>
          <p:nvPr/>
        </p:nvSpPr>
        <p:spPr>
          <a:xfrm>
            <a:off x="6217920" y="132588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62456"/>
            <a:ext cx="73152" cy="23500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43560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2. Actionable Preventive Policing</a:t>
            </a:r>
          </a:p>
        </p:txBody>
      </p:sp>
      <p:sp>
        <p:nvSpPr>
          <p:cNvPr id="15" name="TextBox 14"/>
          <p:cNvSpPr txBox="1"/>
          <p:nvPr/>
        </p:nvSpPr>
        <p:spPr>
          <a:xfrm>
            <a:off x="6400800" y="172821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Beyond Reactive Logging: </a:t>
            </a:r>
            <a:r>
              <a:rPr sz="950" b="0">
                <a:solidFill>
                  <a:srgbClr val="1B2430"/>
                </a:solidFill>
                <a:latin typeface="Calibri"/>
              </a:rPr>
              <a:t>Transitions public safety from post-event FIR paperwork to proactive spatial awareness.</a:t>
            </a:r>
          </a:p>
          <a:p>
            <a:pPr>
              <a:spcAft>
                <a:spcPts val="300"/>
              </a:spcAft>
            </a:pPr>
            <a:r>
              <a:rPr sz="950" b="1">
                <a:solidFill>
                  <a:srgbClr val="163A5F"/>
                </a:solidFill>
                <a:latin typeface="Calibri"/>
              </a:rPr>
              <a:t>Clear Hotspots &amp; Risk Tiers: </a:t>
            </a:r>
            <a:r>
              <a:rPr sz="950" b="0">
                <a:solidFill>
                  <a:srgbClr val="1B2430"/>
                </a:solidFill>
                <a:latin typeface="Calibri"/>
              </a:rPr>
              <a:t>Identifies 72 hotspots and categorizes 30 High, 19 Medium, and 23 Low risk zones with 55 daily alerts.</a:t>
            </a:r>
          </a:p>
          <a:p>
            <a:pPr>
              <a:spcAft>
                <a:spcPts val="300"/>
              </a:spcAft>
            </a:pPr>
            <a:r>
              <a:rPr sz="950" b="1">
                <a:solidFill>
                  <a:srgbClr val="163A5F"/>
                </a:solidFill>
                <a:latin typeface="Calibri"/>
              </a:rPr>
              <a:t>Optimized Resource Deployment: </a:t>
            </a:r>
            <a:r>
              <a:rPr sz="950" b="0">
                <a:solidFill>
                  <a:srgbClr val="1B2430"/>
                </a:solidFill>
                <a:latin typeface="Calibri"/>
              </a:rPr>
              <a:t>Enables police departments to focus limited patrol units where incidents repeatedly concentrate.</a:t>
            </a:r>
          </a:p>
        </p:txBody>
      </p:sp>
      <p:sp>
        <p:nvSpPr>
          <p:cNvPr id="16" name="Rounded Rectangle 15"/>
          <p:cNvSpPr/>
          <p:nvPr/>
        </p:nvSpPr>
        <p:spPr>
          <a:xfrm>
            <a:off x="548640" y="388620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73152" cy="2350008"/>
          </a:xfrm>
          <a:prstGeom prst="rect">
            <a:avLst/>
          </a:prstGeom>
          <a:solidFill>
            <a:srgbClr val="1E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9592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3. Dataset Validation &amp; Scalability</a:t>
            </a:r>
          </a:p>
        </p:txBody>
      </p:sp>
      <p:sp>
        <p:nvSpPr>
          <p:cNvPr id="19" name="TextBox 18"/>
          <p:cNvSpPr txBox="1"/>
          <p:nvPr/>
        </p:nvSpPr>
        <p:spPr>
          <a:xfrm>
            <a:off x="731520" y="428853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Bengaluru Validation: </a:t>
            </a:r>
            <a:r>
              <a:rPr sz="950" b="0">
                <a:solidFill>
                  <a:srgbClr val="1B2430"/>
                </a:solidFill>
                <a:latin typeface="Calibri"/>
              </a:rPr>
              <a:t>Demonstrated and validated on Bengaluru street safety dataset ('bengaluru_street_safety_REAL.xlsx') and OSM infrastructure.</a:t>
            </a:r>
          </a:p>
          <a:p>
            <a:pPr>
              <a:spcAft>
                <a:spcPts val="300"/>
              </a:spcAft>
            </a:pPr>
            <a:r>
              <a:rPr sz="950" b="1">
                <a:solidFill>
                  <a:srgbClr val="163A5F"/>
                </a:solidFill>
                <a:latin typeface="Calibri"/>
              </a:rPr>
              <a:t>State-Wide Scalability: </a:t>
            </a:r>
            <a:r>
              <a:rPr sz="950" b="0">
                <a:solidFill>
                  <a:srgbClr val="1B2430"/>
                </a:solidFill>
                <a:latin typeface="Calibri"/>
              </a:rPr>
              <a:t>Modular architecture designed to seamlessly ingest additional Karnataka districts and municipal jurisdictions.</a:t>
            </a:r>
          </a:p>
          <a:p>
            <a:pPr>
              <a:spcAft>
                <a:spcPts val="300"/>
              </a:spcAft>
            </a:pPr>
            <a:r>
              <a:rPr sz="950" b="1">
                <a:solidFill>
                  <a:srgbClr val="163A5F"/>
                </a:solidFill>
                <a:latin typeface="Calibri"/>
              </a:rPr>
              <a:t>Extensible Features: </a:t>
            </a:r>
            <a:r>
              <a:rPr sz="950" b="0">
                <a:solidFill>
                  <a:srgbClr val="1B2430"/>
                </a:solidFill>
                <a:latin typeface="Calibri"/>
              </a:rPr>
              <a:t>Standardized JSON schemas ensure easy addition of future environmental sensor or lighting feeds.</a:t>
            </a:r>
          </a:p>
        </p:txBody>
      </p:sp>
      <p:sp>
        <p:nvSpPr>
          <p:cNvPr id="20" name="Rounded Rectangle 19"/>
          <p:cNvSpPr/>
          <p:nvPr/>
        </p:nvSpPr>
        <p:spPr>
          <a:xfrm>
            <a:off x="6217920" y="3886200"/>
            <a:ext cx="5303520" cy="24231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922776"/>
            <a:ext cx="73152" cy="2350008"/>
          </a:xfrm>
          <a:prstGeom prst="rect">
            <a:avLst/>
          </a:prstGeom>
          <a:solidFill>
            <a:srgbClr val="9A7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995928"/>
            <a:ext cx="5010912" cy="274320"/>
          </a:xfrm>
          <a:prstGeom prst="rect">
            <a:avLst/>
          </a:prstGeom>
          <a:noFill/>
        </p:spPr>
        <p:txBody>
          <a:bodyPr wrap="square" lIns="54864" rIns="54864" tIns="36576" bIns="36576">
            <a:spAutoFit/>
          </a:bodyPr>
          <a:lstStyle/>
          <a:p>
            <a:pPr algn="l"/>
            <a:r>
              <a:rPr sz="1250" b="1">
                <a:solidFill>
                  <a:srgbClr val="0C2340"/>
                </a:solidFill>
                <a:latin typeface="Calibri"/>
              </a:rPr>
              <a:t>4. Direct SDG 5 Alignment</a:t>
            </a:r>
          </a:p>
        </p:txBody>
      </p:sp>
      <p:sp>
        <p:nvSpPr>
          <p:cNvPr id="23" name="TextBox 22"/>
          <p:cNvSpPr txBox="1"/>
          <p:nvPr/>
        </p:nvSpPr>
        <p:spPr>
          <a:xfrm>
            <a:off x="6400800" y="4288536"/>
            <a:ext cx="5010912" cy="1965960"/>
          </a:xfrm>
          <a:prstGeom prst="rect">
            <a:avLst/>
          </a:prstGeom>
          <a:noFill/>
        </p:spPr>
        <p:txBody>
          <a:bodyPr wrap="square" lIns="0" rIns="0" tIns="0" bIns="0">
            <a:spAutoFit/>
          </a:bodyPr>
          <a:lstStyle/>
          <a:p>
            <a:pPr>
              <a:spcAft>
                <a:spcPts val="300"/>
              </a:spcAft>
            </a:pPr>
            <a:r>
              <a:rPr sz="950" b="1">
                <a:solidFill>
                  <a:srgbClr val="163A5F"/>
                </a:solidFill>
                <a:latin typeface="Calibri"/>
              </a:rPr>
              <a:t>Target 5.2 Elimination of Violence: </a:t>
            </a:r>
            <a:r>
              <a:rPr sz="950" b="0">
                <a:solidFill>
                  <a:srgbClr val="1B2430"/>
                </a:solidFill>
                <a:latin typeface="Calibri"/>
              </a:rPr>
              <a:t>Direct technological contribution to eliminating violence against women and girls in public spaces.</a:t>
            </a:r>
          </a:p>
          <a:p>
            <a:pPr>
              <a:spcAft>
                <a:spcPts val="300"/>
              </a:spcAft>
            </a:pPr>
            <a:r>
              <a:rPr sz="950" b="1">
                <a:solidFill>
                  <a:srgbClr val="163A5F"/>
                </a:solidFill>
                <a:latin typeface="Calibri"/>
              </a:rPr>
              <a:t>Empowering Citizens: </a:t>
            </a:r>
            <a:r>
              <a:rPr sz="950" b="0">
                <a:solidFill>
                  <a:srgbClr val="1B2430"/>
                </a:solidFill>
                <a:latin typeface="Calibri"/>
              </a:rPr>
              <a:t>Provides women with safe transit route visibility and an accessible voice to report safety concerns.</a:t>
            </a:r>
          </a:p>
          <a:p>
            <a:pPr>
              <a:spcAft>
                <a:spcPts val="300"/>
              </a:spcAft>
            </a:pPr>
            <a:r>
              <a:rPr sz="950" b="1">
                <a:solidFill>
                  <a:srgbClr val="163A5F"/>
                </a:solidFill>
                <a:latin typeface="Calibri"/>
              </a:rPr>
              <a:t>Civic Accountability: </a:t>
            </a:r>
            <a:r>
              <a:rPr sz="950" b="0">
                <a:solidFill>
                  <a:srgbClr val="1B2430"/>
                </a:solidFill>
                <a:latin typeface="Calibri"/>
              </a:rPr>
              <a:t>Supplies objective spatial evidence to support urban infrastructure upgrades and civic safety investments.</a:t>
            </a:r>
          </a:p>
        </p:txBody>
      </p:sp>
      <p:sp>
        <p:nvSpPr>
          <p:cNvPr id="24" name="Rectangle 23"/>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7" name="TextBox 26"/>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565392"/>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10332720" cy="274320"/>
          </a:xfrm>
          <a:prstGeom prst="rect">
            <a:avLst/>
          </a:prstGeom>
          <a:noFill/>
        </p:spPr>
        <p:txBody>
          <a:bodyPr wrap="square" lIns="54864" rIns="54864" tIns="36576" bIns="36576">
            <a:spAutoFit/>
          </a:bodyPr>
          <a:lstStyle/>
          <a:p>
            <a:pPr algn="l"/>
            <a:r>
              <a:rPr sz="1200" b="1">
                <a:solidFill>
                  <a:srgbClr val="C4A35A"/>
                </a:solidFill>
                <a:latin typeface="Calibri"/>
              </a:rPr>
              <a:t>BMS INSTITUTE OF TECHNOLOGY AND MANAGEMENT · DEPARTMENT OF MCA</a:t>
            </a:r>
          </a:p>
        </p:txBody>
      </p:sp>
      <p:sp>
        <p:nvSpPr>
          <p:cNvPr id="5" name="TextBox 4"/>
          <p:cNvSpPr txBox="1"/>
          <p:nvPr/>
        </p:nvSpPr>
        <p:spPr>
          <a:xfrm>
            <a:off x="914400" y="1051560"/>
            <a:ext cx="10332720" cy="777240"/>
          </a:xfrm>
          <a:prstGeom prst="rect">
            <a:avLst/>
          </a:prstGeom>
          <a:noFill/>
        </p:spPr>
        <p:txBody>
          <a:bodyPr wrap="square" lIns="54864" rIns="54864" tIns="36576" bIns="36576">
            <a:spAutoFit/>
          </a:bodyPr>
          <a:lstStyle/>
          <a:p>
            <a:pPr algn="l"/>
            <a:r>
              <a:rPr sz="4600" b="1">
                <a:solidFill>
                  <a:srgbClr val="FFFFFF"/>
                </a:solidFill>
                <a:latin typeface="Calibri"/>
              </a:rPr>
              <a:t>Thank You</a:t>
            </a:r>
          </a:p>
        </p:txBody>
      </p:sp>
      <p:sp>
        <p:nvSpPr>
          <p:cNvPr id="6" name="TextBox 5"/>
          <p:cNvSpPr txBox="1"/>
          <p:nvPr/>
        </p:nvSpPr>
        <p:spPr>
          <a:xfrm>
            <a:off x="914400" y="1874519"/>
            <a:ext cx="10332720" cy="411480"/>
          </a:xfrm>
          <a:prstGeom prst="rect">
            <a:avLst/>
          </a:prstGeom>
          <a:noFill/>
        </p:spPr>
        <p:txBody>
          <a:bodyPr wrap="square" lIns="54864" rIns="54864" tIns="36576" bIns="36576">
            <a:spAutoFit/>
          </a:bodyPr>
          <a:lstStyle/>
          <a:p>
            <a:pPr algn="l"/>
            <a:r>
              <a:rPr sz="1900" b="0">
                <a:solidFill>
                  <a:srgbClr val="D6C48A"/>
                </a:solidFill>
                <a:latin typeface="Calibri"/>
              </a:rPr>
              <a:t>We are ready to answer your questions.</a:t>
            </a:r>
          </a:p>
        </p:txBody>
      </p:sp>
      <p:sp>
        <p:nvSpPr>
          <p:cNvPr id="7" name="Rectangle 6"/>
          <p:cNvSpPr/>
          <p:nvPr/>
        </p:nvSpPr>
        <p:spPr>
          <a:xfrm>
            <a:off x="914400" y="2423160"/>
            <a:ext cx="2743200" cy="36576"/>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2651760"/>
            <a:ext cx="10332720" cy="3566160"/>
          </a:xfrm>
          <a:prstGeom prst="roundRect">
            <a:avLst/>
          </a:prstGeom>
          <a:solidFill>
            <a:srgbClr val="102C4C"/>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788920"/>
            <a:ext cx="4754880" cy="228600"/>
          </a:xfrm>
          <a:prstGeom prst="rect">
            <a:avLst/>
          </a:prstGeom>
          <a:noFill/>
        </p:spPr>
        <p:txBody>
          <a:bodyPr wrap="square" lIns="54864" rIns="54864" tIns="36576" bIns="36576">
            <a:spAutoFit/>
          </a:bodyPr>
          <a:lstStyle/>
          <a:p>
            <a:pPr algn="l"/>
            <a:r>
              <a:rPr sz="1100" b="1">
                <a:solidFill>
                  <a:srgbClr val="C4A35A"/>
                </a:solidFill>
                <a:latin typeface="Calibri"/>
              </a:rPr>
              <a:t>PROJECT DETAILS</a:t>
            </a:r>
          </a:p>
        </p:txBody>
      </p:sp>
      <p:sp>
        <p:nvSpPr>
          <p:cNvPr id="10" name="TextBox 9"/>
          <p:cNvSpPr txBox="1"/>
          <p:nvPr/>
        </p:nvSpPr>
        <p:spPr>
          <a:xfrm>
            <a:off x="1188720" y="3063240"/>
            <a:ext cx="4754880" cy="320040"/>
          </a:xfrm>
          <a:prstGeom prst="rect">
            <a:avLst/>
          </a:prstGeom>
          <a:noFill/>
        </p:spPr>
        <p:txBody>
          <a:bodyPr wrap="square" lIns="54864" rIns="54864" tIns="36576" bIns="36576">
            <a:spAutoFit/>
          </a:bodyPr>
          <a:lstStyle/>
          <a:p>
            <a:pPr algn="l"/>
            <a:r>
              <a:rPr sz="2400" b="1">
                <a:solidFill>
                  <a:srgbClr val="FFFFFF"/>
                </a:solidFill>
                <a:latin typeface="Calibri"/>
              </a:rPr>
              <a:t>SafeHer</a:t>
            </a:r>
          </a:p>
        </p:txBody>
      </p:sp>
      <p:sp>
        <p:nvSpPr>
          <p:cNvPr id="11" name="TextBox 10"/>
          <p:cNvSpPr txBox="1"/>
          <p:nvPr/>
        </p:nvSpPr>
        <p:spPr>
          <a:xfrm>
            <a:off x="1188720" y="3429000"/>
            <a:ext cx="4754880" cy="685800"/>
          </a:xfrm>
          <a:prstGeom prst="rect">
            <a:avLst/>
          </a:prstGeom>
          <a:noFill/>
        </p:spPr>
        <p:txBody>
          <a:bodyPr wrap="square" lIns="54864" rIns="54864" tIns="36576" bIns="36576">
            <a:spAutoFit/>
          </a:bodyPr>
          <a:lstStyle/>
          <a:p>
            <a:pPr algn="l"/>
            <a:r>
              <a:rPr sz="1200" b="0">
                <a:solidFill>
                  <a:srgbClr val="C8D7EB"/>
                </a:solidFill>
                <a:latin typeface="Calibri"/>
              </a:rPr>
              <a:t>Women’s Safety &amp; Dynamic Security Monitoring System
Project Work Phase I · Subject Code: MMCA34
Academic Batch: 2025–2027</a:t>
            </a:r>
          </a:p>
        </p:txBody>
      </p:sp>
      <p:sp>
        <p:nvSpPr>
          <p:cNvPr id="12" name="TextBox 11"/>
          <p:cNvSpPr txBox="1"/>
          <p:nvPr/>
        </p:nvSpPr>
        <p:spPr>
          <a:xfrm>
            <a:off x="1188720" y="4297680"/>
            <a:ext cx="4754880" cy="228600"/>
          </a:xfrm>
          <a:prstGeom prst="rect">
            <a:avLst/>
          </a:prstGeom>
          <a:noFill/>
        </p:spPr>
        <p:txBody>
          <a:bodyPr wrap="square" lIns="54864" rIns="54864" tIns="36576" bIns="36576">
            <a:spAutoFit/>
          </a:bodyPr>
          <a:lstStyle/>
          <a:p>
            <a:pPr algn="l"/>
            <a:r>
              <a:rPr sz="1100" b="1">
                <a:solidFill>
                  <a:srgbClr val="C4A35A"/>
                </a:solidFill>
                <a:latin typeface="Calibri"/>
              </a:rPr>
              <a:t>PROJECT GUIDE</a:t>
            </a:r>
          </a:p>
        </p:txBody>
      </p:sp>
      <p:sp>
        <p:nvSpPr>
          <p:cNvPr id="13" name="TextBox 12"/>
          <p:cNvSpPr txBox="1"/>
          <p:nvPr/>
        </p:nvSpPr>
        <p:spPr>
          <a:xfrm>
            <a:off x="1188720" y="4553712"/>
            <a:ext cx="4754880" cy="320040"/>
          </a:xfrm>
          <a:prstGeom prst="rect">
            <a:avLst/>
          </a:prstGeom>
          <a:noFill/>
        </p:spPr>
        <p:txBody>
          <a:bodyPr wrap="square" lIns="54864" rIns="54864" tIns="36576" bIns="36576">
            <a:spAutoFit/>
          </a:bodyPr>
          <a:lstStyle/>
          <a:p>
            <a:pPr algn="l"/>
            <a:r>
              <a:rPr sz="1700" b="1">
                <a:solidFill>
                  <a:srgbClr val="FFFFFF"/>
                </a:solidFill>
                <a:latin typeface="Calibri"/>
              </a:rPr>
              <a:t>Dr. M Sridevi</a:t>
            </a:r>
          </a:p>
        </p:txBody>
      </p:sp>
      <p:sp>
        <p:nvSpPr>
          <p:cNvPr id="14" name="TextBox 13"/>
          <p:cNvSpPr txBox="1"/>
          <p:nvPr/>
        </p:nvSpPr>
        <p:spPr>
          <a:xfrm>
            <a:off x="1188720" y="4892040"/>
            <a:ext cx="4754880" cy="411480"/>
          </a:xfrm>
          <a:prstGeom prst="rect">
            <a:avLst/>
          </a:prstGeom>
          <a:noFill/>
        </p:spPr>
        <p:txBody>
          <a:bodyPr wrap="square" lIns="54864" rIns="54864" tIns="36576" bIns="36576">
            <a:spAutoFit/>
          </a:bodyPr>
          <a:lstStyle/>
          <a:p>
            <a:pPr algn="l"/>
            <a:r>
              <a:rPr sz="1100" b="0">
                <a:solidFill>
                  <a:srgbClr val="C8D7EB"/>
                </a:solidFill>
                <a:latin typeface="Calibri"/>
              </a:rPr>
              <a:t>Department of Master of Computer Applications
BMS Institute of Technology &amp; Management</a:t>
            </a:r>
          </a:p>
        </p:txBody>
      </p:sp>
      <p:sp>
        <p:nvSpPr>
          <p:cNvPr id="15" name="TextBox 14"/>
          <p:cNvSpPr txBox="1"/>
          <p:nvPr/>
        </p:nvSpPr>
        <p:spPr>
          <a:xfrm>
            <a:off x="6217920" y="2788920"/>
            <a:ext cx="4754880" cy="228600"/>
          </a:xfrm>
          <a:prstGeom prst="rect">
            <a:avLst/>
          </a:prstGeom>
          <a:noFill/>
        </p:spPr>
        <p:txBody>
          <a:bodyPr wrap="square" lIns="54864" rIns="54864" tIns="36576" bIns="36576">
            <a:spAutoFit/>
          </a:bodyPr>
          <a:lstStyle/>
          <a:p>
            <a:pPr algn="l"/>
            <a:r>
              <a:rPr sz="1100" b="1">
                <a:solidFill>
                  <a:srgbClr val="C4A35A"/>
                </a:solidFill>
                <a:latin typeface="Calibri"/>
              </a:rPr>
              <a:t>PROJECT TEAM &amp; MODULE OWNERSHIP</a:t>
            </a:r>
          </a:p>
        </p:txBody>
      </p:sp>
      <p:sp>
        <p:nvSpPr>
          <p:cNvPr id="16" name="Rounded Rectangle 15"/>
          <p:cNvSpPr/>
          <p:nvPr/>
        </p:nvSpPr>
        <p:spPr>
          <a:xfrm>
            <a:off x="6217920" y="3108960"/>
            <a:ext cx="4754880" cy="1280160"/>
          </a:xfrm>
          <a:prstGeom prst="round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108960"/>
            <a:ext cx="73152" cy="128016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182112"/>
            <a:ext cx="4389120" cy="228600"/>
          </a:xfrm>
          <a:prstGeom prst="rect">
            <a:avLst/>
          </a:prstGeom>
          <a:noFill/>
        </p:spPr>
        <p:txBody>
          <a:bodyPr wrap="square" lIns="54864" rIns="54864" tIns="36576" bIns="36576">
            <a:spAutoFit/>
          </a:bodyPr>
          <a:lstStyle/>
          <a:p>
            <a:pPr algn="l"/>
            <a:r>
              <a:rPr sz="1250" b="1">
                <a:solidFill>
                  <a:srgbClr val="FFFFFF"/>
                </a:solidFill>
                <a:latin typeface="Calibri"/>
              </a:rPr>
              <a:t>Anusha K  ·  1BY25MC017 (Module 1 Lead)</a:t>
            </a:r>
          </a:p>
        </p:txBody>
      </p:sp>
      <p:sp>
        <p:nvSpPr>
          <p:cNvPr id="19" name="TextBox 18"/>
          <p:cNvSpPr txBox="1"/>
          <p:nvPr/>
        </p:nvSpPr>
        <p:spPr>
          <a:xfrm>
            <a:off x="6446520" y="3456432"/>
            <a:ext cx="4389120" cy="822960"/>
          </a:xfrm>
          <a:prstGeom prst="rect">
            <a:avLst/>
          </a:prstGeom>
          <a:noFill/>
        </p:spPr>
        <p:txBody>
          <a:bodyPr wrap="square" lIns="54864" rIns="54864" tIns="36576" bIns="36576">
            <a:spAutoFit/>
          </a:bodyPr>
          <a:lstStyle/>
          <a:p>
            <a:pPr algn="l"/>
            <a:r>
              <a:rPr sz="1100" b="0">
                <a:solidFill>
                  <a:srgbClr val="D6C48A"/>
                </a:solidFill>
                <a:latin typeface="Calibri"/>
              </a:rPr>
              <a:t>“Security provision through hotspot identification and risk assessment for women’s safety in public spaces.”</a:t>
            </a:r>
          </a:p>
        </p:txBody>
      </p:sp>
      <p:sp>
        <p:nvSpPr>
          <p:cNvPr id="20" name="Rounded Rectangle 19"/>
          <p:cNvSpPr/>
          <p:nvPr/>
        </p:nvSpPr>
        <p:spPr>
          <a:xfrm>
            <a:off x="6217920" y="4572000"/>
            <a:ext cx="4754880" cy="1280160"/>
          </a:xfrm>
          <a:prstGeom prst="roundRect">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4572000"/>
            <a:ext cx="73152" cy="1280160"/>
          </a:xfrm>
          <a:prstGeom prst="rect">
            <a:avLst/>
          </a:prstGeom>
          <a:solidFill>
            <a:srgbClr val="649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645152"/>
            <a:ext cx="4389120" cy="228600"/>
          </a:xfrm>
          <a:prstGeom prst="rect">
            <a:avLst/>
          </a:prstGeom>
          <a:noFill/>
        </p:spPr>
        <p:txBody>
          <a:bodyPr wrap="square" lIns="54864" rIns="54864" tIns="36576" bIns="36576">
            <a:spAutoFit/>
          </a:bodyPr>
          <a:lstStyle/>
          <a:p>
            <a:pPr algn="l"/>
            <a:r>
              <a:rPr sz="1250" b="1">
                <a:solidFill>
                  <a:srgbClr val="FFFFFF"/>
                </a:solidFill>
                <a:latin typeface="Calibri"/>
              </a:rPr>
              <a:t>Aman Yadav  ·  1BY25MC012 (Module 2 Lead)</a:t>
            </a:r>
          </a:p>
        </p:txBody>
      </p:sp>
      <p:sp>
        <p:nvSpPr>
          <p:cNvPr id="23" name="TextBox 22"/>
          <p:cNvSpPr txBox="1"/>
          <p:nvPr/>
        </p:nvSpPr>
        <p:spPr>
          <a:xfrm>
            <a:off x="6446520" y="4919472"/>
            <a:ext cx="4389120" cy="822960"/>
          </a:xfrm>
          <a:prstGeom prst="rect">
            <a:avLst/>
          </a:prstGeom>
          <a:noFill/>
        </p:spPr>
        <p:txBody>
          <a:bodyPr wrap="square" lIns="54864" rIns="54864" tIns="36576" bIns="36576">
            <a:spAutoFit/>
          </a:bodyPr>
          <a:lstStyle/>
          <a:p>
            <a:pPr algn="l"/>
            <a:r>
              <a:rPr sz="1100" b="0">
                <a:solidFill>
                  <a:srgbClr val="C8DCF5"/>
                </a:solidFill>
                <a:latin typeface="Calibri"/>
              </a:rPr>
              <a:t>“Women’s safety and dynamic security monitoring mobile application.”</a:t>
            </a:r>
          </a:p>
        </p:txBody>
      </p:sp>
      <p:sp>
        <p:nvSpPr>
          <p:cNvPr id="24" name="Rectangle 23"/>
          <p:cNvSpPr/>
          <p:nvPr/>
        </p:nvSpPr>
        <p:spPr>
          <a:xfrm>
            <a:off x="0" y="6565392"/>
            <a:ext cx="12191695" cy="29260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65392"/>
            <a:ext cx="109728" cy="2926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601968"/>
            <a:ext cx="9326880" cy="219456"/>
          </a:xfrm>
          <a:prstGeom prst="rect">
            <a:avLst/>
          </a:prstGeom>
          <a:noFill/>
        </p:spPr>
        <p:txBody>
          <a:bodyPr wrap="square" lIns="54864" rIns="54864" tIns="36576" bIns="36576">
            <a:spAutoFit/>
          </a:bodyPr>
          <a:lstStyle/>
          <a:p>
            <a:pPr algn="l"/>
            <a:r>
              <a:rPr sz="1000" b="0">
                <a:solidFill>
                  <a:srgbClr val="D2DEEE"/>
                </a:solidFill>
                <a:latin typeface="Calibri"/>
              </a:rPr>
              <a:t>BMS Institute of Technology &amp; Management  ·  Department of MCA  ·  SafeHer  ·  Phase I Interim Review</a:t>
            </a:r>
          </a:p>
        </p:txBody>
      </p:sp>
      <p:sp>
        <p:nvSpPr>
          <p:cNvPr id="27" name="TextBox 26"/>
          <p:cNvSpPr txBox="1"/>
          <p:nvPr/>
        </p:nvSpPr>
        <p:spPr>
          <a:xfrm>
            <a:off x="10241280" y="6601968"/>
            <a:ext cx="1554480" cy="219456"/>
          </a:xfrm>
          <a:prstGeom prst="rect">
            <a:avLst/>
          </a:prstGeom>
          <a:noFill/>
        </p:spPr>
        <p:txBody>
          <a:bodyPr wrap="square" lIns="54864" rIns="54864" tIns="36576" bIns="36576">
            <a:spAutoFit/>
          </a:bodyPr>
          <a:lstStyle/>
          <a:p>
            <a:pPr algn="r"/>
            <a:r>
              <a:rPr sz="1000" b="1">
                <a:solidFill>
                  <a:srgbClr val="C4A35A"/>
                </a:solidFill>
                <a:latin typeface="Calibri"/>
              </a:rPr>
              <a:t>Slide 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