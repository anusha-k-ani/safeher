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38912"/>
            <a:ext cx="10972800" cy="256032"/>
          </a:xfrm>
          <a:prstGeom prst="rect">
            <a:avLst/>
          </a:prstGeom>
          <a:noFill/>
        </p:spPr>
        <p:txBody>
          <a:bodyPr wrap="square">
            <a:spAutoFit/>
          </a:bodyPr>
          <a:lstStyle/>
          <a:p>
            <a:pPr algn="l"/>
            <a:r>
              <a:rPr sz="1200" b="1">
                <a:solidFill>
                  <a:srgbClr val="C4A35A"/>
                </a:solidFill>
                <a:latin typeface="Calibri"/>
              </a:rPr>
              <a:t>BMS INSTITUTE OF TECHNOLOGY AND MANAGEMENT</a:t>
            </a:r>
          </a:p>
        </p:txBody>
      </p:sp>
      <p:sp>
        <p:nvSpPr>
          <p:cNvPr id="5" name="TextBox 4"/>
          <p:cNvSpPr txBox="1"/>
          <p:nvPr/>
        </p:nvSpPr>
        <p:spPr>
          <a:xfrm>
            <a:off x="640080" y="749808"/>
            <a:ext cx="10972800" cy="256032"/>
          </a:xfrm>
          <a:prstGeom prst="rect">
            <a:avLst/>
          </a:prstGeom>
          <a:noFill/>
        </p:spPr>
        <p:txBody>
          <a:bodyPr wrap="square">
            <a:spAutoFit/>
          </a:bodyPr>
          <a:lstStyle/>
          <a:p>
            <a:pPr algn="l"/>
            <a:r>
              <a:rPr sz="1300" b="0">
                <a:solidFill>
                  <a:srgbClr val="C5D0DB"/>
                </a:solidFill>
                <a:latin typeface="Calibri"/>
              </a:rPr>
              <a:t>Department of Master of Computer Applications  ·  Project Work Phase I  ·  MMCA34  ·  2025–27</a:t>
            </a:r>
          </a:p>
        </p:txBody>
      </p:sp>
      <p:sp>
        <p:nvSpPr>
          <p:cNvPr id="6" name="Rectangle 5"/>
          <p:cNvSpPr/>
          <p:nvPr/>
        </p:nvSpPr>
        <p:spPr>
          <a:xfrm>
            <a:off x="640080" y="1170432"/>
            <a:ext cx="2011680" cy="4572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11064240" cy="1691640"/>
          </a:xfrm>
          <a:prstGeom prst="rect">
            <a:avLst/>
          </a:prstGeom>
          <a:noFill/>
        </p:spPr>
        <p:txBody>
          <a:bodyPr wrap="square">
            <a:spAutoFit/>
          </a:bodyPr>
          <a:lstStyle/>
          <a:p>
            <a:pPr algn="l"/>
            <a:r>
              <a:rPr sz="2800" b="1">
                <a:solidFill>
                  <a:srgbClr val="FFFFFF"/>
                </a:solidFill>
                <a:latin typeface="Calibri"/>
              </a:rPr>
              <a:t>Incident Analysis and Hotspot Identification
for Security Provision Against Women
Harassment in Public Spaces</a:t>
            </a:r>
          </a:p>
        </p:txBody>
      </p:sp>
      <p:sp>
        <p:nvSpPr>
          <p:cNvPr id="8" name="TextBox 7"/>
          <p:cNvSpPr txBox="1"/>
          <p:nvPr/>
        </p:nvSpPr>
        <p:spPr>
          <a:xfrm>
            <a:off x="640080" y="3246120"/>
            <a:ext cx="10972800" cy="411480"/>
          </a:xfrm>
          <a:prstGeom prst="rect">
            <a:avLst/>
          </a:prstGeom>
          <a:noFill/>
        </p:spPr>
        <p:txBody>
          <a:bodyPr wrap="square">
            <a:spAutoFit/>
          </a:bodyPr>
          <a:lstStyle/>
          <a:p>
            <a:pPr algn="l"/>
            <a:r>
              <a:rPr sz="1500" b="0">
                <a:solidFill>
                  <a:srgbClr val="D6C48A"/>
                </a:solidFill>
                <a:latin typeface="Calibri"/>
              </a:rPr>
              <a:t>SafeHer  —  a crowdsourced reporting system with geospatial analysis and a self-serve authority dashboard</a:t>
            </a:r>
          </a:p>
        </p:txBody>
      </p:sp>
      <p:sp>
        <p:nvSpPr>
          <p:cNvPr id="9" name="TextBox 8"/>
          <p:cNvSpPr txBox="1"/>
          <p:nvPr/>
        </p:nvSpPr>
        <p:spPr>
          <a:xfrm>
            <a:off x="640080" y="4160520"/>
            <a:ext cx="5852160" cy="1828800"/>
          </a:xfrm>
          <a:prstGeom prst="rect">
            <a:avLst/>
          </a:prstGeom>
          <a:noFill/>
        </p:spPr>
        <p:txBody>
          <a:bodyPr wrap="square">
            <a:spAutoFit/>
          </a:bodyPr>
          <a:lstStyle/>
          <a:p>
            <a:pPr algn="l"/>
            <a:r>
              <a:rPr sz="1400" b="0">
                <a:solidFill>
                  <a:srgbClr val="FFFFFF"/>
                </a:solidFill>
                <a:latin typeface="Calibri"/>
              </a:rPr>
              <a:t>Submitted by
Anusha K     1BY25MC017     Module 1 — Analysis and hotspot identification
Aman Yadav     1BY25MC012     Module 2 — Mobile application and dashboard</a:t>
            </a:r>
          </a:p>
        </p:txBody>
      </p:sp>
      <p:sp>
        <p:nvSpPr>
          <p:cNvPr id="10" name="TextBox 9"/>
          <p:cNvSpPr txBox="1"/>
          <p:nvPr/>
        </p:nvSpPr>
        <p:spPr>
          <a:xfrm>
            <a:off x="6858000" y="4160520"/>
            <a:ext cx="4846320" cy="1828800"/>
          </a:xfrm>
          <a:prstGeom prst="rect">
            <a:avLst/>
          </a:prstGeom>
          <a:noFill/>
        </p:spPr>
        <p:txBody>
          <a:bodyPr wrap="square">
            <a:spAutoFit/>
          </a:bodyPr>
          <a:lstStyle/>
          <a:p>
            <a:pPr algn="l"/>
            <a:r>
              <a:rPr sz="1400" b="0">
                <a:solidFill>
                  <a:srgbClr val="C5D0DB"/>
                </a:solidFill>
                <a:latin typeface="Calibri"/>
              </a:rPr>
              <a:t>Under the guidance of
Dr. M Sridevi
Aligned to SDG 5 — Gender Equality, Target 5.2</a:t>
            </a:r>
          </a:p>
        </p:txBody>
      </p:sp>
      <p:sp>
        <p:nvSpPr>
          <p:cNvPr id="11" name="Rectangle 10"/>
          <p:cNvSpPr/>
          <p:nvPr/>
        </p:nvSpPr>
        <p:spPr>
          <a:xfrm>
            <a:off x="0" y="6656832"/>
            <a:ext cx="12191695" cy="20116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656832"/>
            <a:ext cx="109728" cy="20116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6656832"/>
            <a:ext cx="9509760" cy="201168"/>
          </a:xfrm>
          <a:prstGeom prst="rect">
            <a:avLst/>
          </a:prstGeom>
          <a:noFill/>
        </p:spPr>
        <p:txBody>
          <a:bodyPr wrap="square">
            <a:spAutoFit/>
          </a:bodyPr>
          <a:lstStyle/>
          <a:p>
            <a:pPr algn="l"/>
            <a:r>
              <a:rPr sz="1000" b="0">
                <a:solidFill>
                  <a:srgbClr val="FFFFFF"/>
                </a:solidFill>
                <a:latin typeface="Calibri"/>
              </a:rPr>
              <a:t>BMS Institute of Technology and Management  ·  Department of MCA  ·  Phase I Interim Review  ·  2025–27</a:t>
            </a:r>
          </a:p>
        </p:txBody>
      </p:sp>
      <p:sp>
        <p:nvSpPr>
          <p:cNvPr id="14" name="TextBox 13"/>
          <p:cNvSpPr txBox="1"/>
          <p:nvPr/>
        </p:nvSpPr>
        <p:spPr>
          <a:xfrm>
            <a:off x="10424160" y="6656832"/>
            <a:ext cx="1508760" cy="201168"/>
          </a:xfrm>
          <a:prstGeom prst="rect">
            <a:avLst/>
          </a:prstGeom>
          <a:noFill/>
        </p:spPr>
        <p:txBody>
          <a:bodyPr wrap="square">
            <a:spAutoFit/>
          </a:bodyPr>
          <a:lstStyle/>
          <a:p>
            <a:pPr algn="r"/>
            <a:r>
              <a:rPr sz="1000" b="0">
                <a:solidFill>
                  <a:srgbClr val="C4A35A"/>
                </a:solidFill>
                <a:latin typeface="Calibri"/>
              </a:rPr>
              <a:t>01  /  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36576"/>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37744"/>
          </a:xfrm>
          <a:prstGeom prst="rect">
            <a:avLst/>
          </a:prstGeom>
          <a:noFill/>
        </p:spPr>
        <p:txBody>
          <a:bodyPr wrap="square">
            <a:spAutoFit/>
          </a:bodyPr>
          <a:lstStyle/>
          <a:p>
            <a:pPr algn="l"/>
            <a:r>
              <a:rPr sz="1100" b="1">
                <a:solidFill>
                  <a:srgbClr val="C4A35A"/>
                </a:solidFill>
                <a:latin typeface="Calibri"/>
              </a:rPr>
              <a:t>CONTENTS</a:t>
            </a:r>
          </a:p>
        </p:txBody>
      </p:sp>
      <p:sp>
        <p:nvSpPr>
          <p:cNvPr id="6" name="TextBox 5"/>
          <p:cNvSpPr txBox="1"/>
          <p:nvPr/>
        </p:nvSpPr>
        <p:spPr>
          <a:xfrm>
            <a:off x="457200" y="420624"/>
            <a:ext cx="11247120" cy="420624"/>
          </a:xfrm>
          <a:prstGeom prst="rect">
            <a:avLst/>
          </a:prstGeom>
          <a:noFill/>
        </p:spPr>
        <p:txBody>
          <a:bodyPr wrap="square">
            <a:spAutoFit/>
          </a:bodyPr>
          <a:lstStyle/>
          <a:p>
            <a:pPr algn="l"/>
            <a:r>
              <a:rPr sz="2400" b="1">
                <a:solidFill>
                  <a:srgbClr val="0C2340"/>
                </a:solidFill>
                <a:latin typeface="Calibri"/>
              </a:rPr>
              <a:t>Sequence of this review</a:t>
            </a:r>
          </a:p>
        </p:txBody>
      </p:sp>
      <p:sp>
        <p:nvSpPr>
          <p:cNvPr id="7" name="Rounded Rectangle 6"/>
          <p:cNvSpPr/>
          <p:nvPr/>
        </p:nvSpPr>
        <p:spPr>
          <a:xfrm>
            <a:off x="457200" y="1371600"/>
            <a:ext cx="5623560" cy="1417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755648"/>
            <a:ext cx="731520" cy="457200"/>
          </a:xfrm>
          <a:prstGeom prst="rect">
            <a:avLst/>
          </a:prstGeom>
          <a:noFill/>
        </p:spPr>
        <p:txBody>
          <a:bodyPr wrap="square">
            <a:spAutoFit/>
          </a:bodyPr>
          <a:lstStyle/>
          <a:p>
            <a:pPr algn="l"/>
            <a:r>
              <a:rPr sz="2000" b="1">
                <a:solidFill>
                  <a:srgbClr val="C4A35A"/>
                </a:solidFill>
                <a:latin typeface="Calibri"/>
              </a:rPr>
              <a:t>01</a:t>
            </a:r>
          </a:p>
        </p:txBody>
      </p:sp>
      <p:sp>
        <p:nvSpPr>
          <p:cNvPr id="9" name="TextBox 8"/>
          <p:cNvSpPr txBox="1"/>
          <p:nvPr/>
        </p:nvSpPr>
        <p:spPr>
          <a:xfrm>
            <a:off x="1508760" y="1691640"/>
            <a:ext cx="4297680" cy="365760"/>
          </a:xfrm>
          <a:prstGeom prst="rect">
            <a:avLst/>
          </a:prstGeom>
          <a:noFill/>
        </p:spPr>
        <p:txBody>
          <a:bodyPr wrap="square">
            <a:spAutoFit/>
          </a:bodyPr>
          <a:lstStyle/>
          <a:p>
            <a:pPr algn="l"/>
            <a:r>
              <a:rPr sz="1600" b="1">
                <a:solidFill>
                  <a:srgbClr val="0C2340"/>
                </a:solidFill>
                <a:latin typeface="Calibri"/>
              </a:rPr>
              <a:t>Organisation</a:t>
            </a:r>
          </a:p>
        </p:txBody>
      </p:sp>
      <p:sp>
        <p:nvSpPr>
          <p:cNvPr id="10" name="TextBox 9"/>
          <p:cNvSpPr txBox="1"/>
          <p:nvPr/>
        </p:nvSpPr>
        <p:spPr>
          <a:xfrm>
            <a:off x="1508760" y="2121408"/>
            <a:ext cx="4297680" cy="457200"/>
          </a:xfrm>
          <a:prstGeom prst="rect">
            <a:avLst/>
          </a:prstGeom>
          <a:noFill/>
        </p:spPr>
        <p:txBody>
          <a:bodyPr wrap="square">
            <a:spAutoFit/>
          </a:bodyPr>
          <a:lstStyle/>
          <a:p>
            <a:pPr algn="l"/>
            <a:r>
              <a:rPr sz="1300" b="0">
                <a:solidFill>
                  <a:srgbClr val="5A6570"/>
                </a:solidFill>
                <a:latin typeface="Calibri"/>
              </a:rPr>
              <a:t>One project, two modules, shared title</a:t>
            </a:r>
          </a:p>
        </p:txBody>
      </p:sp>
      <p:sp>
        <p:nvSpPr>
          <p:cNvPr id="11" name="Rounded Rectangle 10"/>
          <p:cNvSpPr/>
          <p:nvPr/>
        </p:nvSpPr>
        <p:spPr>
          <a:xfrm>
            <a:off x="6309360" y="1371600"/>
            <a:ext cx="5623560" cy="1417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65392" y="1755648"/>
            <a:ext cx="731520" cy="457200"/>
          </a:xfrm>
          <a:prstGeom prst="rect">
            <a:avLst/>
          </a:prstGeom>
          <a:noFill/>
        </p:spPr>
        <p:txBody>
          <a:bodyPr wrap="square">
            <a:spAutoFit/>
          </a:bodyPr>
          <a:lstStyle/>
          <a:p>
            <a:pPr algn="l"/>
            <a:r>
              <a:rPr sz="2000" b="1">
                <a:solidFill>
                  <a:srgbClr val="C4A35A"/>
                </a:solidFill>
                <a:latin typeface="Calibri"/>
              </a:rPr>
              <a:t>02</a:t>
            </a:r>
          </a:p>
        </p:txBody>
      </p:sp>
      <p:sp>
        <p:nvSpPr>
          <p:cNvPr id="13" name="TextBox 12"/>
          <p:cNvSpPr txBox="1"/>
          <p:nvPr/>
        </p:nvSpPr>
        <p:spPr>
          <a:xfrm>
            <a:off x="7360920" y="1691640"/>
            <a:ext cx="4297680" cy="365760"/>
          </a:xfrm>
          <a:prstGeom prst="rect">
            <a:avLst/>
          </a:prstGeom>
          <a:noFill/>
        </p:spPr>
        <p:txBody>
          <a:bodyPr wrap="square">
            <a:spAutoFit/>
          </a:bodyPr>
          <a:lstStyle/>
          <a:p>
            <a:pPr algn="l"/>
            <a:r>
              <a:rPr sz="1600" b="1">
                <a:solidFill>
                  <a:srgbClr val="0C2340"/>
                </a:solidFill>
                <a:latin typeface="Calibri"/>
              </a:rPr>
              <a:t>Problem and objectives</a:t>
            </a:r>
          </a:p>
        </p:txBody>
      </p:sp>
      <p:sp>
        <p:nvSpPr>
          <p:cNvPr id="14" name="TextBox 13"/>
          <p:cNvSpPr txBox="1"/>
          <p:nvPr/>
        </p:nvSpPr>
        <p:spPr>
          <a:xfrm>
            <a:off x="7360920" y="2121408"/>
            <a:ext cx="4297680" cy="457200"/>
          </a:xfrm>
          <a:prstGeom prst="rect">
            <a:avLst/>
          </a:prstGeom>
          <a:noFill/>
        </p:spPr>
        <p:txBody>
          <a:bodyPr wrap="square">
            <a:spAutoFit/>
          </a:bodyPr>
          <a:lstStyle/>
          <a:p>
            <a:pPr algn="l"/>
            <a:r>
              <a:rPr sz="1300" b="0">
                <a:solidFill>
                  <a:srgbClr val="5A6570"/>
                </a:solidFill>
                <a:latin typeface="Calibri"/>
              </a:rPr>
              <a:t>Why a self-serve system is required</a:t>
            </a:r>
          </a:p>
        </p:txBody>
      </p:sp>
      <p:sp>
        <p:nvSpPr>
          <p:cNvPr id="15" name="Rounded Rectangle 14"/>
          <p:cNvSpPr/>
          <p:nvPr/>
        </p:nvSpPr>
        <p:spPr>
          <a:xfrm>
            <a:off x="457200" y="2971800"/>
            <a:ext cx="5623560" cy="1417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355848"/>
            <a:ext cx="731520" cy="457200"/>
          </a:xfrm>
          <a:prstGeom prst="rect">
            <a:avLst/>
          </a:prstGeom>
          <a:noFill/>
        </p:spPr>
        <p:txBody>
          <a:bodyPr wrap="square">
            <a:spAutoFit/>
          </a:bodyPr>
          <a:lstStyle/>
          <a:p>
            <a:pPr algn="l"/>
            <a:r>
              <a:rPr sz="2000" b="1">
                <a:solidFill>
                  <a:srgbClr val="C4A35A"/>
                </a:solidFill>
                <a:latin typeface="Calibri"/>
              </a:rPr>
              <a:t>03</a:t>
            </a:r>
          </a:p>
        </p:txBody>
      </p:sp>
      <p:sp>
        <p:nvSpPr>
          <p:cNvPr id="17" name="TextBox 16"/>
          <p:cNvSpPr txBox="1"/>
          <p:nvPr/>
        </p:nvSpPr>
        <p:spPr>
          <a:xfrm>
            <a:off x="1508760" y="3291840"/>
            <a:ext cx="4297680" cy="365760"/>
          </a:xfrm>
          <a:prstGeom prst="rect">
            <a:avLst/>
          </a:prstGeom>
          <a:noFill/>
        </p:spPr>
        <p:txBody>
          <a:bodyPr wrap="square">
            <a:spAutoFit/>
          </a:bodyPr>
          <a:lstStyle/>
          <a:p>
            <a:pPr algn="l"/>
            <a:r>
              <a:rPr sz="1600" b="1">
                <a:solidFill>
                  <a:srgbClr val="0C2340"/>
                </a:solidFill>
                <a:latin typeface="Calibri"/>
              </a:rPr>
              <a:t>End-to-end process</a:t>
            </a:r>
          </a:p>
        </p:txBody>
      </p:sp>
      <p:sp>
        <p:nvSpPr>
          <p:cNvPr id="18" name="TextBox 17"/>
          <p:cNvSpPr txBox="1"/>
          <p:nvPr/>
        </p:nvSpPr>
        <p:spPr>
          <a:xfrm>
            <a:off x="1508760" y="3721608"/>
            <a:ext cx="4297680" cy="457200"/>
          </a:xfrm>
          <a:prstGeom prst="rect">
            <a:avLst/>
          </a:prstGeom>
          <a:noFill/>
        </p:spPr>
        <p:txBody>
          <a:bodyPr wrap="square">
            <a:spAutoFit/>
          </a:bodyPr>
          <a:lstStyle/>
          <a:p>
            <a:pPr algn="l"/>
            <a:r>
              <a:rPr sz="1300" b="0">
                <a:solidFill>
                  <a:srgbClr val="5A6570"/>
                </a:solidFill>
                <a:latin typeface="Calibri"/>
              </a:rPr>
              <a:t>How a report reaches the officer</a:t>
            </a:r>
          </a:p>
        </p:txBody>
      </p:sp>
      <p:sp>
        <p:nvSpPr>
          <p:cNvPr id="19" name="Rounded Rectangle 18"/>
          <p:cNvSpPr/>
          <p:nvPr/>
        </p:nvSpPr>
        <p:spPr>
          <a:xfrm>
            <a:off x="6309360" y="2971800"/>
            <a:ext cx="5623560" cy="1417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3355848"/>
            <a:ext cx="731520" cy="457200"/>
          </a:xfrm>
          <a:prstGeom prst="rect">
            <a:avLst/>
          </a:prstGeom>
          <a:noFill/>
        </p:spPr>
        <p:txBody>
          <a:bodyPr wrap="square">
            <a:spAutoFit/>
          </a:bodyPr>
          <a:lstStyle/>
          <a:p>
            <a:pPr algn="l"/>
            <a:r>
              <a:rPr sz="2000" b="1">
                <a:solidFill>
                  <a:srgbClr val="C4A35A"/>
                </a:solidFill>
                <a:latin typeface="Calibri"/>
              </a:rPr>
              <a:t>04</a:t>
            </a:r>
          </a:p>
        </p:txBody>
      </p:sp>
      <p:sp>
        <p:nvSpPr>
          <p:cNvPr id="21" name="TextBox 20"/>
          <p:cNvSpPr txBox="1"/>
          <p:nvPr/>
        </p:nvSpPr>
        <p:spPr>
          <a:xfrm>
            <a:off x="7360920" y="3291840"/>
            <a:ext cx="4297680" cy="365760"/>
          </a:xfrm>
          <a:prstGeom prst="rect">
            <a:avLst/>
          </a:prstGeom>
          <a:noFill/>
        </p:spPr>
        <p:txBody>
          <a:bodyPr wrap="square">
            <a:spAutoFit/>
          </a:bodyPr>
          <a:lstStyle/>
          <a:p>
            <a:pPr algn="l"/>
            <a:r>
              <a:rPr sz="1600" b="1">
                <a:solidFill>
                  <a:srgbClr val="0C2340"/>
                </a:solidFill>
                <a:latin typeface="Calibri"/>
              </a:rPr>
              <a:t>Analysis pipeline</a:t>
            </a:r>
          </a:p>
        </p:txBody>
      </p:sp>
      <p:sp>
        <p:nvSpPr>
          <p:cNvPr id="22" name="TextBox 21"/>
          <p:cNvSpPr txBox="1"/>
          <p:nvPr/>
        </p:nvSpPr>
        <p:spPr>
          <a:xfrm>
            <a:off x="7360920" y="3721608"/>
            <a:ext cx="4297680" cy="457200"/>
          </a:xfrm>
          <a:prstGeom prst="rect">
            <a:avLst/>
          </a:prstGeom>
          <a:noFill/>
        </p:spPr>
        <p:txBody>
          <a:bodyPr wrap="square">
            <a:spAutoFit/>
          </a:bodyPr>
          <a:lstStyle/>
          <a:p>
            <a:pPr algn="l"/>
            <a:r>
              <a:rPr sz="1300" b="0">
                <a:solidFill>
                  <a:srgbClr val="5A6570"/>
                </a:solidFill>
                <a:latin typeface="Calibri"/>
              </a:rPr>
              <a:t>Ingest, classify, 1 km cluster, risk, alerts</a:t>
            </a:r>
          </a:p>
        </p:txBody>
      </p:sp>
      <p:sp>
        <p:nvSpPr>
          <p:cNvPr id="23" name="Rounded Rectangle 22"/>
          <p:cNvSpPr/>
          <p:nvPr/>
        </p:nvSpPr>
        <p:spPr>
          <a:xfrm>
            <a:off x="457200" y="4572000"/>
            <a:ext cx="5623560" cy="1417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4956048"/>
            <a:ext cx="731520" cy="457200"/>
          </a:xfrm>
          <a:prstGeom prst="rect">
            <a:avLst/>
          </a:prstGeom>
          <a:noFill/>
        </p:spPr>
        <p:txBody>
          <a:bodyPr wrap="square">
            <a:spAutoFit/>
          </a:bodyPr>
          <a:lstStyle/>
          <a:p>
            <a:pPr algn="l"/>
            <a:r>
              <a:rPr sz="2000" b="1">
                <a:solidFill>
                  <a:srgbClr val="C4A35A"/>
                </a:solidFill>
                <a:latin typeface="Calibri"/>
              </a:rPr>
              <a:t>05</a:t>
            </a:r>
          </a:p>
        </p:txBody>
      </p:sp>
      <p:sp>
        <p:nvSpPr>
          <p:cNvPr id="25" name="TextBox 24"/>
          <p:cNvSpPr txBox="1"/>
          <p:nvPr/>
        </p:nvSpPr>
        <p:spPr>
          <a:xfrm>
            <a:off x="1508760" y="4892040"/>
            <a:ext cx="4297680" cy="365760"/>
          </a:xfrm>
          <a:prstGeom prst="rect">
            <a:avLst/>
          </a:prstGeom>
          <a:noFill/>
        </p:spPr>
        <p:txBody>
          <a:bodyPr wrap="square">
            <a:spAutoFit/>
          </a:bodyPr>
          <a:lstStyle/>
          <a:p>
            <a:pPr algn="l"/>
            <a:r>
              <a:rPr sz="1600" b="1">
                <a:solidFill>
                  <a:srgbClr val="0C2340"/>
                </a:solidFill>
                <a:latin typeface="Calibri"/>
              </a:rPr>
              <a:t>Authority dashboard</a:t>
            </a:r>
          </a:p>
        </p:txBody>
      </p:sp>
      <p:sp>
        <p:nvSpPr>
          <p:cNvPr id="26" name="TextBox 25"/>
          <p:cNvSpPr txBox="1"/>
          <p:nvPr/>
        </p:nvSpPr>
        <p:spPr>
          <a:xfrm>
            <a:off x="1508760" y="5321808"/>
            <a:ext cx="4297680" cy="457200"/>
          </a:xfrm>
          <a:prstGeom prst="rect">
            <a:avLst/>
          </a:prstGeom>
          <a:noFill/>
        </p:spPr>
        <p:txBody>
          <a:bodyPr wrap="square">
            <a:spAutoFit/>
          </a:bodyPr>
          <a:lstStyle/>
          <a:p>
            <a:pPr algn="l"/>
            <a:r>
              <a:rPr sz="1300" b="0">
                <a:solidFill>
                  <a:srgbClr val="5A6570"/>
                </a:solidFill>
                <a:latin typeface="Calibri"/>
              </a:rPr>
              <a:t>Independent access to maps, filters and patrol lists</a:t>
            </a:r>
          </a:p>
        </p:txBody>
      </p:sp>
      <p:sp>
        <p:nvSpPr>
          <p:cNvPr id="27" name="Rounded Rectangle 26"/>
          <p:cNvSpPr/>
          <p:nvPr/>
        </p:nvSpPr>
        <p:spPr>
          <a:xfrm>
            <a:off x="6309360" y="4572000"/>
            <a:ext cx="5623560" cy="1417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4956048"/>
            <a:ext cx="731520" cy="457200"/>
          </a:xfrm>
          <a:prstGeom prst="rect">
            <a:avLst/>
          </a:prstGeom>
          <a:noFill/>
        </p:spPr>
        <p:txBody>
          <a:bodyPr wrap="square">
            <a:spAutoFit/>
          </a:bodyPr>
          <a:lstStyle/>
          <a:p>
            <a:pPr algn="l"/>
            <a:r>
              <a:rPr sz="2000" b="1">
                <a:solidFill>
                  <a:srgbClr val="C4A35A"/>
                </a:solidFill>
                <a:latin typeface="Calibri"/>
              </a:rPr>
              <a:t>06</a:t>
            </a:r>
          </a:p>
        </p:txBody>
      </p:sp>
      <p:sp>
        <p:nvSpPr>
          <p:cNvPr id="29" name="TextBox 28"/>
          <p:cNvSpPr txBox="1"/>
          <p:nvPr/>
        </p:nvSpPr>
        <p:spPr>
          <a:xfrm>
            <a:off x="7360920" y="4892040"/>
            <a:ext cx="4297680" cy="365760"/>
          </a:xfrm>
          <a:prstGeom prst="rect">
            <a:avLst/>
          </a:prstGeom>
          <a:noFill/>
        </p:spPr>
        <p:txBody>
          <a:bodyPr wrap="square">
            <a:spAutoFit/>
          </a:bodyPr>
          <a:lstStyle/>
          <a:p>
            <a:pPr algn="l"/>
            <a:r>
              <a:rPr sz="1600" b="1">
                <a:solidFill>
                  <a:srgbClr val="0C2340"/>
                </a:solidFill>
                <a:latin typeface="Calibri"/>
              </a:rPr>
              <a:t>Security and results</a:t>
            </a:r>
          </a:p>
        </p:txBody>
      </p:sp>
      <p:sp>
        <p:nvSpPr>
          <p:cNvPr id="30" name="TextBox 29"/>
          <p:cNvSpPr txBox="1"/>
          <p:nvPr/>
        </p:nvSpPr>
        <p:spPr>
          <a:xfrm>
            <a:off x="7360920" y="5321808"/>
            <a:ext cx="4297680" cy="457200"/>
          </a:xfrm>
          <a:prstGeom prst="rect">
            <a:avLst/>
          </a:prstGeom>
          <a:noFill/>
        </p:spPr>
        <p:txBody>
          <a:bodyPr wrap="square">
            <a:spAutoFit/>
          </a:bodyPr>
          <a:lstStyle/>
          <a:p>
            <a:pPr algn="l"/>
            <a:r>
              <a:rPr sz="1300" b="0">
                <a:solidFill>
                  <a:srgbClr val="5A6570"/>
                </a:solidFill>
                <a:latin typeface="Calibri"/>
              </a:rPr>
              <a:t>Controls implemented, current numbers, scope</a:t>
            </a:r>
          </a:p>
        </p:txBody>
      </p:sp>
      <p:sp>
        <p:nvSpPr>
          <p:cNvPr id="31" name="Rectangle 30"/>
          <p:cNvSpPr/>
          <p:nvPr/>
        </p:nvSpPr>
        <p:spPr>
          <a:xfrm>
            <a:off x="0" y="6656832"/>
            <a:ext cx="12191695" cy="20116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6656832"/>
            <a:ext cx="109728" cy="20116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0040" y="6656832"/>
            <a:ext cx="9509760" cy="201168"/>
          </a:xfrm>
          <a:prstGeom prst="rect">
            <a:avLst/>
          </a:prstGeom>
          <a:noFill/>
        </p:spPr>
        <p:txBody>
          <a:bodyPr wrap="square">
            <a:spAutoFit/>
          </a:bodyPr>
          <a:lstStyle/>
          <a:p>
            <a:pPr algn="l"/>
            <a:r>
              <a:rPr sz="1000" b="0">
                <a:solidFill>
                  <a:srgbClr val="FFFFFF"/>
                </a:solidFill>
                <a:latin typeface="Calibri"/>
              </a:rPr>
              <a:t>BMS Institute of Technology and Management  ·  Department of MCA  ·  Phase I Interim Review  ·  2025–27</a:t>
            </a:r>
          </a:p>
        </p:txBody>
      </p:sp>
      <p:sp>
        <p:nvSpPr>
          <p:cNvPr id="34" name="TextBox 33"/>
          <p:cNvSpPr txBox="1"/>
          <p:nvPr/>
        </p:nvSpPr>
        <p:spPr>
          <a:xfrm>
            <a:off x="10424160" y="6656832"/>
            <a:ext cx="1508760" cy="201168"/>
          </a:xfrm>
          <a:prstGeom prst="rect">
            <a:avLst/>
          </a:prstGeom>
          <a:noFill/>
        </p:spPr>
        <p:txBody>
          <a:bodyPr wrap="square">
            <a:spAutoFit/>
          </a:bodyPr>
          <a:lstStyle/>
          <a:p>
            <a:pPr algn="r"/>
            <a:r>
              <a:rPr sz="1000" b="0">
                <a:solidFill>
                  <a:srgbClr val="C4A35A"/>
                </a:solidFill>
                <a:latin typeface="Calibri"/>
              </a:rPr>
              <a:t>02  /  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36576"/>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37744"/>
          </a:xfrm>
          <a:prstGeom prst="rect">
            <a:avLst/>
          </a:prstGeom>
          <a:noFill/>
        </p:spPr>
        <p:txBody>
          <a:bodyPr wrap="square">
            <a:spAutoFit/>
          </a:bodyPr>
          <a:lstStyle/>
          <a:p>
            <a:pPr algn="l"/>
            <a:r>
              <a:rPr sz="1100" b="1">
                <a:solidFill>
                  <a:srgbClr val="C4A35A"/>
                </a:solidFill>
                <a:latin typeface="Calibri"/>
              </a:rPr>
              <a:t>PROJECT ORGANISATION</a:t>
            </a:r>
          </a:p>
        </p:txBody>
      </p:sp>
      <p:sp>
        <p:nvSpPr>
          <p:cNvPr id="6" name="TextBox 5"/>
          <p:cNvSpPr txBox="1"/>
          <p:nvPr/>
        </p:nvSpPr>
        <p:spPr>
          <a:xfrm>
            <a:off x="457200" y="420624"/>
            <a:ext cx="11247120" cy="420624"/>
          </a:xfrm>
          <a:prstGeom prst="rect">
            <a:avLst/>
          </a:prstGeom>
          <a:noFill/>
        </p:spPr>
        <p:txBody>
          <a:bodyPr wrap="square">
            <a:spAutoFit/>
          </a:bodyPr>
          <a:lstStyle/>
          <a:p>
            <a:pPr algn="l"/>
            <a:r>
              <a:rPr sz="2400" b="1">
                <a:solidFill>
                  <a:srgbClr val="0C2340"/>
                </a:solidFill>
                <a:latin typeface="Calibri"/>
              </a:rPr>
              <a:t>One system. Two complementary modules.</a:t>
            </a:r>
          </a:p>
        </p:txBody>
      </p:sp>
      <p:sp>
        <p:nvSpPr>
          <p:cNvPr id="7" name="Rounded Rectangle 6"/>
          <p:cNvSpPr/>
          <p:nvPr/>
        </p:nvSpPr>
        <p:spPr>
          <a:xfrm>
            <a:off x="411480" y="1371600"/>
            <a:ext cx="5623560" cy="4754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371600"/>
            <a:ext cx="64008" cy="475488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517904"/>
            <a:ext cx="5257800" cy="329184"/>
          </a:xfrm>
          <a:prstGeom prst="rect">
            <a:avLst/>
          </a:prstGeom>
          <a:noFill/>
        </p:spPr>
        <p:txBody>
          <a:bodyPr wrap="square">
            <a:spAutoFit/>
          </a:bodyPr>
          <a:lstStyle/>
          <a:p>
            <a:pPr algn="l"/>
            <a:r>
              <a:rPr sz="1400" b="1">
                <a:solidFill>
                  <a:srgbClr val="0C2340"/>
                </a:solidFill>
                <a:latin typeface="Calibri"/>
              </a:rPr>
              <a:t>Module 1 — Anusha K  ·  1BY25MC017</a:t>
            </a:r>
          </a:p>
        </p:txBody>
      </p:sp>
      <p:sp>
        <p:nvSpPr>
          <p:cNvPr id="10" name="TextBox 9"/>
          <p:cNvSpPr txBox="1"/>
          <p:nvPr/>
        </p:nvSpPr>
        <p:spPr>
          <a:xfrm>
            <a:off x="640080" y="1847088"/>
            <a:ext cx="5257800" cy="4160520"/>
          </a:xfrm>
          <a:prstGeom prst="rect">
            <a:avLst/>
          </a:prstGeom>
          <a:noFill/>
        </p:spPr>
        <p:txBody>
          <a:bodyPr wrap="square">
            <a:spAutoFit/>
          </a:bodyPr>
          <a:lstStyle/>
          <a:p>
            <a:pPr algn="l"/>
            <a:r>
              <a:rPr sz="1200" b="0">
                <a:solidFill>
                  <a:srgbClr val="5A6570"/>
                </a:solidFill>
                <a:latin typeface="Calibri"/>
              </a:rPr>
              <a:t>Incident analysis, geospatial clustering and hotspot identification.
Folder: analysis/
Command: python3 analysis/pipeline.py
Inputs: Karnataka OSM workbook (30 districts), app reports, KSP district context.
Outputs: incident view, hotspots, area risk, patrol alerts.
The pipeline is rule-based and auditable. It does not predict crime.</a:t>
            </a:r>
          </a:p>
        </p:txBody>
      </p:sp>
      <p:sp>
        <p:nvSpPr>
          <p:cNvPr id="11" name="Rounded Rectangle 10"/>
          <p:cNvSpPr/>
          <p:nvPr/>
        </p:nvSpPr>
        <p:spPr>
          <a:xfrm>
            <a:off x="6217920" y="1371600"/>
            <a:ext cx="5532120" cy="4754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371600"/>
            <a:ext cx="64008" cy="4754880"/>
          </a:xfrm>
          <a:prstGeom prst="rect">
            <a:avLst/>
          </a:prstGeom>
          <a:solidFill>
            <a:srgbClr val="2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517904"/>
            <a:ext cx="5166360" cy="329184"/>
          </a:xfrm>
          <a:prstGeom prst="rect">
            <a:avLst/>
          </a:prstGeom>
          <a:noFill/>
        </p:spPr>
        <p:txBody>
          <a:bodyPr wrap="square">
            <a:spAutoFit/>
          </a:bodyPr>
          <a:lstStyle/>
          <a:p>
            <a:pPr algn="l"/>
            <a:r>
              <a:rPr sz="1400" b="1">
                <a:solidFill>
                  <a:srgbClr val="0C2340"/>
                </a:solidFill>
                <a:latin typeface="Calibri"/>
              </a:rPr>
              <a:t>Module 2 — Aman Yadav  ·  1BY25MC012</a:t>
            </a:r>
          </a:p>
        </p:txBody>
      </p:sp>
      <p:sp>
        <p:nvSpPr>
          <p:cNvPr id="14" name="TextBox 13"/>
          <p:cNvSpPr txBox="1"/>
          <p:nvPr/>
        </p:nvSpPr>
        <p:spPr>
          <a:xfrm>
            <a:off x="6446520" y="1847088"/>
            <a:ext cx="5166360" cy="4160520"/>
          </a:xfrm>
          <a:prstGeom prst="rect">
            <a:avLst/>
          </a:prstGeom>
          <a:noFill/>
        </p:spPr>
        <p:txBody>
          <a:bodyPr wrap="square">
            <a:spAutoFit/>
          </a:bodyPr>
          <a:lstStyle/>
          <a:p>
            <a:pPr algn="l"/>
            <a:r>
              <a:rPr sz="1200" b="0">
                <a:solidFill>
                  <a:srgbClr val="5A6570"/>
                </a:solidFill>
                <a:latin typeface="Calibri"/>
              </a:rPr>
              <a:t>Expo mobile application and Next.js authority dashboard.
The application captures GPS, area, incident type and context, and writes to Supabase.
The dashboard at /admin presents live community KPIs, analysis overlays, filters and alerts.
Authorised officers retrieve the picture themselves. They do not wait for another desk to send a file.</a:t>
            </a:r>
          </a:p>
        </p:txBody>
      </p:sp>
      <p:sp>
        <p:nvSpPr>
          <p:cNvPr id="15" name="Rectangle 14"/>
          <p:cNvSpPr/>
          <p:nvPr/>
        </p:nvSpPr>
        <p:spPr>
          <a:xfrm>
            <a:off x="0" y="6656832"/>
            <a:ext cx="12191695" cy="20116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656832"/>
            <a:ext cx="109728" cy="20116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6656832"/>
            <a:ext cx="9509760" cy="201168"/>
          </a:xfrm>
          <a:prstGeom prst="rect">
            <a:avLst/>
          </a:prstGeom>
          <a:noFill/>
        </p:spPr>
        <p:txBody>
          <a:bodyPr wrap="square">
            <a:spAutoFit/>
          </a:bodyPr>
          <a:lstStyle/>
          <a:p>
            <a:pPr algn="l"/>
            <a:r>
              <a:rPr sz="1000" b="0">
                <a:solidFill>
                  <a:srgbClr val="FFFFFF"/>
                </a:solidFill>
                <a:latin typeface="Calibri"/>
              </a:rPr>
              <a:t>BMS Institute of Technology and Management  ·  Department of MCA  ·  Phase I Interim Review  ·  2025–27</a:t>
            </a:r>
          </a:p>
        </p:txBody>
      </p:sp>
      <p:sp>
        <p:nvSpPr>
          <p:cNvPr id="18" name="TextBox 17"/>
          <p:cNvSpPr txBox="1"/>
          <p:nvPr/>
        </p:nvSpPr>
        <p:spPr>
          <a:xfrm>
            <a:off x="10424160" y="6656832"/>
            <a:ext cx="1508760" cy="201168"/>
          </a:xfrm>
          <a:prstGeom prst="rect">
            <a:avLst/>
          </a:prstGeom>
          <a:noFill/>
        </p:spPr>
        <p:txBody>
          <a:bodyPr wrap="square">
            <a:spAutoFit/>
          </a:bodyPr>
          <a:lstStyle/>
          <a:p>
            <a:pPr algn="r"/>
            <a:r>
              <a:rPr sz="1000" b="0">
                <a:solidFill>
                  <a:srgbClr val="C4A35A"/>
                </a:solidFill>
                <a:latin typeface="Calibri"/>
              </a:rPr>
              <a:t>03  /  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36576"/>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37744"/>
          </a:xfrm>
          <a:prstGeom prst="rect">
            <a:avLst/>
          </a:prstGeom>
          <a:noFill/>
        </p:spPr>
        <p:txBody>
          <a:bodyPr wrap="square">
            <a:spAutoFit/>
          </a:bodyPr>
          <a:lstStyle/>
          <a:p>
            <a:pPr algn="l"/>
            <a:r>
              <a:rPr sz="1100" b="1">
                <a:solidFill>
                  <a:srgbClr val="C4A35A"/>
                </a:solidFill>
                <a:latin typeface="Calibri"/>
              </a:rPr>
              <a:t>PROBLEM STATEMENT</a:t>
            </a:r>
          </a:p>
        </p:txBody>
      </p:sp>
      <p:sp>
        <p:nvSpPr>
          <p:cNvPr id="6" name="TextBox 5"/>
          <p:cNvSpPr txBox="1"/>
          <p:nvPr/>
        </p:nvSpPr>
        <p:spPr>
          <a:xfrm>
            <a:off x="457200" y="420624"/>
            <a:ext cx="11247120" cy="420624"/>
          </a:xfrm>
          <a:prstGeom prst="rect">
            <a:avLst/>
          </a:prstGeom>
          <a:noFill/>
        </p:spPr>
        <p:txBody>
          <a:bodyPr wrap="square">
            <a:spAutoFit/>
          </a:bodyPr>
          <a:lstStyle/>
          <a:p>
            <a:pPr algn="l"/>
            <a:r>
              <a:rPr sz="2400" b="1">
                <a:solidFill>
                  <a:srgbClr val="0C2340"/>
                </a:solidFill>
                <a:latin typeface="Calibri"/>
              </a:rPr>
              <a:t>Street-level harassment is reported; concentrated locations are not available in time</a:t>
            </a:r>
          </a:p>
        </p:txBody>
      </p:sp>
      <p:sp>
        <p:nvSpPr>
          <p:cNvPr id="7" name="Rounded Rectangle 6"/>
          <p:cNvSpPr/>
          <p:nvPr/>
        </p:nvSpPr>
        <p:spPr>
          <a:xfrm>
            <a:off x="411480" y="1353312"/>
            <a:ext cx="3703320" cy="4800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353312"/>
            <a:ext cx="64008" cy="4800600"/>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499616"/>
            <a:ext cx="3337560" cy="329184"/>
          </a:xfrm>
          <a:prstGeom prst="rect">
            <a:avLst/>
          </a:prstGeom>
          <a:noFill/>
        </p:spPr>
        <p:txBody>
          <a:bodyPr wrap="square">
            <a:spAutoFit/>
          </a:bodyPr>
          <a:lstStyle/>
          <a:p>
            <a:pPr algn="l"/>
            <a:r>
              <a:rPr sz="1400" b="1">
                <a:solidFill>
                  <a:srgbClr val="0C2340"/>
                </a:solidFill>
                <a:latin typeface="Calibri"/>
              </a:rPr>
              <a:t>Present difficulty</a:t>
            </a:r>
          </a:p>
        </p:txBody>
      </p:sp>
      <p:sp>
        <p:nvSpPr>
          <p:cNvPr id="10" name="TextBox 9"/>
          <p:cNvSpPr txBox="1"/>
          <p:nvPr/>
        </p:nvSpPr>
        <p:spPr>
          <a:xfrm>
            <a:off x="640080" y="1828800"/>
            <a:ext cx="3337560" cy="4206240"/>
          </a:xfrm>
          <a:prstGeom prst="rect">
            <a:avLst/>
          </a:prstGeom>
          <a:noFill/>
        </p:spPr>
        <p:txBody>
          <a:bodyPr wrap="square">
            <a:spAutoFit/>
          </a:bodyPr>
          <a:lstStyle/>
          <a:p>
            <a:pPr algn="l"/>
            <a:r>
              <a:rPr sz="1200" b="0">
                <a:solidFill>
                  <a:srgbClr val="5A6570"/>
                </a:solidFill>
                <a:latin typeface="Calibri"/>
              </a:rPr>
              <a:t>Incidents reach stations through registers, helplines or informal messages.
A duty officer often depends on another person to compile “the latest list”.
There is no shared map of where reports concentrate this week.
Patrol planning therefore remains generic rather than location-specific.</a:t>
            </a:r>
          </a:p>
        </p:txBody>
      </p:sp>
      <p:sp>
        <p:nvSpPr>
          <p:cNvPr id="11" name="Rounded Rectangle 10"/>
          <p:cNvSpPr/>
          <p:nvPr/>
        </p:nvSpPr>
        <p:spPr>
          <a:xfrm>
            <a:off x="4251960" y="1353312"/>
            <a:ext cx="3703320" cy="4800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1960" y="1353312"/>
            <a:ext cx="64008" cy="48006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1499616"/>
            <a:ext cx="3337560" cy="329184"/>
          </a:xfrm>
          <a:prstGeom prst="rect">
            <a:avLst/>
          </a:prstGeom>
          <a:noFill/>
        </p:spPr>
        <p:txBody>
          <a:bodyPr wrap="square">
            <a:spAutoFit/>
          </a:bodyPr>
          <a:lstStyle/>
          <a:p>
            <a:pPr algn="l"/>
            <a:r>
              <a:rPr sz="1400" b="1">
                <a:solidFill>
                  <a:srgbClr val="0C2340"/>
                </a:solidFill>
                <a:latin typeface="Calibri"/>
              </a:rPr>
              <a:t>Need</a:t>
            </a:r>
          </a:p>
        </p:txBody>
      </p:sp>
      <p:sp>
        <p:nvSpPr>
          <p:cNvPr id="14" name="TextBox 13"/>
          <p:cNvSpPr txBox="1"/>
          <p:nvPr/>
        </p:nvSpPr>
        <p:spPr>
          <a:xfrm>
            <a:off x="4480560" y="1828800"/>
            <a:ext cx="3337560" cy="4206240"/>
          </a:xfrm>
          <a:prstGeom prst="rect">
            <a:avLst/>
          </a:prstGeom>
          <a:noFill/>
        </p:spPr>
        <p:txBody>
          <a:bodyPr wrap="square">
            <a:spAutoFit/>
          </a:bodyPr>
          <a:lstStyle/>
          <a:p>
            <a:pPr algn="l"/>
            <a:r>
              <a:rPr sz="1200" b="0">
                <a:solidFill>
                  <a:srgbClr val="5A6570"/>
                </a:solidFill>
                <a:latin typeface="Calibri"/>
              </a:rPr>
              <a:t>Residents must be able to report from a telephone, with GPS, without filling a paper form first.
Analysis must convert those points into hotspots and risk labels using published rules.
Authorities must open one dashboard and obtain maps, filters and alerts without requesting data from the project team or from another desk.</a:t>
            </a:r>
          </a:p>
        </p:txBody>
      </p:sp>
      <p:sp>
        <p:nvSpPr>
          <p:cNvPr id="15" name="Rounded Rectangle 14"/>
          <p:cNvSpPr/>
          <p:nvPr/>
        </p:nvSpPr>
        <p:spPr>
          <a:xfrm>
            <a:off x="8092440" y="1353312"/>
            <a:ext cx="3657600" cy="4800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92440" y="1353312"/>
            <a:ext cx="64008" cy="4800600"/>
          </a:xfrm>
          <a:prstGeom prst="rect">
            <a:avLst/>
          </a:prstGeom>
          <a:solidFill>
            <a:srgbClr val="2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1499616"/>
            <a:ext cx="3291840" cy="329184"/>
          </a:xfrm>
          <a:prstGeom prst="rect">
            <a:avLst/>
          </a:prstGeom>
          <a:noFill/>
        </p:spPr>
        <p:txBody>
          <a:bodyPr wrap="square">
            <a:spAutoFit/>
          </a:bodyPr>
          <a:lstStyle/>
          <a:p>
            <a:pPr algn="l"/>
            <a:r>
              <a:rPr sz="1400" b="1">
                <a:solidFill>
                  <a:srgbClr val="0C2340"/>
                </a:solidFill>
                <a:latin typeface="Calibri"/>
              </a:rPr>
              <a:t>Scope of this work</a:t>
            </a:r>
          </a:p>
        </p:txBody>
      </p:sp>
      <p:sp>
        <p:nvSpPr>
          <p:cNvPr id="18" name="TextBox 17"/>
          <p:cNvSpPr txBox="1"/>
          <p:nvPr/>
        </p:nvSpPr>
        <p:spPr>
          <a:xfrm>
            <a:off x="8321040" y="1828800"/>
            <a:ext cx="3291840" cy="4206240"/>
          </a:xfrm>
          <a:prstGeom prst="rect">
            <a:avLst/>
          </a:prstGeom>
          <a:noFill/>
        </p:spPr>
        <p:txBody>
          <a:bodyPr wrap="square">
            <a:spAutoFit/>
          </a:bodyPr>
          <a:lstStyle/>
          <a:p>
            <a:pPr algn="l"/>
            <a:r>
              <a:rPr sz="1200" b="0">
                <a:solidFill>
                  <a:srgbClr val="5A6570"/>
                </a:solidFill>
                <a:latin typeface="Calibri"/>
              </a:rPr>
              <a:t>Historical concentration of community reports — not crime prediction.
No live police CCTV streams.
No facial recognition.
Karnataka State Police tables are used only as district-level context. They are never plotted as street dots.</a:t>
            </a:r>
          </a:p>
        </p:txBody>
      </p:sp>
      <p:sp>
        <p:nvSpPr>
          <p:cNvPr id="19" name="Rectangle 18"/>
          <p:cNvSpPr/>
          <p:nvPr/>
        </p:nvSpPr>
        <p:spPr>
          <a:xfrm>
            <a:off x="0" y="6656832"/>
            <a:ext cx="12191695" cy="20116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6656832"/>
            <a:ext cx="109728" cy="20116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0040" y="6656832"/>
            <a:ext cx="9509760" cy="201168"/>
          </a:xfrm>
          <a:prstGeom prst="rect">
            <a:avLst/>
          </a:prstGeom>
          <a:noFill/>
        </p:spPr>
        <p:txBody>
          <a:bodyPr wrap="square">
            <a:spAutoFit/>
          </a:bodyPr>
          <a:lstStyle/>
          <a:p>
            <a:pPr algn="l"/>
            <a:r>
              <a:rPr sz="1000" b="0">
                <a:solidFill>
                  <a:srgbClr val="FFFFFF"/>
                </a:solidFill>
                <a:latin typeface="Calibri"/>
              </a:rPr>
              <a:t>BMS Institute of Technology and Management  ·  Department of MCA  ·  Phase I Interim Review  ·  2025–27</a:t>
            </a:r>
          </a:p>
        </p:txBody>
      </p:sp>
      <p:sp>
        <p:nvSpPr>
          <p:cNvPr id="22" name="TextBox 21"/>
          <p:cNvSpPr txBox="1"/>
          <p:nvPr/>
        </p:nvSpPr>
        <p:spPr>
          <a:xfrm>
            <a:off x="10424160" y="6656832"/>
            <a:ext cx="1508760" cy="201168"/>
          </a:xfrm>
          <a:prstGeom prst="rect">
            <a:avLst/>
          </a:prstGeom>
          <a:noFill/>
        </p:spPr>
        <p:txBody>
          <a:bodyPr wrap="square">
            <a:spAutoFit/>
          </a:bodyPr>
          <a:lstStyle/>
          <a:p>
            <a:pPr algn="r"/>
            <a:r>
              <a:rPr sz="1000" b="0">
                <a:solidFill>
                  <a:srgbClr val="C4A35A"/>
                </a:solidFill>
                <a:latin typeface="Calibri"/>
              </a:rPr>
              <a:t>04  /  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36576"/>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37744"/>
          </a:xfrm>
          <a:prstGeom prst="rect">
            <a:avLst/>
          </a:prstGeom>
          <a:noFill/>
        </p:spPr>
        <p:txBody>
          <a:bodyPr wrap="square">
            <a:spAutoFit/>
          </a:bodyPr>
          <a:lstStyle/>
          <a:p>
            <a:pPr algn="l"/>
            <a:r>
              <a:rPr sz="1100" b="1">
                <a:solidFill>
                  <a:srgbClr val="C4A35A"/>
                </a:solidFill>
                <a:latin typeface="Calibri"/>
              </a:rPr>
              <a:t>OBJECTIVES</a:t>
            </a:r>
          </a:p>
        </p:txBody>
      </p:sp>
      <p:sp>
        <p:nvSpPr>
          <p:cNvPr id="6" name="TextBox 5"/>
          <p:cNvSpPr txBox="1"/>
          <p:nvPr/>
        </p:nvSpPr>
        <p:spPr>
          <a:xfrm>
            <a:off x="457200" y="420624"/>
            <a:ext cx="11247120" cy="420624"/>
          </a:xfrm>
          <a:prstGeom prst="rect">
            <a:avLst/>
          </a:prstGeom>
          <a:noFill/>
        </p:spPr>
        <p:txBody>
          <a:bodyPr wrap="square">
            <a:spAutoFit/>
          </a:bodyPr>
          <a:lstStyle/>
          <a:p>
            <a:pPr algn="l"/>
            <a:r>
              <a:rPr sz="2400" b="1">
                <a:solidFill>
                  <a:srgbClr val="0C2340"/>
                </a:solidFill>
                <a:latin typeface="Calibri"/>
              </a:rPr>
              <a:t>What the system is built to achieve</a:t>
            </a:r>
          </a:p>
        </p:txBody>
      </p:sp>
      <p:sp>
        <p:nvSpPr>
          <p:cNvPr id="7" name="TextBox 6"/>
          <p:cNvSpPr txBox="1"/>
          <p:nvPr/>
        </p:nvSpPr>
        <p:spPr>
          <a:xfrm>
            <a:off x="457200" y="859536"/>
            <a:ext cx="11247120" cy="310896"/>
          </a:xfrm>
          <a:prstGeom prst="rect">
            <a:avLst/>
          </a:prstGeom>
          <a:noFill/>
        </p:spPr>
        <p:txBody>
          <a:bodyPr wrap="square">
            <a:spAutoFit/>
          </a:bodyPr>
          <a:lstStyle/>
          <a:p>
            <a:pPr algn="l"/>
            <a:r>
              <a:rPr sz="1300" b="0">
                <a:solidFill>
                  <a:srgbClr val="5A6570"/>
                </a:solidFill>
                <a:latin typeface="Calibri"/>
              </a:rPr>
              <a:t>Aligned to SDG 5 — Gender Equality, Target 5.2 (eliminate violence against women)</a:t>
            </a:r>
          </a:p>
        </p:txBody>
      </p:sp>
      <p:sp>
        <p:nvSpPr>
          <p:cNvPr id="8" name="Rounded Rectangle 7"/>
          <p:cNvSpPr/>
          <p:nvPr/>
        </p:nvSpPr>
        <p:spPr>
          <a:xfrm>
            <a:off x="411480" y="1371600"/>
            <a:ext cx="3749039" cy="2194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572768"/>
            <a:ext cx="640080" cy="365760"/>
          </a:xfrm>
          <a:prstGeom prst="rect">
            <a:avLst/>
          </a:prstGeom>
          <a:noFill/>
        </p:spPr>
        <p:txBody>
          <a:bodyPr wrap="square">
            <a:spAutoFit/>
          </a:bodyPr>
          <a:lstStyle/>
          <a:p>
            <a:pPr algn="l"/>
            <a:r>
              <a:rPr sz="1600" b="1">
                <a:solidFill>
                  <a:srgbClr val="C4A35A"/>
                </a:solidFill>
                <a:latin typeface="Calibri"/>
              </a:rPr>
              <a:t>01</a:t>
            </a:r>
          </a:p>
        </p:txBody>
      </p:sp>
      <p:sp>
        <p:nvSpPr>
          <p:cNvPr id="10" name="TextBox 9"/>
          <p:cNvSpPr txBox="1"/>
          <p:nvPr/>
        </p:nvSpPr>
        <p:spPr>
          <a:xfrm>
            <a:off x="1280160" y="1591056"/>
            <a:ext cx="2651760" cy="365760"/>
          </a:xfrm>
          <a:prstGeom prst="rect">
            <a:avLst/>
          </a:prstGeom>
          <a:noFill/>
        </p:spPr>
        <p:txBody>
          <a:bodyPr wrap="square">
            <a:spAutoFit/>
          </a:bodyPr>
          <a:lstStyle/>
          <a:p>
            <a:pPr algn="l"/>
            <a:r>
              <a:rPr sz="1600" b="1">
                <a:solidFill>
                  <a:srgbClr val="0C2340"/>
                </a:solidFill>
                <a:latin typeface="Calibri"/>
              </a:rPr>
              <a:t>Collect</a:t>
            </a:r>
          </a:p>
        </p:txBody>
      </p:sp>
      <p:sp>
        <p:nvSpPr>
          <p:cNvPr id="11" name="TextBox 10"/>
          <p:cNvSpPr txBox="1"/>
          <p:nvPr/>
        </p:nvSpPr>
        <p:spPr>
          <a:xfrm>
            <a:off x="612648" y="2084832"/>
            <a:ext cx="3383280" cy="1280160"/>
          </a:xfrm>
          <a:prstGeom prst="rect">
            <a:avLst/>
          </a:prstGeom>
          <a:noFill/>
        </p:spPr>
        <p:txBody>
          <a:bodyPr wrap="square">
            <a:spAutoFit/>
          </a:bodyPr>
          <a:lstStyle/>
          <a:p>
            <a:pPr algn="l"/>
            <a:r>
              <a:rPr sz="1300" b="0">
                <a:solidFill>
                  <a:srgbClr val="5A6570"/>
                </a:solidFill>
                <a:latin typeface="Calibri"/>
              </a:rPr>
              <a:t>Capture location, time, incident class and street context from the mobile application over HTTPS.</a:t>
            </a:r>
          </a:p>
        </p:txBody>
      </p:sp>
      <p:sp>
        <p:nvSpPr>
          <p:cNvPr id="12" name="Rounded Rectangle 11"/>
          <p:cNvSpPr/>
          <p:nvPr/>
        </p:nvSpPr>
        <p:spPr>
          <a:xfrm>
            <a:off x="4297680" y="1371600"/>
            <a:ext cx="3749039" cy="2194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8848" y="1572768"/>
            <a:ext cx="640080" cy="365760"/>
          </a:xfrm>
          <a:prstGeom prst="rect">
            <a:avLst/>
          </a:prstGeom>
          <a:noFill/>
        </p:spPr>
        <p:txBody>
          <a:bodyPr wrap="square">
            <a:spAutoFit/>
          </a:bodyPr>
          <a:lstStyle/>
          <a:p>
            <a:pPr algn="l"/>
            <a:r>
              <a:rPr sz="1600" b="1">
                <a:solidFill>
                  <a:srgbClr val="C4A35A"/>
                </a:solidFill>
                <a:latin typeface="Calibri"/>
              </a:rPr>
              <a:t>02</a:t>
            </a:r>
          </a:p>
        </p:txBody>
      </p:sp>
      <p:sp>
        <p:nvSpPr>
          <p:cNvPr id="14" name="TextBox 13"/>
          <p:cNvSpPr txBox="1"/>
          <p:nvPr/>
        </p:nvSpPr>
        <p:spPr>
          <a:xfrm>
            <a:off x="5166360" y="1591056"/>
            <a:ext cx="2651760" cy="365760"/>
          </a:xfrm>
          <a:prstGeom prst="rect">
            <a:avLst/>
          </a:prstGeom>
          <a:noFill/>
        </p:spPr>
        <p:txBody>
          <a:bodyPr wrap="square">
            <a:spAutoFit/>
          </a:bodyPr>
          <a:lstStyle/>
          <a:p>
            <a:pPr algn="l"/>
            <a:r>
              <a:rPr sz="1600" b="1">
                <a:solidFill>
                  <a:srgbClr val="0C2340"/>
                </a:solidFill>
                <a:latin typeface="Calibri"/>
              </a:rPr>
              <a:t>Store</a:t>
            </a:r>
          </a:p>
        </p:txBody>
      </p:sp>
      <p:sp>
        <p:nvSpPr>
          <p:cNvPr id="15" name="TextBox 14"/>
          <p:cNvSpPr txBox="1"/>
          <p:nvPr/>
        </p:nvSpPr>
        <p:spPr>
          <a:xfrm>
            <a:off x="4498848" y="2084832"/>
            <a:ext cx="3383280" cy="1280160"/>
          </a:xfrm>
          <a:prstGeom prst="rect">
            <a:avLst/>
          </a:prstGeom>
          <a:noFill/>
        </p:spPr>
        <p:txBody>
          <a:bodyPr wrap="square">
            <a:spAutoFit/>
          </a:bodyPr>
          <a:lstStyle/>
          <a:p>
            <a:pPr algn="l"/>
            <a:r>
              <a:rPr sz="1300" b="0">
                <a:solidFill>
                  <a:srgbClr val="5A6570"/>
                </a:solidFill>
                <a:latin typeface="Calibri"/>
              </a:rPr>
              <a:t>Persist approved reports in a central table with Row Level Security so the public cannot read rejected rows.</a:t>
            </a:r>
          </a:p>
        </p:txBody>
      </p:sp>
      <p:sp>
        <p:nvSpPr>
          <p:cNvPr id="16" name="Rounded Rectangle 15"/>
          <p:cNvSpPr/>
          <p:nvPr/>
        </p:nvSpPr>
        <p:spPr>
          <a:xfrm>
            <a:off x="8183879" y="1371600"/>
            <a:ext cx="3749039" cy="2194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85047" y="1572768"/>
            <a:ext cx="640080" cy="365760"/>
          </a:xfrm>
          <a:prstGeom prst="rect">
            <a:avLst/>
          </a:prstGeom>
          <a:noFill/>
        </p:spPr>
        <p:txBody>
          <a:bodyPr wrap="square">
            <a:spAutoFit/>
          </a:bodyPr>
          <a:lstStyle/>
          <a:p>
            <a:pPr algn="l"/>
            <a:r>
              <a:rPr sz="1600" b="1">
                <a:solidFill>
                  <a:srgbClr val="C4A35A"/>
                </a:solidFill>
                <a:latin typeface="Calibri"/>
              </a:rPr>
              <a:t>03</a:t>
            </a:r>
          </a:p>
        </p:txBody>
      </p:sp>
      <p:sp>
        <p:nvSpPr>
          <p:cNvPr id="18" name="TextBox 17"/>
          <p:cNvSpPr txBox="1"/>
          <p:nvPr/>
        </p:nvSpPr>
        <p:spPr>
          <a:xfrm>
            <a:off x="9052559" y="1591056"/>
            <a:ext cx="2651760" cy="365760"/>
          </a:xfrm>
          <a:prstGeom prst="rect">
            <a:avLst/>
          </a:prstGeom>
          <a:noFill/>
        </p:spPr>
        <p:txBody>
          <a:bodyPr wrap="square">
            <a:spAutoFit/>
          </a:bodyPr>
          <a:lstStyle/>
          <a:p>
            <a:pPr algn="l"/>
            <a:r>
              <a:rPr sz="1600" b="1">
                <a:solidFill>
                  <a:srgbClr val="0C2340"/>
                </a:solidFill>
                <a:latin typeface="Calibri"/>
              </a:rPr>
              <a:t>Analyse</a:t>
            </a:r>
          </a:p>
        </p:txBody>
      </p:sp>
      <p:sp>
        <p:nvSpPr>
          <p:cNvPr id="19" name="TextBox 18"/>
          <p:cNvSpPr txBox="1"/>
          <p:nvPr/>
        </p:nvSpPr>
        <p:spPr>
          <a:xfrm>
            <a:off x="8385047" y="2084832"/>
            <a:ext cx="3383280" cy="1280160"/>
          </a:xfrm>
          <a:prstGeom prst="rect">
            <a:avLst/>
          </a:prstGeom>
          <a:noFill/>
        </p:spPr>
        <p:txBody>
          <a:bodyPr wrap="square">
            <a:spAutoFit/>
          </a:bodyPr>
          <a:lstStyle/>
          <a:p>
            <a:pPr algn="l"/>
            <a:r>
              <a:rPr sz="1300" b="0">
                <a:solidFill>
                  <a:srgbClr val="5A6570"/>
                </a:solidFill>
                <a:latin typeface="Calibri"/>
              </a:rPr>
              <a:t>Clean, classify and cluster incident-like reports on a ~1 km grid; assign Low / Medium / High risk.</a:t>
            </a:r>
          </a:p>
        </p:txBody>
      </p:sp>
      <p:sp>
        <p:nvSpPr>
          <p:cNvPr id="20" name="Rounded Rectangle 19"/>
          <p:cNvSpPr/>
          <p:nvPr/>
        </p:nvSpPr>
        <p:spPr>
          <a:xfrm>
            <a:off x="411480" y="3749039"/>
            <a:ext cx="3749039" cy="2194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 y="3950207"/>
            <a:ext cx="640080" cy="365760"/>
          </a:xfrm>
          <a:prstGeom prst="rect">
            <a:avLst/>
          </a:prstGeom>
          <a:noFill/>
        </p:spPr>
        <p:txBody>
          <a:bodyPr wrap="square">
            <a:spAutoFit/>
          </a:bodyPr>
          <a:lstStyle/>
          <a:p>
            <a:pPr algn="l"/>
            <a:r>
              <a:rPr sz="1600" b="1">
                <a:solidFill>
                  <a:srgbClr val="C4A35A"/>
                </a:solidFill>
                <a:latin typeface="Calibri"/>
              </a:rPr>
              <a:t>04</a:t>
            </a:r>
          </a:p>
        </p:txBody>
      </p:sp>
      <p:sp>
        <p:nvSpPr>
          <p:cNvPr id="22" name="TextBox 21"/>
          <p:cNvSpPr txBox="1"/>
          <p:nvPr/>
        </p:nvSpPr>
        <p:spPr>
          <a:xfrm>
            <a:off x="1280160" y="3968495"/>
            <a:ext cx="2651760" cy="365760"/>
          </a:xfrm>
          <a:prstGeom prst="rect">
            <a:avLst/>
          </a:prstGeom>
          <a:noFill/>
        </p:spPr>
        <p:txBody>
          <a:bodyPr wrap="square">
            <a:spAutoFit/>
          </a:bodyPr>
          <a:lstStyle/>
          <a:p>
            <a:pPr algn="l"/>
            <a:r>
              <a:rPr sz="1600" b="1">
                <a:solidFill>
                  <a:srgbClr val="0C2340"/>
                </a:solidFill>
                <a:latin typeface="Calibri"/>
              </a:rPr>
              <a:t>Alert</a:t>
            </a:r>
          </a:p>
        </p:txBody>
      </p:sp>
      <p:sp>
        <p:nvSpPr>
          <p:cNvPr id="23" name="TextBox 22"/>
          <p:cNvSpPr txBox="1"/>
          <p:nvPr/>
        </p:nvSpPr>
        <p:spPr>
          <a:xfrm>
            <a:off x="612648" y="4462271"/>
            <a:ext cx="3383280" cy="1280160"/>
          </a:xfrm>
          <a:prstGeom prst="rect">
            <a:avLst/>
          </a:prstGeom>
          <a:noFill/>
        </p:spPr>
        <p:txBody>
          <a:bodyPr wrap="square">
            <a:spAutoFit/>
          </a:bodyPr>
          <a:lstStyle/>
          <a:p>
            <a:pPr algn="l"/>
            <a:r>
              <a:rPr sz="1300" b="0">
                <a:solidFill>
                  <a:srgbClr val="5A6570"/>
                </a:solidFill>
                <a:latin typeface="Calibri"/>
              </a:rPr>
              <a:t>Produce a patrol list for High-risk or recently active cells, with area, coordinates and last seen.</a:t>
            </a:r>
          </a:p>
        </p:txBody>
      </p:sp>
      <p:sp>
        <p:nvSpPr>
          <p:cNvPr id="24" name="Rounded Rectangle 23"/>
          <p:cNvSpPr/>
          <p:nvPr/>
        </p:nvSpPr>
        <p:spPr>
          <a:xfrm>
            <a:off x="4297680" y="3749039"/>
            <a:ext cx="3749039" cy="2194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98848" y="3950207"/>
            <a:ext cx="640080" cy="365760"/>
          </a:xfrm>
          <a:prstGeom prst="rect">
            <a:avLst/>
          </a:prstGeom>
          <a:noFill/>
        </p:spPr>
        <p:txBody>
          <a:bodyPr wrap="square">
            <a:spAutoFit/>
          </a:bodyPr>
          <a:lstStyle/>
          <a:p>
            <a:pPr algn="l"/>
            <a:r>
              <a:rPr sz="1600" b="1">
                <a:solidFill>
                  <a:srgbClr val="C4A35A"/>
                </a:solidFill>
                <a:latin typeface="Calibri"/>
              </a:rPr>
              <a:t>05</a:t>
            </a:r>
          </a:p>
        </p:txBody>
      </p:sp>
      <p:sp>
        <p:nvSpPr>
          <p:cNvPr id="26" name="TextBox 25"/>
          <p:cNvSpPr txBox="1"/>
          <p:nvPr/>
        </p:nvSpPr>
        <p:spPr>
          <a:xfrm>
            <a:off x="5166360" y="3968495"/>
            <a:ext cx="2651760" cy="365760"/>
          </a:xfrm>
          <a:prstGeom prst="rect">
            <a:avLst/>
          </a:prstGeom>
          <a:noFill/>
        </p:spPr>
        <p:txBody>
          <a:bodyPr wrap="square">
            <a:spAutoFit/>
          </a:bodyPr>
          <a:lstStyle/>
          <a:p>
            <a:pPr algn="l"/>
            <a:r>
              <a:rPr sz="1600" b="1">
                <a:solidFill>
                  <a:srgbClr val="0C2340"/>
                </a:solidFill>
                <a:latin typeface="Calibri"/>
              </a:rPr>
              <a:t>Present</a:t>
            </a:r>
          </a:p>
        </p:txBody>
      </p:sp>
      <p:sp>
        <p:nvSpPr>
          <p:cNvPr id="27" name="TextBox 26"/>
          <p:cNvSpPr txBox="1"/>
          <p:nvPr/>
        </p:nvSpPr>
        <p:spPr>
          <a:xfrm>
            <a:off x="4498848" y="4462271"/>
            <a:ext cx="3383280" cy="1280160"/>
          </a:xfrm>
          <a:prstGeom prst="rect">
            <a:avLst/>
          </a:prstGeom>
          <a:noFill/>
        </p:spPr>
        <p:txBody>
          <a:bodyPr wrap="square">
            <a:spAutoFit/>
          </a:bodyPr>
          <a:lstStyle/>
          <a:p>
            <a:pPr algn="l"/>
            <a:r>
              <a:rPr sz="1300" b="0">
                <a:solidFill>
                  <a:srgbClr val="5A6570"/>
                </a:solidFill>
                <a:latin typeface="Calibri"/>
              </a:rPr>
              <a:t>Give authorities a login-protected dashboard with filters, map layers and KPIs they operate themselves.</a:t>
            </a:r>
          </a:p>
        </p:txBody>
      </p:sp>
      <p:sp>
        <p:nvSpPr>
          <p:cNvPr id="28" name="Rounded Rectangle 27"/>
          <p:cNvSpPr/>
          <p:nvPr/>
        </p:nvSpPr>
        <p:spPr>
          <a:xfrm>
            <a:off x="8183879" y="3749039"/>
            <a:ext cx="3749039" cy="2194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85047" y="3950207"/>
            <a:ext cx="640080" cy="365760"/>
          </a:xfrm>
          <a:prstGeom prst="rect">
            <a:avLst/>
          </a:prstGeom>
          <a:noFill/>
        </p:spPr>
        <p:txBody>
          <a:bodyPr wrap="square">
            <a:spAutoFit/>
          </a:bodyPr>
          <a:lstStyle/>
          <a:p>
            <a:pPr algn="l"/>
            <a:r>
              <a:rPr sz="1600" b="1">
                <a:solidFill>
                  <a:srgbClr val="C4A35A"/>
                </a:solidFill>
                <a:latin typeface="Calibri"/>
              </a:rPr>
              <a:t>06</a:t>
            </a:r>
          </a:p>
        </p:txBody>
      </p:sp>
      <p:sp>
        <p:nvSpPr>
          <p:cNvPr id="30" name="TextBox 29"/>
          <p:cNvSpPr txBox="1"/>
          <p:nvPr/>
        </p:nvSpPr>
        <p:spPr>
          <a:xfrm>
            <a:off x="9052559" y="3968495"/>
            <a:ext cx="2651760" cy="365760"/>
          </a:xfrm>
          <a:prstGeom prst="rect">
            <a:avLst/>
          </a:prstGeom>
          <a:noFill/>
        </p:spPr>
        <p:txBody>
          <a:bodyPr wrap="square">
            <a:spAutoFit/>
          </a:bodyPr>
          <a:lstStyle/>
          <a:p>
            <a:pPr algn="l"/>
            <a:r>
              <a:rPr sz="1600" b="1">
                <a:solidFill>
                  <a:srgbClr val="0C2340"/>
                </a:solidFill>
                <a:latin typeface="Calibri"/>
              </a:rPr>
              <a:t>Protect</a:t>
            </a:r>
          </a:p>
        </p:txBody>
      </p:sp>
      <p:sp>
        <p:nvSpPr>
          <p:cNvPr id="31" name="TextBox 30"/>
          <p:cNvSpPr txBox="1"/>
          <p:nvPr/>
        </p:nvSpPr>
        <p:spPr>
          <a:xfrm>
            <a:off x="8385047" y="4462271"/>
            <a:ext cx="3383280" cy="1280160"/>
          </a:xfrm>
          <a:prstGeom prst="rect">
            <a:avLst/>
          </a:prstGeom>
          <a:noFill/>
        </p:spPr>
        <p:txBody>
          <a:bodyPr wrap="square">
            <a:spAutoFit/>
          </a:bodyPr>
          <a:lstStyle/>
          <a:p>
            <a:pPr algn="l"/>
            <a:r>
              <a:rPr sz="1300" b="0">
                <a:solidFill>
                  <a:srgbClr val="5A6570"/>
                </a:solidFill>
                <a:latin typeface="Calibri"/>
              </a:rPr>
              <a:t>Keep reporting anonymous-first; keep the command view closed behind authentication.</a:t>
            </a:r>
          </a:p>
        </p:txBody>
      </p:sp>
      <p:sp>
        <p:nvSpPr>
          <p:cNvPr id="32" name="Rectangle 31"/>
          <p:cNvSpPr/>
          <p:nvPr/>
        </p:nvSpPr>
        <p:spPr>
          <a:xfrm>
            <a:off x="0" y="6656832"/>
            <a:ext cx="12191695" cy="20116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656832"/>
            <a:ext cx="109728" cy="20116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0040" y="6656832"/>
            <a:ext cx="9509760" cy="201168"/>
          </a:xfrm>
          <a:prstGeom prst="rect">
            <a:avLst/>
          </a:prstGeom>
          <a:noFill/>
        </p:spPr>
        <p:txBody>
          <a:bodyPr wrap="square">
            <a:spAutoFit/>
          </a:bodyPr>
          <a:lstStyle/>
          <a:p>
            <a:pPr algn="l"/>
            <a:r>
              <a:rPr sz="1000" b="0">
                <a:solidFill>
                  <a:srgbClr val="FFFFFF"/>
                </a:solidFill>
                <a:latin typeface="Calibri"/>
              </a:rPr>
              <a:t>BMS Institute of Technology and Management  ·  Department of MCA  ·  Phase I Interim Review  ·  2025–27</a:t>
            </a:r>
          </a:p>
        </p:txBody>
      </p:sp>
      <p:sp>
        <p:nvSpPr>
          <p:cNvPr id="35" name="TextBox 34"/>
          <p:cNvSpPr txBox="1"/>
          <p:nvPr/>
        </p:nvSpPr>
        <p:spPr>
          <a:xfrm>
            <a:off x="10424160" y="6656832"/>
            <a:ext cx="1508760" cy="201168"/>
          </a:xfrm>
          <a:prstGeom prst="rect">
            <a:avLst/>
          </a:prstGeom>
          <a:noFill/>
        </p:spPr>
        <p:txBody>
          <a:bodyPr wrap="square">
            <a:spAutoFit/>
          </a:bodyPr>
          <a:lstStyle/>
          <a:p>
            <a:pPr algn="r"/>
            <a:r>
              <a:rPr sz="1000" b="0">
                <a:solidFill>
                  <a:srgbClr val="C4A35A"/>
                </a:solidFill>
                <a:latin typeface="Calibri"/>
              </a:rPr>
              <a:t>05  /  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36576"/>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37744"/>
          </a:xfrm>
          <a:prstGeom prst="rect">
            <a:avLst/>
          </a:prstGeom>
          <a:noFill/>
        </p:spPr>
        <p:txBody>
          <a:bodyPr wrap="square">
            <a:spAutoFit/>
          </a:bodyPr>
          <a:lstStyle/>
          <a:p>
            <a:pPr algn="l"/>
            <a:r>
              <a:rPr sz="1100" b="1">
                <a:solidFill>
                  <a:srgbClr val="C4A35A"/>
                </a:solidFill>
                <a:latin typeface="Calibri"/>
              </a:rPr>
              <a:t>END-TO-END PROCESS</a:t>
            </a:r>
          </a:p>
        </p:txBody>
      </p:sp>
      <p:sp>
        <p:nvSpPr>
          <p:cNvPr id="6" name="TextBox 5"/>
          <p:cNvSpPr txBox="1"/>
          <p:nvPr/>
        </p:nvSpPr>
        <p:spPr>
          <a:xfrm>
            <a:off x="457200" y="420624"/>
            <a:ext cx="11247120" cy="420624"/>
          </a:xfrm>
          <a:prstGeom prst="rect">
            <a:avLst/>
          </a:prstGeom>
          <a:noFill/>
        </p:spPr>
        <p:txBody>
          <a:bodyPr wrap="square">
            <a:spAutoFit/>
          </a:bodyPr>
          <a:lstStyle/>
          <a:p>
            <a:pPr algn="l"/>
            <a:r>
              <a:rPr sz="2400" b="1">
                <a:solidFill>
                  <a:srgbClr val="0C2340"/>
                </a:solidFill>
                <a:latin typeface="Calibri"/>
              </a:rPr>
              <a:t>How data is gathered, stored, analysed and shown</a:t>
            </a:r>
          </a:p>
        </p:txBody>
      </p:sp>
      <p:sp>
        <p:nvSpPr>
          <p:cNvPr id="7" name="TextBox 6"/>
          <p:cNvSpPr txBox="1"/>
          <p:nvPr/>
        </p:nvSpPr>
        <p:spPr>
          <a:xfrm>
            <a:off x="457200" y="859536"/>
            <a:ext cx="11247120" cy="310896"/>
          </a:xfrm>
          <a:prstGeom prst="rect">
            <a:avLst/>
          </a:prstGeom>
          <a:noFill/>
        </p:spPr>
        <p:txBody>
          <a:bodyPr wrap="square">
            <a:spAutoFit/>
          </a:bodyPr>
          <a:lstStyle/>
          <a:p>
            <a:pPr algn="l"/>
            <a:r>
              <a:rPr sz="1300" b="0">
                <a:solidFill>
                  <a:srgbClr val="5A6570"/>
                </a:solidFill>
                <a:latin typeface="Calibri"/>
              </a:rPr>
              <a:t>No emailed spreadsheet is required at any step</a:t>
            </a:r>
          </a:p>
        </p:txBody>
      </p:sp>
      <p:pic>
        <p:nvPicPr>
          <p:cNvPr id="8" name="Picture 7" descr="safeher-pipeline.png"/>
          <p:cNvPicPr>
            <a:picLocks noChangeAspect="1"/>
          </p:cNvPicPr>
          <p:nvPr/>
        </p:nvPicPr>
        <p:blipFill>
          <a:blip r:embed="rId2"/>
          <a:stretch>
            <a:fillRect/>
          </a:stretch>
        </p:blipFill>
        <p:spPr>
          <a:xfrm>
            <a:off x="228600" y="1261872"/>
            <a:ext cx="11704320" cy="4779264"/>
          </a:xfrm>
          <a:prstGeom prst="rect">
            <a:avLst/>
          </a:prstGeom>
        </p:spPr>
      </p:pic>
      <p:sp>
        <p:nvSpPr>
          <p:cNvPr id="9" name="Rectangle 8"/>
          <p:cNvSpPr/>
          <p:nvPr/>
        </p:nvSpPr>
        <p:spPr>
          <a:xfrm>
            <a:off x="0" y="6656832"/>
            <a:ext cx="12191695" cy="20116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656832"/>
            <a:ext cx="109728" cy="20116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6656832"/>
            <a:ext cx="9509760" cy="201168"/>
          </a:xfrm>
          <a:prstGeom prst="rect">
            <a:avLst/>
          </a:prstGeom>
          <a:noFill/>
        </p:spPr>
        <p:txBody>
          <a:bodyPr wrap="square">
            <a:spAutoFit/>
          </a:bodyPr>
          <a:lstStyle/>
          <a:p>
            <a:pPr algn="l"/>
            <a:r>
              <a:rPr sz="1000" b="0">
                <a:solidFill>
                  <a:srgbClr val="FFFFFF"/>
                </a:solidFill>
                <a:latin typeface="Calibri"/>
              </a:rPr>
              <a:t>BMS Institute of Technology and Management  ·  Department of MCA  ·  Phase I Interim Review  ·  2025–27</a:t>
            </a:r>
          </a:p>
        </p:txBody>
      </p:sp>
      <p:sp>
        <p:nvSpPr>
          <p:cNvPr id="12" name="TextBox 11"/>
          <p:cNvSpPr txBox="1"/>
          <p:nvPr/>
        </p:nvSpPr>
        <p:spPr>
          <a:xfrm>
            <a:off x="10424160" y="6656832"/>
            <a:ext cx="1508760" cy="201168"/>
          </a:xfrm>
          <a:prstGeom prst="rect">
            <a:avLst/>
          </a:prstGeom>
          <a:noFill/>
        </p:spPr>
        <p:txBody>
          <a:bodyPr wrap="square">
            <a:spAutoFit/>
          </a:bodyPr>
          <a:lstStyle/>
          <a:p>
            <a:pPr algn="r"/>
            <a:r>
              <a:rPr sz="1000" b="0">
                <a:solidFill>
                  <a:srgbClr val="C4A35A"/>
                </a:solidFill>
                <a:latin typeface="Calibri"/>
              </a:rPr>
              <a:t>06  /  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36576"/>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37744"/>
          </a:xfrm>
          <a:prstGeom prst="rect">
            <a:avLst/>
          </a:prstGeom>
          <a:noFill/>
        </p:spPr>
        <p:txBody>
          <a:bodyPr wrap="square">
            <a:spAutoFit/>
          </a:bodyPr>
          <a:lstStyle/>
          <a:p>
            <a:pPr algn="l"/>
            <a:r>
              <a:rPr sz="1100" b="1">
                <a:solidFill>
                  <a:srgbClr val="C4A35A"/>
                </a:solidFill>
                <a:latin typeface="Calibri"/>
              </a:rPr>
              <a:t>DATA GATHERING FROM THE APPLICATION</a:t>
            </a:r>
          </a:p>
        </p:txBody>
      </p:sp>
      <p:sp>
        <p:nvSpPr>
          <p:cNvPr id="6" name="TextBox 5"/>
          <p:cNvSpPr txBox="1"/>
          <p:nvPr/>
        </p:nvSpPr>
        <p:spPr>
          <a:xfrm>
            <a:off x="457200" y="420624"/>
            <a:ext cx="11247120" cy="420624"/>
          </a:xfrm>
          <a:prstGeom prst="rect">
            <a:avLst/>
          </a:prstGeom>
          <a:noFill/>
        </p:spPr>
        <p:txBody>
          <a:bodyPr wrap="square">
            <a:spAutoFit/>
          </a:bodyPr>
          <a:lstStyle/>
          <a:p>
            <a:pPr algn="l"/>
            <a:r>
              <a:rPr sz="2400" b="1">
                <a:solidFill>
                  <a:srgbClr val="0C2340"/>
                </a:solidFill>
                <a:latin typeface="Calibri"/>
              </a:rPr>
              <a:t>The telephone is the sensor. Each successful submit starts the pipeline.</a:t>
            </a:r>
          </a:p>
        </p:txBody>
      </p:sp>
      <p:sp>
        <p:nvSpPr>
          <p:cNvPr id="7" name="Rounded Rectangle 6"/>
          <p:cNvSpPr/>
          <p:nvPr/>
        </p:nvSpPr>
        <p:spPr>
          <a:xfrm>
            <a:off x="411480" y="1298448"/>
            <a:ext cx="1133856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499616"/>
            <a:ext cx="1965960" cy="457200"/>
          </a:xfrm>
          <a:prstGeom prst="rect">
            <a:avLst/>
          </a:prstGeom>
          <a:noFill/>
        </p:spPr>
        <p:txBody>
          <a:bodyPr wrap="square">
            <a:spAutoFit/>
          </a:bodyPr>
          <a:lstStyle/>
          <a:p>
            <a:pPr algn="l"/>
            <a:r>
              <a:rPr sz="1400" b="1">
                <a:solidFill>
                  <a:srgbClr val="0C2340"/>
                </a:solidFill>
                <a:latin typeface="Calibri"/>
              </a:rPr>
              <a:t>Location</a:t>
            </a:r>
          </a:p>
        </p:txBody>
      </p:sp>
      <p:sp>
        <p:nvSpPr>
          <p:cNvPr id="9" name="TextBox 8"/>
          <p:cNvSpPr txBox="1"/>
          <p:nvPr/>
        </p:nvSpPr>
        <p:spPr>
          <a:xfrm>
            <a:off x="2651760" y="1463039"/>
            <a:ext cx="8869680" cy="530352"/>
          </a:xfrm>
          <a:prstGeom prst="rect">
            <a:avLst/>
          </a:prstGeom>
          <a:noFill/>
        </p:spPr>
        <p:txBody>
          <a:bodyPr wrap="square">
            <a:spAutoFit/>
          </a:bodyPr>
          <a:lstStyle/>
          <a:p>
            <a:pPr algn="l"/>
            <a:r>
              <a:rPr sz="1300" b="0">
                <a:solidFill>
                  <a:srgbClr val="5A6570"/>
                </a:solidFill>
                <a:latin typeface="Calibri"/>
              </a:rPr>
              <a:t>GPS latitude and longitude are captured automatically and matched to one of 30 Karnataka districts (example: Mysuru, Belagavi, Bengaluru Urban).</a:t>
            </a:r>
          </a:p>
        </p:txBody>
      </p:sp>
      <p:sp>
        <p:nvSpPr>
          <p:cNvPr id="10" name="Rounded Rectangle 9"/>
          <p:cNvSpPr/>
          <p:nvPr/>
        </p:nvSpPr>
        <p:spPr>
          <a:xfrm>
            <a:off x="411480" y="2139696"/>
            <a:ext cx="1133856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40864"/>
            <a:ext cx="1965960" cy="457200"/>
          </a:xfrm>
          <a:prstGeom prst="rect">
            <a:avLst/>
          </a:prstGeom>
          <a:noFill/>
        </p:spPr>
        <p:txBody>
          <a:bodyPr wrap="square">
            <a:spAutoFit/>
          </a:bodyPr>
          <a:lstStyle/>
          <a:p>
            <a:pPr algn="l"/>
            <a:r>
              <a:rPr sz="1400" b="1">
                <a:solidFill>
                  <a:srgbClr val="0C2340"/>
                </a:solidFill>
                <a:latin typeface="Calibri"/>
              </a:rPr>
              <a:t>Classification</a:t>
            </a:r>
          </a:p>
        </p:txBody>
      </p:sp>
      <p:sp>
        <p:nvSpPr>
          <p:cNvPr id="12" name="TextBox 11"/>
          <p:cNvSpPr txBox="1"/>
          <p:nvPr/>
        </p:nvSpPr>
        <p:spPr>
          <a:xfrm>
            <a:off x="2651760" y="2304288"/>
            <a:ext cx="8869680" cy="530352"/>
          </a:xfrm>
          <a:prstGeom prst="rect">
            <a:avLst/>
          </a:prstGeom>
          <a:noFill/>
        </p:spPr>
        <p:txBody>
          <a:bodyPr wrap="square">
            <a:spAutoFit/>
          </a:bodyPr>
          <a:lstStyle/>
          <a:p>
            <a:pPr algn="l"/>
            <a:r>
              <a:rPr sz="1300" b="0">
                <a:solidFill>
                  <a:srgbClr val="5A6570"/>
                </a:solidFill>
                <a:latin typeface="Calibri"/>
              </a:rPr>
              <a:t>Safe / Unsafe. Incident-like rows are those marked unsafe, or flagged as harassment, or given an incident type.</a:t>
            </a:r>
          </a:p>
        </p:txBody>
      </p:sp>
      <p:sp>
        <p:nvSpPr>
          <p:cNvPr id="13" name="Rounded Rectangle 12"/>
          <p:cNvSpPr/>
          <p:nvPr/>
        </p:nvSpPr>
        <p:spPr>
          <a:xfrm>
            <a:off x="411480" y="2980944"/>
            <a:ext cx="1133856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182112"/>
            <a:ext cx="1965960" cy="457200"/>
          </a:xfrm>
          <a:prstGeom prst="rect">
            <a:avLst/>
          </a:prstGeom>
          <a:noFill/>
        </p:spPr>
        <p:txBody>
          <a:bodyPr wrap="square">
            <a:spAutoFit/>
          </a:bodyPr>
          <a:lstStyle/>
          <a:p>
            <a:pPr algn="l"/>
            <a:r>
              <a:rPr sz="1400" b="1">
                <a:solidFill>
                  <a:srgbClr val="0C2340"/>
                </a:solidFill>
                <a:latin typeface="Calibri"/>
              </a:rPr>
              <a:t>Time</a:t>
            </a:r>
          </a:p>
        </p:txBody>
      </p:sp>
      <p:sp>
        <p:nvSpPr>
          <p:cNvPr id="15" name="TextBox 14"/>
          <p:cNvSpPr txBox="1"/>
          <p:nvPr/>
        </p:nvSpPr>
        <p:spPr>
          <a:xfrm>
            <a:off x="2651760" y="3145536"/>
            <a:ext cx="8869680" cy="530352"/>
          </a:xfrm>
          <a:prstGeom prst="rect">
            <a:avLst/>
          </a:prstGeom>
          <a:noFill/>
        </p:spPr>
        <p:txBody>
          <a:bodyPr wrap="square">
            <a:spAutoFit/>
          </a:bodyPr>
          <a:lstStyle/>
          <a:p>
            <a:pPr algn="l"/>
            <a:r>
              <a:rPr sz="1300" b="0">
                <a:solidFill>
                  <a:srgbClr val="5A6570"/>
                </a:solidFill>
                <a:latin typeface="Calibri"/>
              </a:rPr>
              <a:t>Server timestamp (created_at) plus time of day: morning, afternoon, evening, night.</a:t>
            </a:r>
          </a:p>
        </p:txBody>
      </p:sp>
      <p:sp>
        <p:nvSpPr>
          <p:cNvPr id="16" name="Rounded Rectangle 15"/>
          <p:cNvSpPr/>
          <p:nvPr/>
        </p:nvSpPr>
        <p:spPr>
          <a:xfrm>
            <a:off x="411480" y="3822191"/>
            <a:ext cx="1133856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4023359"/>
            <a:ext cx="1965960" cy="457200"/>
          </a:xfrm>
          <a:prstGeom prst="rect">
            <a:avLst/>
          </a:prstGeom>
          <a:noFill/>
        </p:spPr>
        <p:txBody>
          <a:bodyPr wrap="square">
            <a:spAutoFit/>
          </a:bodyPr>
          <a:lstStyle/>
          <a:p>
            <a:pPr algn="l"/>
            <a:r>
              <a:rPr sz="1400" b="1">
                <a:solidFill>
                  <a:srgbClr val="0C2340"/>
                </a:solidFill>
                <a:latin typeface="Calibri"/>
              </a:rPr>
              <a:t>Street context</a:t>
            </a:r>
          </a:p>
        </p:txBody>
      </p:sp>
      <p:sp>
        <p:nvSpPr>
          <p:cNvPr id="18" name="TextBox 17"/>
          <p:cNvSpPr txBox="1"/>
          <p:nvPr/>
        </p:nvSpPr>
        <p:spPr>
          <a:xfrm>
            <a:off x="2651760" y="3986783"/>
            <a:ext cx="8869680" cy="530352"/>
          </a:xfrm>
          <a:prstGeom prst="rect">
            <a:avLst/>
          </a:prstGeom>
          <a:noFill/>
        </p:spPr>
        <p:txBody>
          <a:bodyPr wrap="square">
            <a:spAutoFit/>
          </a:bodyPr>
          <a:lstStyle/>
          <a:p>
            <a:pPr algn="l"/>
            <a:r>
              <a:rPr sz="1300" b="0">
                <a:solidFill>
                  <a:srgbClr val="5A6570"/>
                </a:solidFill>
                <a:latin typeface="Calibri"/>
              </a:rPr>
              <a:t>Lighting, crowd level, CCTV seen, police nearby, transport nearby, optional comment.</a:t>
            </a:r>
          </a:p>
        </p:txBody>
      </p:sp>
      <p:sp>
        <p:nvSpPr>
          <p:cNvPr id="19" name="Rounded Rectangle 18"/>
          <p:cNvSpPr/>
          <p:nvPr/>
        </p:nvSpPr>
        <p:spPr>
          <a:xfrm>
            <a:off x="411480" y="4663440"/>
            <a:ext cx="1133856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864607"/>
            <a:ext cx="1965960" cy="457200"/>
          </a:xfrm>
          <a:prstGeom prst="rect">
            <a:avLst/>
          </a:prstGeom>
          <a:noFill/>
        </p:spPr>
        <p:txBody>
          <a:bodyPr wrap="square">
            <a:spAutoFit/>
          </a:bodyPr>
          <a:lstStyle/>
          <a:p>
            <a:pPr algn="l"/>
            <a:r>
              <a:rPr sz="1400" b="1">
                <a:solidFill>
                  <a:srgbClr val="0C2340"/>
                </a:solidFill>
                <a:latin typeface="Calibri"/>
              </a:rPr>
              <a:t>Identity</a:t>
            </a:r>
          </a:p>
        </p:txBody>
      </p:sp>
      <p:sp>
        <p:nvSpPr>
          <p:cNvPr id="21" name="TextBox 20"/>
          <p:cNvSpPr txBox="1"/>
          <p:nvPr/>
        </p:nvSpPr>
        <p:spPr>
          <a:xfrm>
            <a:off x="2651760" y="4828031"/>
            <a:ext cx="8869680" cy="530352"/>
          </a:xfrm>
          <a:prstGeom prst="rect">
            <a:avLst/>
          </a:prstGeom>
          <a:noFill/>
        </p:spPr>
        <p:txBody>
          <a:bodyPr wrap="square">
            <a:spAutoFit/>
          </a:bodyPr>
          <a:lstStyle/>
          <a:p>
            <a:pPr algn="l"/>
            <a:r>
              <a:rPr sz="1300" b="0">
                <a:solidFill>
                  <a:srgbClr val="5A6570"/>
                </a:solidFill>
                <a:latin typeface="Calibri"/>
              </a:rPr>
              <a:t>Name is not required. A device identifier is stored only to enforce a limit of five reports per hour.</a:t>
            </a:r>
          </a:p>
        </p:txBody>
      </p:sp>
      <p:sp>
        <p:nvSpPr>
          <p:cNvPr id="22" name="Rounded Rectangle 21"/>
          <p:cNvSpPr/>
          <p:nvPr/>
        </p:nvSpPr>
        <p:spPr>
          <a:xfrm>
            <a:off x="411480" y="5504688"/>
            <a:ext cx="1133856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5705855"/>
            <a:ext cx="1965960" cy="457200"/>
          </a:xfrm>
          <a:prstGeom prst="rect">
            <a:avLst/>
          </a:prstGeom>
          <a:noFill/>
        </p:spPr>
        <p:txBody>
          <a:bodyPr wrap="square">
            <a:spAutoFit/>
          </a:bodyPr>
          <a:lstStyle/>
          <a:p>
            <a:pPr algn="l"/>
            <a:r>
              <a:rPr sz="1400" b="1">
                <a:solidFill>
                  <a:srgbClr val="0C2340"/>
                </a:solidFill>
                <a:latin typeface="Calibri"/>
              </a:rPr>
              <a:t>Transport</a:t>
            </a:r>
          </a:p>
        </p:txBody>
      </p:sp>
      <p:sp>
        <p:nvSpPr>
          <p:cNvPr id="24" name="TextBox 23"/>
          <p:cNvSpPr txBox="1"/>
          <p:nvPr/>
        </p:nvSpPr>
        <p:spPr>
          <a:xfrm>
            <a:off x="2651760" y="5669279"/>
            <a:ext cx="8869680" cy="530352"/>
          </a:xfrm>
          <a:prstGeom prst="rect">
            <a:avLst/>
          </a:prstGeom>
          <a:noFill/>
        </p:spPr>
        <p:txBody>
          <a:bodyPr wrap="square">
            <a:spAutoFit/>
          </a:bodyPr>
          <a:lstStyle/>
          <a:p>
            <a:pPr algn="l"/>
            <a:r>
              <a:rPr sz="1300" b="0">
                <a:solidFill>
                  <a:srgbClr val="5A6570"/>
                </a:solidFill>
                <a:latin typeface="Calibri"/>
              </a:rPr>
              <a:t>HTTPS insert into the Supabase table reports. Default status is approved; it may be held as pending.</a:t>
            </a:r>
          </a:p>
        </p:txBody>
      </p:sp>
      <p:sp>
        <p:nvSpPr>
          <p:cNvPr id="25" name="Rectangle 24"/>
          <p:cNvSpPr/>
          <p:nvPr/>
        </p:nvSpPr>
        <p:spPr>
          <a:xfrm>
            <a:off x="0" y="6656832"/>
            <a:ext cx="12191695" cy="20116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6656832"/>
            <a:ext cx="109728" cy="20116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0040" y="6656832"/>
            <a:ext cx="9509760" cy="201168"/>
          </a:xfrm>
          <a:prstGeom prst="rect">
            <a:avLst/>
          </a:prstGeom>
          <a:noFill/>
        </p:spPr>
        <p:txBody>
          <a:bodyPr wrap="square">
            <a:spAutoFit/>
          </a:bodyPr>
          <a:lstStyle/>
          <a:p>
            <a:pPr algn="l"/>
            <a:r>
              <a:rPr sz="1000" b="0">
                <a:solidFill>
                  <a:srgbClr val="FFFFFF"/>
                </a:solidFill>
                <a:latin typeface="Calibri"/>
              </a:rPr>
              <a:t>BMS Institute of Technology and Management  ·  Department of MCA  ·  Phase I Interim Review  ·  2025–27</a:t>
            </a:r>
          </a:p>
        </p:txBody>
      </p:sp>
      <p:sp>
        <p:nvSpPr>
          <p:cNvPr id="28" name="TextBox 27"/>
          <p:cNvSpPr txBox="1"/>
          <p:nvPr/>
        </p:nvSpPr>
        <p:spPr>
          <a:xfrm>
            <a:off x="10424160" y="6656832"/>
            <a:ext cx="1508760" cy="201168"/>
          </a:xfrm>
          <a:prstGeom prst="rect">
            <a:avLst/>
          </a:prstGeom>
          <a:noFill/>
        </p:spPr>
        <p:txBody>
          <a:bodyPr wrap="square">
            <a:spAutoFit/>
          </a:bodyPr>
          <a:lstStyle/>
          <a:p>
            <a:pPr algn="r"/>
            <a:r>
              <a:rPr sz="1000" b="0">
                <a:solidFill>
                  <a:srgbClr val="C4A35A"/>
                </a:solidFill>
                <a:latin typeface="Calibri"/>
              </a:rPr>
              <a:t>07  /  23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36576"/>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37744"/>
          </a:xfrm>
          <a:prstGeom prst="rect">
            <a:avLst/>
          </a:prstGeom>
          <a:noFill/>
        </p:spPr>
        <p:txBody>
          <a:bodyPr wrap="square">
            <a:spAutoFit/>
          </a:bodyPr>
          <a:lstStyle/>
          <a:p>
            <a:pPr algn="l"/>
            <a:r>
              <a:rPr sz="1100" b="1">
                <a:solidFill>
                  <a:srgbClr val="C4A35A"/>
                </a:solidFill>
                <a:latin typeface="Calibri"/>
              </a:rPr>
              <a:t>HOW THE DASHBOARD STAYS CURRENT</a:t>
            </a:r>
          </a:p>
        </p:txBody>
      </p:sp>
      <p:sp>
        <p:nvSpPr>
          <p:cNvPr id="6" name="TextBox 5"/>
          <p:cNvSpPr txBox="1"/>
          <p:nvPr/>
        </p:nvSpPr>
        <p:spPr>
          <a:xfrm>
            <a:off x="457200" y="420624"/>
            <a:ext cx="11247120" cy="420624"/>
          </a:xfrm>
          <a:prstGeom prst="rect">
            <a:avLst/>
          </a:prstGeom>
          <a:noFill/>
        </p:spPr>
        <p:txBody>
          <a:bodyPr wrap="square">
            <a:spAutoFit/>
          </a:bodyPr>
          <a:lstStyle/>
          <a:p>
            <a:pPr algn="l"/>
            <a:r>
              <a:rPr sz="2400" b="1">
                <a:solidFill>
                  <a:srgbClr val="0C2340"/>
                </a:solidFill>
                <a:latin typeface="Calibri"/>
              </a:rPr>
              <a:t>Two complementary paths. Officers are never blocked waiting for an export.</a:t>
            </a:r>
          </a:p>
        </p:txBody>
      </p:sp>
      <p:sp>
        <p:nvSpPr>
          <p:cNvPr id="7" name="Rounded Rectangle 6"/>
          <p:cNvSpPr/>
          <p:nvPr/>
        </p:nvSpPr>
        <p:spPr>
          <a:xfrm>
            <a:off x="411480" y="1353312"/>
            <a:ext cx="5623560" cy="4800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536192"/>
            <a:ext cx="5166360" cy="365760"/>
          </a:xfrm>
          <a:prstGeom prst="rect">
            <a:avLst/>
          </a:prstGeom>
          <a:noFill/>
        </p:spPr>
        <p:txBody>
          <a:bodyPr wrap="square">
            <a:spAutoFit/>
          </a:bodyPr>
          <a:lstStyle/>
          <a:p>
            <a:pPr algn="l"/>
            <a:r>
              <a:rPr sz="1700" b="1">
                <a:solidFill>
                  <a:srgbClr val="1F6B4A"/>
                </a:solidFill>
                <a:latin typeface="Calibri"/>
              </a:rPr>
              <a:t>Path A  —  live community view</a:t>
            </a:r>
          </a:p>
        </p:txBody>
      </p:sp>
      <p:sp>
        <p:nvSpPr>
          <p:cNvPr id="9" name="TextBox 8"/>
          <p:cNvSpPr txBox="1"/>
          <p:nvPr/>
        </p:nvSpPr>
        <p:spPr>
          <a:xfrm>
            <a:off x="640080" y="1938528"/>
            <a:ext cx="5166360" cy="320040"/>
          </a:xfrm>
          <a:prstGeom prst="rect">
            <a:avLst/>
          </a:prstGeom>
          <a:noFill/>
        </p:spPr>
        <p:txBody>
          <a:bodyPr wrap="square">
            <a:spAutoFit/>
          </a:bodyPr>
          <a:lstStyle/>
          <a:p>
            <a:pPr algn="l"/>
            <a:r>
              <a:rPr sz="1200" b="0">
                <a:solidFill>
                  <a:srgbClr val="5A6570"/>
                </a:solidFill>
                <a:latin typeface="Calibri"/>
              </a:rPr>
              <a:t>Latency: seconds after submit</a:t>
            </a:r>
          </a:p>
        </p:txBody>
      </p:sp>
      <p:sp>
        <p:nvSpPr>
          <p:cNvPr id="10" name="TextBox 9"/>
          <p:cNvSpPr txBox="1"/>
          <p:nvPr/>
        </p:nvSpPr>
        <p:spPr>
          <a:xfrm>
            <a:off x="640080" y="2331720"/>
            <a:ext cx="5166360" cy="3566160"/>
          </a:xfrm>
          <a:prstGeom prst="rect">
            <a:avLst/>
          </a:prstGeom>
          <a:noFill/>
        </p:spPr>
        <p:txBody>
          <a:bodyPr wrap="square">
            <a:spAutoFit/>
          </a:bodyPr>
          <a:lstStyle/>
          <a:p>
            <a:pPr>
              <a:spcAft>
                <a:spcPts val="800"/>
              </a:spcAft>
            </a:pPr>
            <a:r>
              <a:rPr sz="1400" b="0">
                <a:solidFill>
                  <a:srgbClr val="1B2430"/>
                </a:solidFill>
                <a:latin typeface="Calibri"/>
              </a:rPr>
              <a:t>•  The application writes one row into reports.</a:t>
            </a:r>
          </a:p>
          <a:p>
            <a:pPr>
              <a:spcAft>
                <a:spcPts val="800"/>
              </a:spcAft>
            </a:pPr>
            <a:r>
              <a:rPr sz="1400" b="0">
                <a:solidFill>
                  <a:srgbClr val="1B2430"/>
                </a:solidFill>
                <a:latin typeface="Calibri"/>
              </a:rPr>
              <a:t>•  Row Level Security permits public read of approved rows only.</a:t>
            </a:r>
          </a:p>
          <a:p>
            <a:pPr>
              <a:spcAft>
                <a:spcPts val="800"/>
              </a:spcAft>
            </a:pPr>
            <a:r>
              <a:rPr sz="1400" b="0">
                <a:solidFill>
                  <a:srgbClr val="1B2430"/>
                </a:solidFill>
                <a:latin typeface="Calibri"/>
              </a:rPr>
              <a:t>•  The dashboard Community page and map query the table and the area_safety view.</a:t>
            </a:r>
          </a:p>
          <a:p>
            <a:pPr>
              <a:spcAft>
                <a:spcPts val="800"/>
              </a:spcAft>
            </a:pPr>
            <a:r>
              <a:rPr sz="1400" b="0">
                <a:solidFill>
                  <a:srgbClr val="1B2430"/>
                </a:solidFill>
                <a:latin typeface="Calibri"/>
              </a:rPr>
              <a:t>•  A new marker and updated KPIs appear without any file being emailed.</a:t>
            </a:r>
          </a:p>
          <a:p>
            <a:pPr>
              <a:spcAft>
                <a:spcPts val="800"/>
              </a:spcAft>
            </a:pPr>
            <a:r>
              <a:rPr sz="1400" b="0">
                <a:solidFill>
                  <a:srgbClr val="1B2430"/>
                </a:solidFill>
                <a:latin typeface="Calibri"/>
              </a:rPr>
              <a:t>•  This is how an officer sees what arrived today.</a:t>
            </a:r>
          </a:p>
        </p:txBody>
      </p:sp>
      <p:sp>
        <p:nvSpPr>
          <p:cNvPr id="11" name="Rounded Rectangle 10"/>
          <p:cNvSpPr/>
          <p:nvPr/>
        </p:nvSpPr>
        <p:spPr>
          <a:xfrm>
            <a:off x="6172200" y="1353312"/>
            <a:ext cx="5577840" cy="4800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536192"/>
            <a:ext cx="5120640" cy="365760"/>
          </a:xfrm>
          <a:prstGeom prst="rect">
            <a:avLst/>
          </a:prstGeom>
          <a:noFill/>
        </p:spPr>
        <p:txBody>
          <a:bodyPr wrap="square">
            <a:spAutoFit/>
          </a:bodyPr>
          <a:lstStyle/>
          <a:p>
            <a:pPr algn="l"/>
            <a:r>
              <a:rPr sz="1700" b="1">
                <a:solidFill>
                  <a:srgbClr val="0C2340"/>
                </a:solidFill>
                <a:latin typeface="Calibri"/>
              </a:rPr>
              <a:t>Path B  —  analysis refresh</a:t>
            </a:r>
          </a:p>
        </p:txBody>
      </p:sp>
      <p:sp>
        <p:nvSpPr>
          <p:cNvPr id="13" name="TextBox 12"/>
          <p:cNvSpPr txBox="1"/>
          <p:nvPr/>
        </p:nvSpPr>
        <p:spPr>
          <a:xfrm>
            <a:off x="6400800" y="1938528"/>
            <a:ext cx="5120640" cy="320040"/>
          </a:xfrm>
          <a:prstGeom prst="rect">
            <a:avLst/>
          </a:prstGeom>
          <a:noFill/>
        </p:spPr>
        <p:txBody>
          <a:bodyPr wrap="square">
            <a:spAutoFit/>
          </a:bodyPr>
          <a:lstStyle/>
          <a:p>
            <a:pPr algn="l"/>
            <a:r>
              <a:rPr sz="1200" b="0">
                <a:solidFill>
                  <a:srgbClr val="5A6570"/>
                </a:solidFill>
                <a:latin typeface="Calibri"/>
              </a:rPr>
              <a:t>Hotspots and patrol alerts</a:t>
            </a:r>
          </a:p>
        </p:txBody>
      </p:sp>
      <p:sp>
        <p:nvSpPr>
          <p:cNvPr id="14" name="TextBox 13"/>
          <p:cNvSpPr txBox="1"/>
          <p:nvPr/>
        </p:nvSpPr>
        <p:spPr>
          <a:xfrm>
            <a:off x="6400800" y="2331720"/>
            <a:ext cx="5120640" cy="3566160"/>
          </a:xfrm>
          <a:prstGeom prst="rect">
            <a:avLst/>
          </a:prstGeom>
          <a:noFill/>
        </p:spPr>
        <p:txBody>
          <a:bodyPr wrap="square">
            <a:spAutoFit/>
          </a:bodyPr>
          <a:lstStyle/>
          <a:p>
            <a:pPr>
              <a:spcAft>
                <a:spcPts val="800"/>
              </a:spcAft>
            </a:pPr>
            <a:r>
              <a:rPr sz="1400" b="0">
                <a:solidFill>
                  <a:srgbClr val="1B2430"/>
                </a:solidFill>
                <a:latin typeface="Calibri"/>
              </a:rPr>
              <a:t>•  Approved reports are read by Module 1 from analysis/input/.</a:t>
            </a:r>
          </a:p>
          <a:p>
            <a:pPr>
              <a:spcAft>
                <a:spcPts val="800"/>
              </a:spcAft>
            </a:pPr>
            <a:r>
              <a:rPr sz="1400" b="0">
                <a:solidFill>
                  <a:srgbClr val="1B2430"/>
                </a:solidFill>
                <a:latin typeface="Calibri"/>
              </a:rPr>
              <a:t>•  analysis/pipeline.py cleans, classifies, clusters and scores risk.</a:t>
            </a:r>
          </a:p>
          <a:p>
            <a:pPr>
              <a:spcAft>
                <a:spcPts val="800"/>
              </a:spcAft>
            </a:pPr>
            <a:r>
              <a:rPr sz="1400" b="0">
                <a:solidFill>
                  <a:srgbClr val="1B2430"/>
                </a:solidFill>
                <a:latin typeface="Calibri"/>
              </a:rPr>
              <a:t>•  It writes hotspots.json, alerts.json, areas.json and summary.json.</a:t>
            </a:r>
          </a:p>
          <a:p>
            <a:pPr>
              <a:spcAft>
                <a:spcPts val="800"/>
              </a:spcAft>
            </a:pPr>
            <a:r>
              <a:rPr sz="1400" b="0">
                <a:solidFill>
                  <a:srgbClr val="1B2430"/>
                </a:solidFill>
                <a:latin typeface="Calibri"/>
              </a:rPr>
              <a:t>•  Those files are published to the dashboard at /admin.</a:t>
            </a:r>
          </a:p>
          <a:p>
            <a:pPr>
              <a:spcAft>
                <a:spcPts val="800"/>
              </a:spcAft>
            </a:pPr>
            <a:r>
              <a:rPr sz="1400" b="0">
                <a:solidFill>
                  <a:srgbClr val="1B2430"/>
                </a:solidFill>
                <a:latin typeface="Calibri"/>
              </a:rPr>
              <a:t>•  The same rules apply to demo rows and to live rows. Coordinates are never recoded by hand.</a:t>
            </a:r>
          </a:p>
        </p:txBody>
      </p:sp>
      <p:sp>
        <p:nvSpPr>
          <p:cNvPr id="15" name="Rectangle 14"/>
          <p:cNvSpPr/>
          <p:nvPr/>
        </p:nvSpPr>
        <p:spPr>
          <a:xfrm>
            <a:off x="0" y="6656832"/>
            <a:ext cx="12191695" cy="20116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656832"/>
            <a:ext cx="109728" cy="20116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6656832"/>
            <a:ext cx="9509760" cy="201168"/>
          </a:xfrm>
          <a:prstGeom prst="rect">
            <a:avLst/>
          </a:prstGeom>
          <a:noFill/>
        </p:spPr>
        <p:txBody>
          <a:bodyPr wrap="square">
            <a:spAutoFit/>
          </a:bodyPr>
          <a:lstStyle/>
          <a:p>
            <a:pPr algn="l"/>
            <a:r>
              <a:rPr sz="1000" b="0">
                <a:solidFill>
                  <a:srgbClr val="FFFFFF"/>
                </a:solidFill>
                <a:latin typeface="Calibri"/>
              </a:rPr>
              <a:t>BMS Institute of Technology and Management  ·  Department of MCA  ·  Phase I Interim Review  ·  2025–27</a:t>
            </a:r>
          </a:p>
        </p:txBody>
      </p:sp>
      <p:sp>
        <p:nvSpPr>
          <p:cNvPr id="18" name="TextBox 17"/>
          <p:cNvSpPr txBox="1"/>
          <p:nvPr/>
        </p:nvSpPr>
        <p:spPr>
          <a:xfrm>
            <a:off x="10424160" y="6656832"/>
            <a:ext cx="1508760" cy="201168"/>
          </a:xfrm>
          <a:prstGeom prst="rect">
            <a:avLst/>
          </a:prstGeom>
          <a:noFill/>
        </p:spPr>
        <p:txBody>
          <a:bodyPr wrap="square">
            <a:spAutoFit/>
          </a:bodyPr>
          <a:lstStyle/>
          <a:p>
            <a:pPr algn="r"/>
            <a:r>
              <a:rPr sz="1000" b="0">
                <a:solidFill>
                  <a:srgbClr val="C4A35A"/>
                </a:solidFill>
                <a:latin typeface="Calibri"/>
              </a:rPr>
              <a:t>08  /  23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36576"/>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37744"/>
          </a:xfrm>
          <a:prstGeom prst="rect">
            <a:avLst/>
          </a:prstGeom>
          <a:noFill/>
        </p:spPr>
        <p:txBody>
          <a:bodyPr wrap="square">
            <a:spAutoFit/>
          </a:bodyPr>
          <a:lstStyle/>
          <a:p>
            <a:pPr algn="l"/>
            <a:r>
              <a:rPr sz="1100" b="1">
                <a:solidFill>
                  <a:srgbClr val="C4A35A"/>
                </a:solidFill>
                <a:latin typeface="Calibri"/>
              </a:rPr>
              <a:t>MODULE 1  ·  ANALYSIS METHOD</a:t>
            </a:r>
          </a:p>
        </p:txBody>
      </p:sp>
      <p:sp>
        <p:nvSpPr>
          <p:cNvPr id="6" name="TextBox 5"/>
          <p:cNvSpPr txBox="1"/>
          <p:nvPr/>
        </p:nvSpPr>
        <p:spPr>
          <a:xfrm>
            <a:off x="457200" y="420624"/>
            <a:ext cx="11247120" cy="420624"/>
          </a:xfrm>
          <a:prstGeom prst="rect">
            <a:avLst/>
          </a:prstGeom>
          <a:noFill/>
        </p:spPr>
        <p:txBody>
          <a:bodyPr wrap="square">
            <a:spAutoFit/>
          </a:bodyPr>
          <a:lstStyle/>
          <a:p>
            <a:pPr algn="l"/>
            <a:r>
              <a:rPr sz="2400" b="1">
                <a:solidFill>
                  <a:srgbClr val="0C2340"/>
                </a:solidFill>
                <a:latin typeface="Calibri"/>
              </a:rPr>
              <a:t>Eight recorded steps. Each count is written to pipeline_log.json.</a:t>
            </a:r>
          </a:p>
        </p:txBody>
      </p:sp>
      <p:sp>
        <p:nvSpPr>
          <p:cNvPr id="7" name="Rounded Rectangle 6"/>
          <p:cNvSpPr/>
          <p:nvPr/>
        </p:nvSpPr>
        <p:spPr>
          <a:xfrm>
            <a:off x="365760" y="1325880"/>
            <a:ext cx="2788920"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2064" y="1472184"/>
            <a:ext cx="2514600" cy="411480"/>
          </a:xfrm>
          <a:prstGeom prst="rect">
            <a:avLst/>
          </a:prstGeom>
          <a:noFill/>
        </p:spPr>
        <p:txBody>
          <a:bodyPr wrap="square">
            <a:spAutoFit/>
          </a:bodyPr>
          <a:lstStyle/>
          <a:p>
            <a:pPr algn="l"/>
            <a:r>
              <a:rPr sz="1300" b="1">
                <a:solidFill>
                  <a:srgbClr val="0C2340"/>
                </a:solidFill>
                <a:latin typeface="Calibri"/>
              </a:rPr>
              <a:t>1  Ingest</a:t>
            </a:r>
          </a:p>
        </p:txBody>
      </p:sp>
      <p:sp>
        <p:nvSpPr>
          <p:cNvPr id="9" name="TextBox 8"/>
          <p:cNvSpPr txBox="1"/>
          <p:nvPr/>
        </p:nvSpPr>
        <p:spPr>
          <a:xfrm>
            <a:off x="512064" y="1892808"/>
            <a:ext cx="2514600" cy="1600200"/>
          </a:xfrm>
          <a:prstGeom prst="rect">
            <a:avLst/>
          </a:prstGeom>
          <a:noFill/>
        </p:spPr>
        <p:txBody>
          <a:bodyPr wrap="square">
            <a:spAutoFit/>
          </a:bodyPr>
          <a:lstStyle/>
          <a:p>
            <a:pPr algn="l"/>
            <a:r>
              <a:rPr sz="1100" b="0">
                <a:solidFill>
                  <a:srgbClr val="5A6570"/>
                </a:solidFill>
                <a:latin typeface="Calibri"/>
              </a:rPr>
              <a:t>Load Karnataka OSM District Summary + app reports + live_reports.json. Keep approved rows with GPS. Load KSP district context without using it as points.</a:t>
            </a:r>
          </a:p>
        </p:txBody>
      </p:sp>
      <p:sp>
        <p:nvSpPr>
          <p:cNvPr id="10" name="Rounded Rectangle 9"/>
          <p:cNvSpPr/>
          <p:nvPr/>
        </p:nvSpPr>
        <p:spPr>
          <a:xfrm>
            <a:off x="3291840" y="1325880"/>
            <a:ext cx="2788920"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38144" y="1472184"/>
            <a:ext cx="2514600" cy="411480"/>
          </a:xfrm>
          <a:prstGeom prst="rect">
            <a:avLst/>
          </a:prstGeom>
          <a:noFill/>
        </p:spPr>
        <p:txBody>
          <a:bodyPr wrap="square">
            <a:spAutoFit/>
          </a:bodyPr>
          <a:lstStyle/>
          <a:p>
            <a:pPr algn="l"/>
            <a:r>
              <a:rPr sz="1300" b="1">
                <a:solidFill>
                  <a:srgbClr val="0C2340"/>
                </a:solidFill>
                <a:latin typeface="Calibri"/>
              </a:rPr>
              <a:t>2  Preprocess</a:t>
            </a:r>
          </a:p>
        </p:txBody>
      </p:sp>
      <p:sp>
        <p:nvSpPr>
          <p:cNvPr id="12" name="TextBox 11"/>
          <p:cNvSpPr txBox="1"/>
          <p:nvPr/>
        </p:nvSpPr>
        <p:spPr>
          <a:xfrm>
            <a:off x="3438144" y="1892808"/>
            <a:ext cx="2514600" cy="1600200"/>
          </a:xfrm>
          <a:prstGeom prst="rect">
            <a:avLst/>
          </a:prstGeom>
          <a:noFill/>
        </p:spPr>
        <p:txBody>
          <a:bodyPr wrap="square">
            <a:spAutoFit/>
          </a:bodyPr>
          <a:lstStyle/>
          <a:p>
            <a:pPr algn="l"/>
            <a:r>
              <a:rPr sz="1100" b="0">
                <a:solidFill>
                  <a:srgbClr val="5A6570"/>
                </a:solidFill>
                <a:latin typeface="Calibri"/>
              </a:rPr>
              <a:t>Drop duplicates, invalid coordinates and points outside Karnataka (lat 11.5–18.6, lon 74.0–78.6). Log before / after / dropped.</a:t>
            </a:r>
          </a:p>
        </p:txBody>
      </p:sp>
      <p:sp>
        <p:nvSpPr>
          <p:cNvPr id="13" name="Rounded Rectangle 12"/>
          <p:cNvSpPr/>
          <p:nvPr/>
        </p:nvSpPr>
        <p:spPr>
          <a:xfrm>
            <a:off x="6217920" y="1325880"/>
            <a:ext cx="2788920"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4224" y="1472184"/>
            <a:ext cx="2514600" cy="411480"/>
          </a:xfrm>
          <a:prstGeom prst="rect">
            <a:avLst/>
          </a:prstGeom>
          <a:noFill/>
        </p:spPr>
        <p:txBody>
          <a:bodyPr wrap="square">
            <a:spAutoFit/>
          </a:bodyPr>
          <a:lstStyle/>
          <a:p>
            <a:pPr algn="l"/>
            <a:r>
              <a:rPr sz="1300" b="1">
                <a:solidFill>
                  <a:srgbClr val="0C2340"/>
                </a:solidFill>
                <a:latin typeface="Calibri"/>
              </a:rPr>
              <a:t>3  Classify</a:t>
            </a:r>
          </a:p>
        </p:txBody>
      </p:sp>
      <p:sp>
        <p:nvSpPr>
          <p:cNvPr id="15" name="TextBox 14"/>
          <p:cNvSpPr txBox="1"/>
          <p:nvPr/>
        </p:nvSpPr>
        <p:spPr>
          <a:xfrm>
            <a:off x="6364224" y="1892808"/>
            <a:ext cx="2514600" cy="1600200"/>
          </a:xfrm>
          <a:prstGeom prst="rect">
            <a:avLst/>
          </a:prstGeom>
          <a:noFill/>
        </p:spPr>
        <p:txBody>
          <a:bodyPr wrap="square">
            <a:spAutoFit/>
          </a:bodyPr>
          <a:lstStyle/>
          <a:p>
            <a:pPr algn="l"/>
            <a:r>
              <a:rPr sz="1100" b="0">
                <a:solidFill>
                  <a:srgbClr val="5A6570"/>
                </a:solidFill>
                <a:latin typeface="Calibri"/>
              </a:rPr>
              <a:t>Incident-like = unsafe, or harassment flagged, or an incident type is set. Safe rows remain as context.</a:t>
            </a:r>
          </a:p>
        </p:txBody>
      </p:sp>
      <p:sp>
        <p:nvSpPr>
          <p:cNvPr id="16" name="Rounded Rectangle 15"/>
          <p:cNvSpPr/>
          <p:nvPr/>
        </p:nvSpPr>
        <p:spPr>
          <a:xfrm>
            <a:off x="9144000" y="1325880"/>
            <a:ext cx="2788920"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90304" y="1472184"/>
            <a:ext cx="2514600" cy="411480"/>
          </a:xfrm>
          <a:prstGeom prst="rect">
            <a:avLst/>
          </a:prstGeom>
          <a:noFill/>
        </p:spPr>
        <p:txBody>
          <a:bodyPr wrap="square">
            <a:spAutoFit/>
          </a:bodyPr>
          <a:lstStyle/>
          <a:p>
            <a:pPr algn="l"/>
            <a:r>
              <a:rPr sz="1300" b="1">
                <a:solidFill>
                  <a:srgbClr val="0C2340"/>
                </a:solidFill>
                <a:latin typeface="Calibri"/>
              </a:rPr>
              <a:t>4  Geospatial</a:t>
            </a:r>
          </a:p>
        </p:txBody>
      </p:sp>
      <p:sp>
        <p:nvSpPr>
          <p:cNvPr id="18" name="TextBox 17"/>
          <p:cNvSpPr txBox="1"/>
          <p:nvPr/>
        </p:nvSpPr>
        <p:spPr>
          <a:xfrm>
            <a:off x="9290304" y="1892808"/>
            <a:ext cx="2514600" cy="1600200"/>
          </a:xfrm>
          <a:prstGeom prst="rect">
            <a:avLst/>
          </a:prstGeom>
          <a:noFill/>
        </p:spPr>
        <p:txBody>
          <a:bodyPr wrap="square">
            <a:spAutoFit/>
          </a:bodyPr>
          <a:lstStyle/>
          <a:p>
            <a:pPr algn="l"/>
            <a:r>
              <a:rPr sz="1100" b="0">
                <a:solidFill>
                  <a:srgbClr val="5A6570"/>
                </a:solidFill>
                <a:latin typeface="Calibri"/>
              </a:rPr>
              <a:t>Snap each incident to a 0.01° cell (~1.1 km). Count type, time of day and area inside the cell.</a:t>
            </a:r>
          </a:p>
        </p:txBody>
      </p:sp>
      <p:sp>
        <p:nvSpPr>
          <p:cNvPr id="19" name="Rounded Rectangle 18"/>
          <p:cNvSpPr/>
          <p:nvPr/>
        </p:nvSpPr>
        <p:spPr>
          <a:xfrm>
            <a:off x="365760" y="3840480"/>
            <a:ext cx="2788920"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2064" y="3986784"/>
            <a:ext cx="2514600" cy="411480"/>
          </a:xfrm>
          <a:prstGeom prst="rect">
            <a:avLst/>
          </a:prstGeom>
          <a:noFill/>
        </p:spPr>
        <p:txBody>
          <a:bodyPr wrap="square">
            <a:spAutoFit/>
          </a:bodyPr>
          <a:lstStyle/>
          <a:p>
            <a:pPr algn="l"/>
            <a:r>
              <a:rPr sz="1300" b="1">
                <a:solidFill>
                  <a:srgbClr val="0C2340"/>
                </a:solidFill>
                <a:latin typeface="Calibri"/>
              </a:rPr>
              <a:t>5  Hotspot</a:t>
            </a:r>
          </a:p>
        </p:txBody>
      </p:sp>
      <p:sp>
        <p:nvSpPr>
          <p:cNvPr id="21" name="TextBox 20"/>
          <p:cNvSpPr txBox="1"/>
          <p:nvPr/>
        </p:nvSpPr>
        <p:spPr>
          <a:xfrm>
            <a:off x="512064" y="4407408"/>
            <a:ext cx="2514600" cy="1600200"/>
          </a:xfrm>
          <a:prstGeom prst="rect">
            <a:avLst/>
          </a:prstGeom>
          <a:noFill/>
        </p:spPr>
        <p:txBody>
          <a:bodyPr wrap="square">
            <a:spAutoFit/>
          </a:bodyPr>
          <a:lstStyle/>
          <a:p>
            <a:pPr algn="l"/>
            <a:r>
              <a:rPr sz="1100" b="0">
                <a:solidFill>
                  <a:srgbClr val="5A6570"/>
                </a:solidFill>
                <a:latin typeface="Calibri"/>
              </a:rPr>
              <a:t>A cell with three or more incident-like reports is a hotspot. This measures concentration, not a forecast.</a:t>
            </a:r>
          </a:p>
        </p:txBody>
      </p:sp>
      <p:sp>
        <p:nvSpPr>
          <p:cNvPr id="22" name="Rounded Rectangle 21"/>
          <p:cNvSpPr/>
          <p:nvPr/>
        </p:nvSpPr>
        <p:spPr>
          <a:xfrm>
            <a:off x="3291840" y="3840480"/>
            <a:ext cx="2788920"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38144" y="3986784"/>
            <a:ext cx="2514600" cy="411480"/>
          </a:xfrm>
          <a:prstGeom prst="rect">
            <a:avLst/>
          </a:prstGeom>
          <a:noFill/>
        </p:spPr>
        <p:txBody>
          <a:bodyPr wrap="square">
            <a:spAutoFit/>
          </a:bodyPr>
          <a:lstStyle/>
          <a:p>
            <a:pPr algn="l"/>
            <a:r>
              <a:rPr sz="1300" b="1">
                <a:solidFill>
                  <a:srgbClr val="0C2340"/>
                </a:solidFill>
                <a:latin typeface="Calibri"/>
              </a:rPr>
              <a:t>6  Risk</a:t>
            </a:r>
          </a:p>
        </p:txBody>
      </p:sp>
      <p:sp>
        <p:nvSpPr>
          <p:cNvPr id="24" name="TextBox 23"/>
          <p:cNvSpPr txBox="1"/>
          <p:nvPr/>
        </p:nvSpPr>
        <p:spPr>
          <a:xfrm>
            <a:off x="3438144" y="4407408"/>
            <a:ext cx="2514600" cy="1600200"/>
          </a:xfrm>
          <a:prstGeom prst="rect">
            <a:avLst/>
          </a:prstGeom>
          <a:noFill/>
        </p:spPr>
        <p:txBody>
          <a:bodyPr wrap="square">
            <a:spAutoFit/>
          </a:bodyPr>
          <a:lstStyle/>
          <a:p>
            <a:pPr algn="l"/>
            <a:r>
              <a:rPr sz="1100" b="0">
                <a:solidFill>
                  <a:srgbClr val="5A6570"/>
                </a:solidFill>
                <a:latin typeface="Calibri"/>
              </a:rPr>
              <a:t>High / Medium / Low from count and harassment share. Rules are on the next slide.</a:t>
            </a:r>
          </a:p>
        </p:txBody>
      </p:sp>
      <p:sp>
        <p:nvSpPr>
          <p:cNvPr id="25" name="Rounded Rectangle 24"/>
          <p:cNvSpPr/>
          <p:nvPr/>
        </p:nvSpPr>
        <p:spPr>
          <a:xfrm>
            <a:off x="6217920" y="3840480"/>
            <a:ext cx="2788920"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3986784"/>
            <a:ext cx="2514600" cy="411480"/>
          </a:xfrm>
          <a:prstGeom prst="rect">
            <a:avLst/>
          </a:prstGeom>
          <a:noFill/>
        </p:spPr>
        <p:txBody>
          <a:bodyPr wrap="square">
            <a:spAutoFit/>
          </a:bodyPr>
          <a:lstStyle/>
          <a:p>
            <a:pPr algn="l"/>
            <a:r>
              <a:rPr sz="1300" b="1">
                <a:solidFill>
                  <a:srgbClr val="0C2340"/>
                </a:solidFill>
                <a:latin typeface="Calibri"/>
              </a:rPr>
              <a:t>7  Alerts</a:t>
            </a:r>
          </a:p>
        </p:txBody>
      </p:sp>
      <p:sp>
        <p:nvSpPr>
          <p:cNvPr id="27" name="TextBox 26"/>
          <p:cNvSpPr txBox="1"/>
          <p:nvPr/>
        </p:nvSpPr>
        <p:spPr>
          <a:xfrm>
            <a:off x="6364224" y="4407408"/>
            <a:ext cx="2514600" cy="1600200"/>
          </a:xfrm>
          <a:prstGeom prst="rect">
            <a:avLst/>
          </a:prstGeom>
          <a:noFill/>
        </p:spPr>
        <p:txBody>
          <a:bodyPr wrap="square">
            <a:spAutoFit/>
          </a:bodyPr>
          <a:lstStyle/>
          <a:p>
            <a:pPr algn="l"/>
            <a:r>
              <a:rPr sz="1100" b="0">
                <a:solidFill>
                  <a:srgbClr val="5A6570"/>
                </a:solidFill>
                <a:latin typeface="Calibri"/>
              </a:rPr>
              <a:t>High-risk cells, and cells active in the last 14 days of the dataset, become the patrol list with a location hint.</a:t>
            </a:r>
          </a:p>
        </p:txBody>
      </p:sp>
      <p:sp>
        <p:nvSpPr>
          <p:cNvPr id="28" name="Rounded Rectangle 27"/>
          <p:cNvSpPr/>
          <p:nvPr/>
        </p:nvSpPr>
        <p:spPr>
          <a:xfrm>
            <a:off x="9144000" y="3840480"/>
            <a:ext cx="2788920"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90304" y="3986784"/>
            <a:ext cx="2514600" cy="411480"/>
          </a:xfrm>
          <a:prstGeom prst="rect">
            <a:avLst/>
          </a:prstGeom>
          <a:noFill/>
        </p:spPr>
        <p:txBody>
          <a:bodyPr wrap="square">
            <a:spAutoFit/>
          </a:bodyPr>
          <a:lstStyle/>
          <a:p>
            <a:pPr algn="l"/>
            <a:r>
              <a:rPr sz="1300" b="1">
                <a:solidFill>
                  <a:srgbClr val="0C2340"/>
                </a:solidFill>
                <a:latin typeface="Calibri"/>
              </a:rPr>
              <a:t>8  Publish</a:t>
            </a:r>
          </a:p>
        </p:txBody>
      </p:sp>
      <p:sp>
        <p:nvSpPr>
          <p:cNvPr id="30" name="TextBox 29"/>
          <p:cNvSpPr txBox="1"/>
          <p:nvPr/>
        </p:nvSpPr>
        <p:spPr>
          <a:xfrm>
            <a:off x="9290304" y="4407408"/>
            <a:ext cx="2514600" cy="1600200"/>
          </a:xfrm>
          <a:prstGeom prst="rect">
            <a:avLst/>
          </a:prstGeom>
          <a:noFill/>
        </p:spPr>
        <p:txBody>
          <a:bodyPr wrap="square">
            <a:spAutoFit/>
          </a:bodyPr>
          <a:lstStyle/>
          <a:p>
            <a:pPr algn="l"/>
            <a:r>
              <a:rPr sz="1100" b="0">
                <a:solidFill>
                  <a:srgbClr val="5A6570"/>
                </a:solidFill>
                <a:latin typeface="Calibri"/>
              </a:rPr>
              <a:t>Write analysis/output/ and copy summary, hotspots, alerts and areas into the dashboard for /admin.</a:t>
            </a:r>
          </a:p>
        </p:txBody>
      </p:sp>
      <p:sp>
        <p:nvSpPr>
          <p:cNvPr id="31" name="Rectangle 30"/>
          <p:cNvSpPr/>
          <p:nvPr/>
        </p:nvSpPr>
        <p:spPr>
          <a:xfrm>
            <a:off x="0" y="6656832"/>
            <a:ext cx="12191695" cy="20116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6656832"/>
            <a:ext cx="109728" cy="20116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0040" y="6656832"/>
            <a:ext cx="9509760" cy="201168"/>
          </a:xfrm>
          <a:prstGeom prst="rect">
            <a:avLst/>
          </a:prstGeom>
          <a:noFill/>
        </p:spPr>
        <p:txBody>
          <a:bodyPr wrap="square">
            <a:spAutoFit/>
          </a:bodyPr>
          <a:lstStyle/>
          <a:p>
            <a:pPr algn="l"/>
            <a:r>
              <a:rPr sz="1000" b="0">
                <a:solidFill>
                  <a:srgbClr val="FFFFFF"/>
                </a:solidFill>
                <a:latin typeface="Calibri"/>
              </a:rPr>
              <a:t>BMS Institute of Technology and Management  ·  Department of MCA  ·  Phase I Interim Review  ·  2025–27</a:t>
            </a:r>
          </a:p>
        </p:txBody>
      </p:sp>
      <p:sp>
        <p:nvSpPr>
          <p:cNvPr id="34" name="TextBox 33"/>
          <p:cNvSpPr txBox="1"/>
          <p:nvPr/>
        </p:nvSpPr>
        <p:spPr>
          <a:xfrm>
            <a:off x="10424160" y="6656832"/>
            <a:ext cx="1508760" cy="201168"/>
          </a:xfrm>
          <a:prstGeom prst="rect">
            <a:avLst/>
          </a:prstGeom>
          <a:noFill/>
        </p:spPr>
        <p:txBody>
          <a:bodyPr wrap="square">
            <a:spAutoFit/>
          </a:bodyPr>
          <a:lstStyle/>
          <a:p>
            <a:pPr algn="r"/>
            <a:r>
              <a:rPr sz="1000" b="0">
                <a:solidFill>
                  <a:srgbClr val="C4A35A"/>
                </a:solidFill>
                <a:latin typeface="Calibri"/>
              </a:rPr>
              <a:t>09  /  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36576"/>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37744"/>
          </a:xfrm>
          <a:prstGeom prst="rect">
            <a:avLst/>
          </a:prstGeom>
          <a:noFill/>
        </p:spPr>
        <p:txBody>
          <a:bodyPr wrap="square">
            <a:spAutoFit/>
          </a:bodyPr>
          <a:lstStyle/>
          <a:p>
            <a:pPr algn="l"/>
            <a:r>
              <a:rPr sz="1100" b="1">
                <a:solidFill>
                  <a:srgbClr val="C4A35A"/>
                </a:solidFill>
                <a:latin typeface="Calibri"/>
              </a:rPr>
              <a:t>ANALYSIS ARTEFACTS</a:t>
            </a:r>
          </a:p>
        </p:txBody>
      </p:sp>
      <p:sp>
        <p:nvSpPr>
          <p:cNvPr id="6" name="TextBox 5"/>
          <p:cNvSpPr txBox="1"/>
          <p:nvPr/>
        </p:nvSpPr>
        <p:spPr>
          <a:xfrm>
            <a:off x="457200" y="420624"/>
            <a:ext cx="11247120" cy="420624"/>
          </a:xfrm>
          <a:prstGeom prst="rect">
            <a:avLst/>
          </a:prstGeom>
          <a:noFill/>
        </p:spPr>
        <p:txBody>
          <a:bodyPr wrap="square">
            <a:spAutoFit/>
          </a:bodyPr>
          <a:lstStyle/>
          <a:p>
            <a:pPr algn="l"/>
            <a:r>
              <a:rPr sz="2400" b="1">
                <a:solidFill>
                  <a:srgbClr val="0C2340"/>
                </a:solidFill>
                <a:latin typeface="Calibri"/>
              </a:rPr>
              <a:t>All required files live in analysis/  —  OSM dumps and camera inventories are not part of this module</a:t>
            </a:r>
          </a:p>
        </p:txBody>
      </p:sp>
      <p:sp>
        <p:nvSpPr>
          <p:cNvPr id="7" name="Rounded Rectangle 6"/>
          <p:cNvSpPr/>
          <p:nvPr/>
        </p:nvSpPr>
        <p:spPr>
          <a:xfrm>
            <a:off x="411480" y="1353312"/>
            <a:ext cx="5623560" cy="4800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536192"/>
            <a:ext cx="5166360" cy="365760"/>
          </a:xfrm>
          <a:prstGeom prst="rect">
            <a:avLst/>
          </a:prstGeom>
          <a:noFill/>
        </p:spPr>
        <p:txBody>
          <a:bodyPr wrap="square">
            <a:spAutoFit/>
          </a:bodyPr>
          <a:lstStyle/>
          <a:p>
            <a:pPr algn="l"/>
            <a:r>
              <a:rPr sz="1600" b="1">
                <a:solidFill>
                  <a:srgbClr val="0C2340"/>
                </a:solidFill>
                <a:latin typeface="Calibri"/>
              </a:rPr>
              <a:t>Input  (analysis/input/)</a:t>
            </a:r>
          </a:p>
        </p:txBody>
      </p:sp>
      <p:sp>
        <p:nvSpPr>
          <p:cNvPr id="9" name="TextBox 8"/>
          <p:cNvSpPr txBox="1"/>
          <p:nvPr/>
        </p:nvSpPr>
        <p:spPr>
          <a:xfrm>
            <a:off x="640080" y="2011680"/>
            <a:ext cx="5166360" cy="3840480"/>
          </a:xfrm>
          <a:prstGeom prst="rect">
            <a:avLst/>
          </a:prstGeom>
          <a:noFill/>
        </p:spPr>
        <p:txBody>
          <a:bodyPr wrap="square">
            <a:spAutoFit/>
          </a:bodyPr>
          <a:lstStyle/>
          <a:p>
            <a:pPr>
              <a:spcAft>
                <a:spcPts val="800"/>
              </a:spcAft>
            </a:pPr>
            <a:r>
              <a:rPr sz="1300" b="0">
                <a:solidFill>
                  <a:srgbClr val="1B2430"/>
                </a:solidFill>
                <a:latin typeface="Calibri"/>
              </a:rPr>
              <a:t>•  Dataset: PBL/Dataset/Karnataka — 30 districts, 604,573 OSM streets.</a:t>
            </a:r>
          </a:p>
          <a:p>
            <a:pPr>
              <a:spcAft>
                <a:spcPts val="800"/>
              </a:spcAft>
            </a:pPr>
            <a:r>
              <a:rPr sz="1300" b="0">
                <a:solidFill>
                  <a:srgbClr val="1B2430"/>
                </a:solidFill>
                <a:latin typeface="Calibri"/>
              </a:rPr>
              <a:t>•  reports.json — 1,079 approved app-schema demo reports across Karnataka.</a:t>
            </a:r>
          </a:p>
          <a:p>
            <a:pPr>
              <a:spcAft>
                <a:spcPts val="800"/>
              </a:spcAft>
            </a:pPr>
            <a:r>
              <a:rPr sz="1300" b="0">
                <a:solidFill>
                  <a:srgbClr val="1B2430"/>
                </a:solidFill>
                <a:latin typeface="Calibri"/>
              </a:rPr>
              <a:t>•  osm_districts.json — Safe / Moderate / Unsafe street counts per district.</a:t>
            </a:r>
          </a:p>
          <a:p>
            <a:pPr>
              <a:spcAft>
                <a:spcPts val="800"/>
              </a:spcAft>
            </a:pPr>
            <a:r>
              <a:rPr sz="1300" b="0">
                <a:solidFill>
                  <a:srgbClr val="1B2430"/>
                </a:solidFill>
                <a:latin typeface="Calibri"/>
              </a:rPr>
              <a:t>•  crime_context.json — KSP totals for all 30 districts. Not hotspot coordinates.</a:t>
            </a:r>
          </a:p>
          <a:p>
            <a:pPr>
              <a:spcAft>
                <a:spcPts val="800"/>
              </a:spcAft>
            </a:pPr>
            <a:r>
              <a:rPr sz="1300" b="0">
                <a:solidFill>
                  <a:srgbClr val="1B2430"/>
                </a:solidFill>
                <a:latin typeface="Calibri"/>
              </a:rPr>
              <a:t>•  SOURCES.json — provenance of each input.</a:t>
            </a:r>
          </a:p>
        </p:txBody>
      </p:sp>
      <p:sp>
        <p:nvSpPr>
          <p:cNvPr id="10" name="Rounded Rectangle 9"/>
          <p:cNvSpPr/>
          <p:nvPr/>
        </p:nvSpPr>
        <p:spPr>
          <a:xfrm>
            <a:off x="6172200" y="1353312"/>
            <a:ext cx="5577840" cy="4800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536192"/>
            <a:ext cx="5120640" cy="365760"/>
          </a:xfrm>
          <a:prstGeom prst="rect">
            <a:avLst/>
          </a:prstGeom>
          <a:noFill/>
        </p:spPr>
        <p:txBody>
          <a:bodyPr wrap="square">
            <a:spAutoFit/>
          </a:bodyPr>
          <a:lstStyle/>
          <a:p>
            <a:pPr algn="l"/>
            <a:r>
              <a:rPr sz="1600" b="1">
                <a:solidFill>
                  <a:srgbClr val="0C2340"/>
                </a:solidFill>
                <a:latin typeface="Calibri"/>
              </a:rPr>
              <a:t>Output  (analysis/output/)</a:t>
            </a:r>
          </a:p>
        </p:txBody>
      </p:sp>
      <p:sp>
        <p:nvSpPr>
          <p:cNvPr id="12" name="TextBox 11"/>
          <p:cNvSpPr txBox="1"/>
          <p:nvPr/>
        </p:nvSpPr>
        <p:spPr>
          <a:xfrm>
            <a:off x="6400800" y="2011680"/>
            <a:ext cx="5120640" cy="3840480"/>
          </a:xfrm>
          <a:prstGeom prst="rect">
            <a:avLst/>
          </a:prstGeom>
          <a:noFill/>
        </p:spPr>
        <p:txBody>
          <a:bodyPr wrap="square">
            <a:spAutoFit/>
          </a:bodyPr>
          <a:lstStyle/>
          <a:p>
            <a:pPr>
              <a:spcAft>
                <a:spcPts val="800"/>
              </a:spcAft>
            </a:pPr>
            <a:r>
              <a:rPr sz="1300" b="0">
                <a:solidFill>
                  <a:srgbClr val="1B2430"/>
                </a:solidFill>
                <a:latin typeface="Calibri"/>
              </a:rPr>
              <a:t>•  incident_view.json — classified incidents with 1 km cell.</a:t>
            </a:r>
          </a:p>
          <a:p>
            <a:pPr>
              <a:spcAft>
                <a:spcPts val="800"/>
              </a:spcAft>
            </a:pPr>
            <a:r>
              <a:rPr sz="1300" b="0">
                <a:solidFill>
                  <a:srgbClr val="1B2430"/>
                </a:solidFill>
                <a:latin typeface="Calibri"/>
              </a:rPr>
              <a:t>•  hotspots.json — 26 cells with count, type mix, peak time, first/last seen.</a:t>
            </a:r>
          </a:p>
          <a:p>
            <a:pPr>
              <a:spcAft>
                <a:spcPts val="800"/>
              </a:spcAft>
            </a:pPr>
            <a:r>
              <a:rPr sz="1300" b="0">
                <a:solidFill>
                  <a:srgbClr val="1B2430"/>
                </a:solidFill>
                <a:latin typeface="Calibri"/>
              </a:rPr>
              <a:t>•  alerts.json — 21 patrol items with a location hint.</a:t>
            </a:r>
          </a:p>
          <a:p>
            <a:pPr>
              <a:spcAft>
                <a:spcPts val="800"/>
              </a:spcAft>
            </a:pPr>
            <a:r>
              <a:rPr sz="1300" b="0">
                <a:solidFill>
                  <a:srgbClr val="1B2430"/>
                </a:solidFill>
                <a:latin typeface="Calibri"/>
              </a:rPr>
              <a:t>•  areas.json — area-level risk joined to OSM scores.</a:t>
            </a:r>
          </a:p>
          <a:p>
            <a:pPr>
              <a:spcAft>
                <a:spcPts val="800"/>
              </a:spcAft>
            </a:pPr>
            <a:r>
              <a:rPr sz="1300" b="0">
                <a:solidFill>
                  <a:srgbClr val="1B2430"/>
                </a:solidFill>
                <a:latin typeface="Calibri"/>
              </a:rPr>
              <a:t>•  summary.json — counts and honesty notes.</a:t>
            </a:r>
          </a:p>
          <a:p>
            <a:pPr>
              <a:spcAft>
                <a:spcPts val="800"/>
              </a:spcAft>
            </a:pPr>
            <a:r>
              <a:rPr sz="1300" b="0">
                <a:solidFill>
                  <a:srgbClr val="1B2430"/>
                </a:solidFill>
                <a:latin typeface="Calibri"/>
              </a:rPr>
              <a:t>•  pipeline_log.json — step-by-step record of the last run.</a:t>
            </a:r>
          </a:p>
        </p:txBody>
      </p:sp>
      <p:sp>
        <p:nvSpPr>
          <p:cNvPr id="13" name="Rectangle 12"/>
          <p:cNvSpPr/>
          <p:nvPr/>
        </p:nvSpPr>
        <p:spPr>
          <a:xfrm>
            <a:off x="0" y="6656832"/>
            <a:ext cx="12191695" cy="20116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6656832"/>
            <a:ext cx="109728" cy="20116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 y="6656832"/>
            <a:ext cx="9509760" cy="201168"/>
          </a:xfrm>
          <a:prstGeom prst="rect">
            <a:avLst/>
          </a:prstGeom>
          <a:noFill/>
        </p:spPr>
        <p:txBody>
          <a:bodyPr wrap="square">
            <a:spAutoFit/>
          </a:bodyPr>
          <a:lstStyle/>
          <a:p>
            <a:pPr algn="l"/>
            <a:r>
              <a:rPr sz="1000" b="0">
                <a:solidFill>
                  <a:srgbClr val="FFFFFF"/>
                </a:solidFill>
                <a:latin typeface="Calibri"/>
              </a:rPr>
              <a:t>BMS Institute of Technology and Management  ·  Department of MCA  ·  Phase I Interim Review  ·  2025–27</a:t>
            </a:r>
          </a:p>
        </p:txBody>
      </p:sp>
      <p:sp>
        <p:nvSpPr>
          <p:cNvPr id="16" name="TextBox 15"/>
          <p:cNvSpPr txBox="1"/>
          <p:nvPr/>
        </p:nvSpPr>
        <p:spPr>
          <a:xfrm>
            <a:off x="10424160" y="6656832"/>
            <a:ext cx="1508760" cy="201168"/>
          </a:xfrm>
          <a:prstGeom prst="rect">
            <a:avLst/>
          </a:prstGeom>
          <a:noFill/>
        </p:spPr>
        <p:txBody>
          <a:bodyPr wrap="square">
            <a:spAutoFit/>
          </a:bodyPr>
          <a:lstStyle/>
          <a:p>
            <a:pPr algn="r"/>
            <a:r>
              <a:rPr sz="1000" b="0">
                <a:solidFill>
                  <a:srgbClr val="C4A35A"/>
                </a:solidFill>
                <a:latin typeface="Calibri"/>
              </a:rPr>
              <a:t>10  /  23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36576"/>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37744"/>
          </a:xfrm>
          <a:prstGeom prst="rect">
            <a:avLst/>
          </a:prstGeom>
          <a:noFill/>
        </p:spPr>
        <p:txBody>
          <a:bodyPr wrap="square">
            <a:spAutoFit/>
          </a:bodyPr>
          <a:lstStyle/>
          <a:p>
            <a:pPr algn="l"/>
            <a:r>
              <a:rPr sz="1100" b="1">
                <a:solidFill>
                  <a:srgbClr val="C4A35A"/>
                </a:solidFill>
                <a:latin typeface="Calibri"/>
              </a:rPr>
              <a:t>RISK MODEL</a:t>
            </a:r>
          </a:p>
        </p:txBody>
      </p:sp>
      <p:sp>
        <p:nvSpPr>
          <p:cNvPr id="6" name="TextBox 5"/>
          <p:cNvSpPr txBox="1"/>
          <p:nvPr/>
        </p:nvSpPr>
        <p:spPr>
          <a:xfrm>
            <a:off x="457200" y="420624"/>
            <a:ext cx="11247120" cy="420624"/>
          </a:xfrm>
          <a:prstGeom prst="rect">
            <a:avLst/>
          </a:prstGeom>
          <a:noFill/>
        </p:spPr>
        <p:txBody>
          <a:bodyPr wrap="square">
            <a:spAutoFit/>
          </a:bodyPr>
          <a:lstStyle/>
          <a:p>
            <a:pPr algn="l"/>
            <a:r>
              <a:rPr sz="2400" b="1">
                <a:solidFill>
                  <a:srgbClr val="0C2340"/>
                </a:solidFill>
                <a:latin typeface="Calibri"/>
              </a:rPr>
              <a:t>Explainable rules. An officer can defend the label in a briefing.</a:t>
            </a:r>
          </a:p>
        </p:txBody>
      </p:sp>
      <p:sp>
        <p:nvSpPr>
          <p:cNvPr id="7" name="Rounded Rectangle 6"/>
          <p:cNvSpPr/>
          <p:nvPr/>
        </p:nvSpPr>
        <p:spPr>
          <a:xfrm>
            <a:off x="457200" y="1371600"/>
            <a:ext cx="11247120" cy="10607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554480"/>
            <a:ext cx="1691640" cy="685800"/>
          </a:xfrm>
          <a:prstGeom prst="round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700784"/>
            <a:ext cx="1691640" cy="438912"/>
          </a:xfrm>
          <a:prstGeom prst="rect">
            <a:avLst/>
          </a:prstGeom>
          <a:noFill/>
        </p:spPr>
        <p:txBody>
          <a:bodyPr wrap="square">
            <a:spAutoFit/>
          </a:bodyPr>
          <a:lstStyle/>
          <a:p>
            <a:pPr algn="ctr"/>
            <a:r>
              <a:rPr sz="1600" b="1">
                <a:solidFill>
                  <a:srgbClr val="FFFFFF"/>
                </a:solidFill>
                <a:latin typeface="Calibri"/>
              </a:rPr>
              <a:t>High</a:t>
            </a:r>
          </a:p>
        </p:txBody>
      </p:sp>
      <p:sp>
        <p:nvSpPr>
          <p:cNvPr id="10" name="TextBox 9"/>
          <p:cNvSpPr txBox="1"/>
          <p:nvPr/>
        </p:nvSpPr>
        <p:spPr>
          <a:xfrm>
            <a:off x="2560320" y="1664208"/>
            <a:ext cx="8869680" cy="594360"/>
          </a:xfrm>
          <a:prstGeom prst="rect">
            <a:avLst/>
          </a:prstGeom>
          <a:noFill/>
        </p:spPr>
        <p:txBody>
          <a:bodyPr wrap="square">
            <a:spAutoFit/>
          </a:bodyPr>
          <a:lstStyle/>
          <a:p>
            <a:pPr algn="l"/>
            <a:r>
              <a:rPr sz="1600" b="0">
                <a:solidFill>
                  <a:srgbClr val="1B2430"/>
                </a:solidFill>
                <a:latin typeface="Calibri"/>
              </a:rPr>
              <a:t>Eight or more incident-like reports in the cell, or five or more with harassment share ≥ 40%.</a:t>
            </a:r>
          </a:p>
        </p:txBody>
      </p:sp>
      <p:sp>
        <p:nvSpPr>
          <p:cNvPr id="11" name="Rounded Rectangle 10"/>
          <p:cNvSpPr/>
          <p:nvPr/>
        </p:nvSpPr>
        <p:spPr>
          <a:xfrm>
            <a:off x="457200" y="2542032"/>
            <a:ext cx="11247120" cy="10607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8368" y="2724912"/>
            <a:ext cx="1691640" cy="68580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2871216"/>
            <a:ext cx="1691640" cy="438912"/>
          </a:xfrm>
          <a:prstGeom prst="rect">
            <a:avLst/>
          </a:prstGeom>
          <a:noFill/>
        </p:spPr>
        <p:txBody>
          <a:bodyPr wrap="square">
            <a:spAutoFit/>
          </a:bodyPr>
          <a:lstStyle/>
          <a:p>
            <a:pPr algn="ctr"/>
            <a:r>
              <a:rPr sz="1600" b="1">
                <a:solidFill>
                  <a:srgbClr val="FFFFFF"/>
                </a:solidFill>
                <a:latin typeface="Calibri"/>
              </a:rPr>
              <a:t>Medium</a:t>
            </a:r>
          </a:p>
        </p:txBody>
      </p:sp>
      <p:sp>
        <p:nvSpPr>
          <p:cNvPr id="14" name="TextBox 13"/>
          <p:cNvSpPr txBox="1"/>
          <p:nvPr/>
        </p:nvSpPr>
        <p:spPr>
          <a:xfrm>
            <a:off x="2560320" y="2834640"/>
            <a:ext cx="8869680" cy="594360"/>
          </a:xfrm>
          <a:prstGeom prst="rect">
            <a:avLst/>
          </a:prstGeom>
          <a:noFill/>
        </p:spPr>
        <p:txBody>
          <a:bodyPr wrap="square">
            <a:spAutoFit/>
          </a:bodyPr>
          <a:lstStyle/>
          <a:p>
            <a:pPr algn="l"/>
            <a:r>
              <a:rPr sz="1600" b="0">
                <a:solidFill>
                  <a:srgbClr val="1B2430"/>
                </a:solidFill>
                <a:latin typeface="Calibri"/>
              </a:rPr>
              <a:t>Four or more incident-like reports in the cell, below the High threshold.</a:t>
            </a:r>
          </a:p>
        </p:txBody>
      </p:sp>
      <p:sp>
        <p:nvSpPr>
          <p:cNvPr id="15" name="Rounded Rectangle 14"/>
          <p:cNvSpPr/>
          <p:nvPr/>
        </p:nvSpPr>
        <p:spPr>
          <a:xfrm>
            <a:off x="457200" y="3712464"/>
            <a:ext cx="11247120" cy="10607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8368" y="3895344"/>
            <a:ext cx="1691640" cy="685800"/>
          </a:xfrm>
          <a:prstGeom prst="roundRect">
            <a:avLst/>
          </a:prstGeom>
          <a:solidFill>
            <a:srgbClr val="2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4041648"/>
            <a:ext cx="1691640" cy="438912"/>
          </a:xfrm>
          <a:prstGeom prst="rect">
            <a:avLst/>
          </a:prstGeom>
          <a:noFill/>
        </p:spPr>
        <p:txBody>
          <a:bodyPr wrap="square">
            <a:spAutoFit/>
          </a:bodyPr>
          <a:lstStyle/>
          <a:p>
            <a:pPr algn="ctr"/>
            <a:r>
              <a:rPr sz="1600" b="1">
                <a:solidFill>
                  <a:srgbClr val="FFFFFF"/>
                </a:solidFill>
                <a:latin typeface="Calibri"/>
              </a:rPr>
              <a:t>Low</a:t>
            </a:r>
          </a:p>
        </p:txBody>
      </p:sp>
      <p:sp>
        <p:nvSpPr>
          <p:cNvPr id="18" name="TextBox 17"/>
          <p:cNvSpPr txBox="1"/>
          <p:nvPr/>
        </p:nvSpPr>
        <p:spPr>
          <a:xfrm>
            <a:off x="2560320" y="4005072"/>
            <a:ext cx="8869680" cy="594360"/>
          </a:xfrm>
          <a:prstGeom prst="rect">
            <a:avLst/>
          </a:prstGeom>
          <a:noFill/>
        </p:spPr>
        <p:txBody>
          <a:bodyPr wrap="square">
            <a:spAutoFit/>
          </a:bodyPr>
          <a:lstStyle/>
          <a:p>
            <a:pPr algn="l"/>
            <a:r>
              <a:rPr sz="1600" b="0">
                <a:solidFill>
                  <a:srgbClr val="1B2430"/>
                </a:solidFill>
                <a:latin typeface="Calibri"/>
              </a:rPr>
              <a:t>The cell is a hotspot (three or more reports) but remains below Medium.</a:t>
            </a:r>
          </a:p>
        </p:txBody>
      </p:sp>
      <p:sp>
        <p:nvSpPr>
          <p:cNvPr id="19" name="TextBox 18"/>
          <p:cNvSpPr txBox="1"/>
          <p:nvPr/>
        </p:nvSpPr>
        <p:spPr>
          <a:xfrm>
            <a:off x="457200" y="4983480"/>
            <a:ext cx="11247120" cy="1371600"/>
          </a:xfrm>
          <a:prstGeom prst="rect">
            <a:avLst/>
          </a:prstGeom>
          <a:noFill/>
        </p:spPr>
        <p:txBody>
          <a:bodyPr wrap="square">
            <a:spAutoFit/>
          </a:bodyPr>
          <a:lstStyle/>
          <a:p>
            <a:pPr algn="l"/>
            <a:r>
              <a:rPr sz="1300" b="0">
                <a:solidFill>
                  <a:srgbClr val="5A6570"/>
                </a:solidFill>
                <a:latin typeface="Calibri"/>
              </a:rPr>
              <a:t>OSM street scores (lighting, cameras, police proximity) are joined on the same area as context. They do not invent crime counts.
KSP 2023–24 tables remain at district grain. The pipeline sets crime_used_as_coordinates = false.
A hotspot is a concentration of community reports. It is not a predicted future offence.</a:t>
            </a:r>
          </a:p>
        </p:txBody>
      </p:sp>
      <p:sp>
        <p:nvSpPr>
          <p:cNvPr id="20" name="Rectangle 19"/>
          <p:cNvSpPr/>
          <p:nvPr/>
        </p:nvSpPr>
        <p:spPr>
          <a:xfrm>
            <a:off x="0" y="6656832"/>
            <a:ext cx="12191695" cy="20116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656832"/>
            <a:ext cx="109728" cy="20116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0040" y="6656832"/>
            <a:ext cx="9509760" cy="201168"/>
          </a:xfrm>
          <a:prstGeom prst="rect">
            <a:avLst/>
          </a:prstGeom>
          <a:noFill/>
        </p:spPr>
        <p:txBody>
          <a:bodyPr wrap="square">
            <a:spAutoFit/>
          </a:bodyPr>
          <a:lstStyle/>
          <a:p>
            <a:pPr algn="l"/>
            <a:r>
              <a:rPr sz="1000" b="0">
                <a:solidFill>
                  <a:srgbClr val="FFFFFF"/>
                </a:solidFill>
                <a:latin typeface="Calibri"/>
              </a:rPr>
              <a:t>BMS Institute of Technology and Management  ·  Department of MCA  ·  Phase I Interim Review  ·  2025–27</a:t>
            </a:r>
          </a:p>
        </p:txBody>
      </p:sp>
      <p:sp>
        <p:nvSpPr>
          <p:cNvPr id="23" name="TextBox 22"/>
          <p:cNvSpPr txBox="1"/>
          <p:nvPr/>
        </p:nvSpPr>
        <p:spPr>
          <a:xfrm>
            <a:off x="10424160" y="6656832"/>
            <a:ext cx="1508760" cy="201168"/>
          </a:xfrm>
          <a:prstGeom prst="rect">
            <a:avLst/>
          </a:prstGeom>
          <a:noFill/>
        </p:spPr>
        <p:txBody>
          <a:bodyPr wrap="square">
            <a:spAutoFit/>
          </a:bodyPr>
          <a:lstStyle/>
          <a:p>
            <a:pPr algn="r"/>
            <a:r>
              <a:rPr sz="1000" b="0">
                <a:solidFill>
                  <a:srgbClr val="C4A35A"/>
                </a:solidFill>
                <a:latin typeface="Calibri"/>
              </a:rPr>
              <a:t>11  /  23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36576"/>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37744"/>
          </a:xfrm>
          <a:prstGeom prst="rect">
            <a:avLst/>
          </a:prstGeom>
          <a:noFill/>
        </p:spPr>
        <p:txBody>
          <a:bodyPr wrap="square">
            <a:spAutoFit/>
          </a:bodyPr>
          <a:lstStyle/>
          <a:p>
            <a:pPr algn="l"/>
            <a:r>
              <a:rPr sz="1100" b="1">
                <a:solidFill>
                  <a:srgbClr val="C4A35A"/>
                </a:solidFill>
                <a:latin typeface="Calibri"/>
              </a:rPr>
              <a:t>CURRENT ANALYSIS RESULT</a:t>
            </a:r>
          </a:p>
        </p:txBody>
      </p:sp>
      <p:sp>
        <p:nvSpPr>
          <p:cNvPr id="6" name="TextBox 5"/>
          <p:cNvSpPr txBox="1"/>
          <p:nvPr/>
        </p:nvSpPr>
        <p:spPr>
          <a:xfrm>
            <a:off x="457200" y="420624"/>
            <a:ext cx="11247120" cy="420624"/>
          </a:xfrm>
          <a:prstGeom prst="rect">
            <a:avLst/>
          </a:prstGeom>
          <a:noFill/>
        </p:spPr>
        <p:txBody>
          <a:bodyPr wrap="square">
            <a:spAutoFit/>
          </a:bodyPr>
          <a:lstStyle/>
          <a:p>
            <a:pPr algn="l"/>
            <a:r>
              <a:rPr sz="2400" b="1">
                <a:solidFill>
                  <a:srgbClr val="0C2340"/>
                </a:solidFill>
                <a:latin typeface="Calibri"/>
              </a:rPr>
              <a:t>Last run of analysis/pipeline.py  ·  Karnataka  ·  1,079 demo reports  ·  0 live rows</a:t>
            </a:r>
          </a:p>
        </p:txBody>
      </p:sp>
      <p:sp>
        <p:nvSpPr>
          <p:cNvPr id="7" name="Rounded Rectangle 6"/>
          <p:cNvSpPr/>
          <p:nvPr/>
        </p:nvSpPr>
        <p:spPr>
          <a:xfrm>
            <a:off x="457200" y="1325880"/>
            <a:ext cx="2743200" cy="1417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444752"/>
            <a:ext cx="2743200" cy="685800"/>
          </a:xfrm>
          <a:prstGeom prst="rect">
            <a:avLst/>
          </a:prstGeom>
          <a:noFill/>
        </p:spPr>
        <p:txBody>
          <a:bodyPr wrap="square">
            <a:spAutoFit/>
          </a:bodyPr>
          <a:lstStyle/>
          <a:p>
            <a:pPr algn="ctr"/>
            <a:r>
              <a:rPr sz="3200" b="1">
                <a:solidFill>
                  <a:srgbClr val="0C2340"/>
                </a:solidFill>
                <a:latin typeface="Calibri"/>
              </a:rPr>
              <a:t>1079</a:t>
            </a:r>
          </a:p>
        </p:txBody>
      </p:sp>
      <p:sp>
        <p:nvSpPr>
          <p:cNvPr id="9" name="TextBox 8"/>
          <p:cNvSpPr txBox="1"/>
          <p:nvPr/>
        </p:nvSpPr>
        <p:spPr>
          <a:xfrm>
            <a:off x="457200" y="2148840"/>
            <a:ext cx="2743200" cy="384048"/>
          </a:xfrm>
          <a:prstGeom prst="rect">
            <a:avLst/>
          </a:prstGeom>
          <a:noFill/>
        </p:spPr>
        <p:txBody>
          <a:bodyPr wrap="square">
            <a:spAutoFit/>
          </a:bodyPr>
          <a:lstStyle/>
          <a:p>
            <a:pPr algn="ctr"/>
            <a:r>
              <a:rPr sz="1300" b="0">
                <a:solidFill>
                  <a:srgbClr val="5A6570"/>
                </a:solidFill>
                <a:latin typeface="Calibri"/>
              </a:rPr>
              <a:t>Reports after clean</a:t>
            </a:r>
          </a:p>
        </p:txBody>
      </p:sp>
      <p:sp>
        <p:nvSpPr>
          <p:cNvPr id="10" name="Rounded Rectangle 9"/>
          <p:cNvSpPr/>
          <p:nvPr/>
        </p:nvSpPr>
        <p:spPr>
          <a:xfrm>
            <a:off x="3383280" y="1325880"/>
            <a:ext cx="2743200" cy="1417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444752"/>
            <a:ext cx="2743200" cy="685800"/>
          </a:xfrm>
          <a:prstGeom prst="rect">
            <a:avLst/>
          </a:prstGeom>
          <a:noFill/>
        </p:spPr>
        <p:txBody>
          <a:bodyPr wrap="square">
            <a:spAutoFit/>
          </a:bodyPr>
          <a:lstStyle/>
          <a:p>
            <a:pPr algn="ctr"/>
            <a:r>
              <a:rPr sz="3200" b="1">
                <a:solidFill>
                  <a:srgbClr val="8B1E3F"/>
                </a:solidFill>
                <a:latin typeface="Calibri"/>
              </a:rPr>
              <a:t>534</a:t>
            </a:r>
          </a:p>
        </p:txBody>
      </p:sp>
      <p:sp>
        <p:nvSpPr>
          <p:cNvPr id="12" name="TextBox 11"/>
          <p:cNvSpPr txBox="1"/>
          <p:nvPr/>
        </p:nvSpPr>
        <p:spPr>
          <a:xfrm>
            <a:off x="3383280" y="2148840"/>
            <a:ext cx="2743200" cy="384048"/>
          </a:xfrm>
          <a:prstGeom prst="rect">
            <a:avLst/>
          </a:prstGeom>
          <a:noFill/>
        </p:spPr>
        <p:txBody>
          <a:bodyPr wrap="square">
            <a:spAutoFit/>
          </a:bodyPr>
          <a:lstStyle/>
          <a:p>
            <a:pPr algn="ctr"/>
            <a:r>
              <a:rPr sz="1300" b="0">
                <a:solidFill>
                  <a:srgbClr val="5A6570"/>
                </a:solidFill>
                <a:latin typeface="Calibri"/>
              </a:rPr>
              <a:t>Incident-like</a:t>
            </a:r>
          </a:p>
        </p:txBody>
      </p:sp>
      <p:sp>
        <p:nvSpPr>
          <p:cNvPr id="13" name="Rounded Rectangle 12"/>
          <p:cNvSpPr/>
          <p:nvPr/>
        </p:nvSpPr>
        <p:spPr>
          <a:xfrm>
            <a:off x="6309360" y="1325880"/>
            <a:ext cx="2743200" cy="1417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1444752"/>
            <a:ext cx="2743200" cy="685800"/>
          </a:xfrm>
          <a:prstGeom prst="rect">
            <a:avLst/>
          </a:prstGeom>
          <a:noFill/>
        </p:spPr>
        <p:txBody>
          <a:bodyPr wrap="square">
            <a:spAutoFit/>
          </a:bodyPr>
          <a:lstStyle/>
          <a:p>
            <a:pPr algn="ctr"/>
            <a:r>
              <a:rPr sz="3200" b="1">
                <a:solidFill>
                  <a:srgbClr val="B45309"/>
                </a:solidFill>
                <a:latin typeface="Calibri"/>
              </a:rPr>
              <a:t>72</a:t>
            </a:r>
          </a:p>
        </p:txBody>
      </p:sp>
      <p:sp>
        <p:nvSpPr>
          <p:cNvPr id="15" name="TextBox 14"/>
          <p:cNvSpPr txBox="1"/>
          <p:nvPr/>
        </p:nvSpPr>
        <p:spPr>
          <a:xfrm>
            <a:off x="6309360" y="2148840"/>
            <a:ext cx="2743200" cy="384048"/>
          </a:xfrm>
          <a:prstGeom prst="rect">
            <a:avLst/>
          </a:prstGeom>
          <a:noFill/>
        </p:spPr>
        <p:txBody>
          <a:bodyPr wrap="square">
            <a:spAutoFit/>
          </a:bodyPr>
          <a:lstStyle/>
          <a:p>
            <a:pPr algn="ctr"/>
            <a:r>
              <a:rPr sz="1300" b="0">
                <a:solidFill>
                  <a:srgbClr val="5A6570"/>
                </a:solidFill>
                <a:latin typeface="Calibri"/>
              </a:rPr>
              <a:t>Hotspot cells</a:t>
            </a:r>
          </a:p>
        </p:txBody>
      </p:sp>
      <p:sp>
        <p:nvSpPr>
          <p:cNvPr id="16" name="Rounded Rectangle 15"/>
          <p:cNvSpPr/>
          <p:nvPr/>
        </p:nvSpPr>
        <p:spPr>
          <a:xfrm>
            <a:off x="9235440" y="1325880"/>
            <a:ext cx="2743200" cy="1417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0" y="1444752"/>
            <a:ext cx="2743200" cy="685800"/>
          </a:xfrm>
          <a:prstGeom prst="rect">
            <a:avLst/>
          </a:prstGeom>
          <a:noFill/>
        </p:spPr>
        <p:txBody>
          <a:bodyPr wrap="square">
            <a:spAutoFit/>
          </a:bodyPr>
          <a:lstStyle/>
          <a:p>
            <a:pPr algn="ctr"/>
            <a:r>
              <a:rPr sz="3200" b="1">
                <a:solidFill>
                  <a:srgbClr val="1F6B4A"/>
                </a:solidFill>
                <a:latin typeface="Calibri"/>
              </a:rPr>
              <a:t>55</a:t>
            </a:r>
          </a:p>
        </p:txBody>
      </p:sp>
      <p:sp>
        <p:nvSpPr>
          <p:cNvPr id="18" name="TextBox 17"/>
          <p:cNvSpPr txBox="1"/>
          <p:nvPr/>
        </p:nvSpPr>
        <p:spPr>
          <a:xfrm>
            <a:off x="9235440" y="2148840"/>
            <a:ext cx="2743200" cy="384048"/>
          </a:xfrm>
          <a:prstGeom prst="rect">
            <a:avLst/>
          </a:prstGeom>
          <a:noFill/>
        </p:spPr>
        <p:txBody>
          <a:bodyPr wrap="square">
            <a:spAutoFit/>
          </a:bodyPr>
          <a:lstStyle/>
          <a:p>
            <a:pPr algn="ctr"/>
            <a:r>
              <a:rPr sz="1300" b="0">
                <a:solidFill>
                  <a:srgbClr val="5A6570"/>
                </a:solidFill>
                <a:latin typeface="Calibri"/>
              </a:rPr>
              <a:t>Patrol alerts</a:t>
            </a:r>
          </a:p>
        </p:txBody>
      </p:sp>
      <p:sp>
        <p:nvSpPr>
          <p:cNvPr id="19" name="TextBox 18"/>
          <p:cNvSpPr txBox="1"/>
          <p:nvPr/>
        </p:nvSpPr>
        <p:spPr>
          <a:xfrm>
            <a:off x="457200" y="2926080"/>
            <a:ext cx="10972800" cy="292608"/>
          </a:xfrm>
          <a:prstGeom prst="rect">
            <a:avLst/>
          </a:prstGeom>
          <a:noFill/>
        </p:spPr>
        <p:txBody>
          <a:bodyPr wrap="square">
            <a:spAutoFit/>
          </a:bodyPr>
          <a:lstStyle/>
          <a:p>
            <a:pPr algn="l"/>
            <a:r>
              <a:rPr sz="1400" b="1">
                <a:solidFill>
                  <a:srgbClr val="0C2340"/>
                </a:solidFill>
                <a:latin typeface="Calibri"/>
              </a:rPr>
              <a:t>Risk split of the 72 hotspot cells</a:t>
            </a:r>
          </a:p>
        </p:txBody>
      </p:sp>
      <p:sp>
        <p:nvSpPr>
          <p:cNvPr id="20" name="Rounded Rectangle 19"/>
          <p:cNvSpPr/>
          <p:nvPr/>
        </p:nvSpPr>
        <p:spPr>
          <a:xfrm>
            <a:off x="457200" y="3273552"/>
            <a:ext cx="2194560" cy="457200"/>
          </a:xfrm>
          <a:prstGeom prst="round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328416"/>
            <a:ext cx="2194560" cy="365760"/>
          </a:xfrm>
          <a:prstGeom prst="rect">
            <a:avLst/>
          </a:prstGeom>
          <a:noFill/>
        </p:spPr>
        <p:txBody>
          <a:bodyPr wrap="square">
            <a:spAutoFit/>
          </a:bodyPr>
          <a:lstStyle/>
          <a:p>
            <a:pPr algn="ctr"/>
            <a:r>
              <a:rPr sz="1300" b="1">
                <a:solidFill>
                  <a:srgbClr val="FFFFFF"/>
                </a:solidFill>
                <a:latin typeface="Calibri"/>
              </a:rPr>
              <a:t>High    30</a:t>
            </a:r>
          </a:p>
        </p:txBody>
      </p:sp>
      <p:sp>
        <p:nvSpPr>
          <p:cNvPr id="22" name="Rounded Rectangle 21"/>
          <p:cNvSpPr/>
          <p:nvPr/>
        </p:nvSpPr>
        <p:spPr>
          <a:xfrm>
            <a:off x="2788920" y="3273552"/>
            <a:ext cx="2194560" cy="45720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88920" y="3328416"/>
            <a:ext cx="2194560" cy="365760"/>
          </a:xfrm>
          <a:prstGeom prst="rect">
            <a:avLst/>
          </a:prstGeom>
          <a:noFill/>
        </p:spPr>
        <p:txBody>
          <a:bodyPr wrap="square">
            <a:spAutoFit/>
          </a:bodyPr>
          <a:lstStyle/>
          <a:p>
            <a:pPr algn="ctr"/>
            <a:r>
              <a:rPr sz="1300" b="1">
                <a:solidFill>
                  <a:srgbClr val="FFFFFF"/>
                </a:solidFill>
                <a:latin typeface="Calibri"/>
              </a:rPr>
              <a:t>Medium    19</a:t>
            </a:r>
          </a:p>
        </p:txBody>
      </p:sp>
      <p:sp>
        <p:nvSpPr>
          <p:cNvPr id="24" name="Rounded Rectangle 23"/>
          <p:cNvSpPr/>
          <p:nvPr/>
        </p:nvSpPr>
        <p:spPr>
          <a:xfrm>
            <a:off x="5120640" y="3273552"/>
            <a:ext cx="2194560" cy="457200"/>
          </a:xfrm>
          <a:prstGeom prst="roundRect">
            <a:avLst/>
          </a:prstGeom>
          <a:solidFill>
            <a:srgbClr val="2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20640" y="3328416"/>
            <a:ext cx="2194560" cy="365760"/>
          </a:xfrm>
          <a:prstGeom prst="rect">
            <a:avLst/>
          </a:prstGeom>
          <a:noFill/>
        </p:spPr>
        <p:txBody>
          <a:bodyPr wrap="square">
            <a:spAutoFit/>
          </a:bodyPr>
          <a:lstStyle/>
          <a:p>
            <a:pPr algn="ctr"/>
            <a:r>
              <a:rPr sz="1300" b="1">
                <a:solidFill>
                  <a:srgbClr val="FFFFFF"/>
                </a:solidFill>
                <a:latin typeface="Calibri"/>
              </a:rPr>
              <a:t>Low    23</a:t>
            </a:r>
          </a:p>
        </p:txBody>
      </p:sp>
      <p:sp>
        <p:nvSpPr>
          <p:cNvPr id="26" name="TextBox 25"/>
          <p:cNvSpPr txBox="1"/>
          <p:nvPr/>
        </p:nvSpPr>
        <p:spPr>
          <a:xfrm>
            <a:off x="457200" y="3931920"/>
            <a:ext cx="11247120" cy="2286000"/>
          </a:xfrm>
          <a:prstGeom prst="rect">
            <a:avLst/>
          </a:prstGeom>
          <a:noFill/>
        </p:spPr>
        <p:txBody>
          <a:bodyPr wrap="square">
            <a:spAutoFit/>
          </a:bodyPr>
          <a:lstStyle/>
          <a:p>
            <a:pPr algn="l"/>
            <a:r>
              <a:rPr sz="1400" b="0">
                <a:solidFill>
                  <a:srgbClr val="5A6570"/>
                </a:solidFill>
                <a:latin typeface="Calibri"/>
              </a:rPr>
              <a:t>Highest incident-like districts in this run: Kolar (31), Bengaluru Urban (27), Mandya (26), Tumakuru (26), Belagavi (25), Kalaburagi (25).
Time of day among incident-like reports is even — morning 143, afternoon 140, evening 119, night 132 — so night is not the only pattern.
Type mix: unsafe feeling 287  ·  harassment 247. Preprocess dropped 0 duplicates and 0 invalid coordinates.
OSM layer: 604,573 Karnataka streets, avg score 4.16. Live app rows go in live_reports.json; the same pipeline is re-run.</a:t>
            </a:r>
          </a:p>
        </p:txBody>
      </p:sp>
      <p:sp>
        <p:nvSpPr>
          <p:cNvPr id="27" name="Rectangle 26"/>
          <p:cNvSpPr/>
          <p:nvPr/>
        </p:nvSpPr>
        <p:spPr>
          <a:xfrm>
            <a:off x="0" y="6656832"/>
            <a:ext cx="12191695" cy="20116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6656832"/>
            <a:ext cx="109728" cy="20116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040" y="6656832"/>
            <a:ext cx="9509760" cy="201168"/>
          </a:xfrm>
          <a:prstGeom prst="rect">
            <a:avLst/>
          </a:prstGeom>
          <a:noFill/>
        </p:spPr>
        <p:txBody>
          <a:bodyPr wrap="square">
            <a:spAutoFit/>
          </a:bodyPr>
          <a:lstStyle/>
          <a:p>
            <a:pPr algn="l"/>
            <a:r>
              <a:rPr sz="1000" b="0">
                <a:solidFill>
                  <a:srgbClr val="FFFFFF"/>
                </a:solidFill>
                <a:latin typeface="Calibri"/>
              </a:rPr>
              <a:t>BMS Institute of Technology and Management  ·  Department of MCA  ·  Phase I Interim Review  ·  2025–27</a:t>
            </a:r>
          </a:p>
        </p:txBody>
      </p:sp>
      <p:sp>
        <p:nvSpPr>
          <p:cNvPr id="30" name="TextBox 29"/>
          <p:cNvSpPr txBox="1"/>
          <p:nvPr/>
        </p:nvSpPr>
        <p:spPr>
          <a:xfrm>
            <a:off x="10424160" y="6656832"/>
            <a:ext cx="1508760" cy="201168"/>
          </a:xfrm>
          <a:prstGeom prst="rect">
            <a:avLst/>
          </a:prstGeom>
          <a:noFill/>
        </p:spPr>
        <p:txBody>
          <a:bodyPr wrap="square">
            <a:spAutoFit/>
          </a:bodyPr>
          <a:lstStyle/>
          <a:p>
            <a:pPr algn="r"/>
            <a:r>
              <a:rPr sz="1000" b="0">
                <a:solidFill>
                  <a:srgbClr val="C4A35A"/>
                </a:solidFill>
                <a:latin typeface="Calibri"/>
              </a:rPr>
              <a:t>12  /  23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36576"/>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37744"/>
          </a:xfrm>
          <a:prstGeom prst="rect">
            <a:avLst/>
          </a:prstGeom>
          <a:noFill/>
        </p:spPr>
        <p:txBody>
          <a:bodyPr wrap="square">
            <a:spAutoFit/>
          </a:bodyPr>
          <a:lstStyle/>
          <a:p>
            <a:pPr algn="l"/>
            <a:r>
              <a:rPr sz="1100" b="1">
                <a:solidFill>
                  <a:srgbClr val="C4A35A"/>
                </a:solidFill>
                <a:latin typeface="Calibri"/>
              </a:rPr>
              <a:t>SELF-SERVE FOR AUTHORITIES</a:t>
            </a:r>
          </a:p>
        </p:txBody>
      </p:sp>
      <p:sp>
        <p:nvSpPr>
          <p:cNvPr id="6" name="TextBox 5"/>
          <p:cNvSpPr txBox="1"/>
          <p:nvPr/>
        </p:nvSpPr>
        <p:spPr>
          <a:xfrm>
            <a:off x="457200" y="420624"/>
            <a:ext cx="11247120" cy="420624"/>
          </a:xfrm>
          <a:prstGeom prst="rect">
            <a:avLst/>
          </a:prstGeom>
          <a:noFill/>
        </p:spPr>
        <p:txBody>
          <a:bodyPr wrap="square">
            <a:spAutoFit/>
          </a:bodyPr>
          <a:lstStyle/>
          <a:p>
            <a:pPr algn="l"/>
            <a:r>
              <a:rPr sz="2400" b="1">
                <a:solidFill>
                  <a:srgbClr val="0C2340"/>
                </a:solidFill>
                <a:latin typeface="Calibri"/>
              </a:rPr>
              <a:t>The dashboard is the source. Officers do not depend on anyone to send them data.</a:t>
            </a:r>
          </a:p>
        </p:txBody>
      </p:sp>
      <p:sp>
        <p:nvSpPr>
          <p:cNvPr id="7" name="Rounded Rectangle 6"/>
          <p:cNvSpPr/>
          <p:nvPr/>
        </p:nvSpPr>
        <p:spPr>
          <a:xfrm>
            <a:off x="411480" y="1353312"/>
            <a:ext cx="3749039" cy="2194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353312"/>
            <a:ext cx="64008" cy="219456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499616"/>
            <a:ext cx="3383279" cy="329184"/>
          </a:xfrm>
          <a:prstGeom prst="rect">
            <a:avLst/>
          </a:prstGeom>
          <a:noFill/>
        </p:spPr>
        <p:txBody>
          <a:bodyPr wrap="square">
            <a:spAutoFit/>
          </a:bodyPr>
          <a:lstStyle/>
          <a:p>
            <a:pPr algn="l"/>
            <a:r>
              <a:rPr sz="1400" b="1">
                <a:solidFill>
                  <a:srgbClr val="0C2340"/>
                </a:solidFill>
                <a:latin typeface="Calibri"/>
              </a:rPr>
              <a:t>Independent access</a:t>
            </a:r>
          </a:p>
        </p:txBody>
      </p:sp>
      <p:sp>
        <p:nvSpPr>
          <p:cNvPr id="10" name="TextBox 9"/>
          <p:cNvSpPr txBox="1"/>
          <p:nvPr/>
        </p:nvSpPr>
        <p:spPr>
          <a:xfrm>
            <a:off x="640080" y="1828800"/>
            <a:ext cx="3383279" cy="1600200"/>
          </a:xfrm>
          <a:prstGeom prst="rect">
            <a:avLst/>
          </a:prstGeom>
          <a:noFill/>
        </p:spPr>
        <p:txBody>
          <a:bodyPr wrap="square">
            <a:spAutoFit/>
          </a:bodyPr>
          <a:lstStyle/>
          <a:p>
            <a:pPr algn="l"/>
            <a:r>
              <a:rPr sz="1200" b="0">
                <a:solidFill>
                  <a:srgbClr val="5A6570"/>
                </a:solidFill>
                <a:latin typeface="Calibri"/>
              </a:rPr>
              <a:t>An authorised officer logs in at /admin. Maps, KPIs, hotspots and alerts are already loaded.</a:t>
            </a:r>
          </a:p>
        </p:txBody>
      </p:sp>
      <p:sp>
        <p:nvSpPr>
          <p:cNvPr id="11" name="Rounded Rectangle 10"/>
          <p:cNvSpPr/>
          <p:nvPr/>
        </p:nvSpPr>
        <p:spPr>
          <a:xfrm>
            <a:off x="4297680" y="1353312"/>
            <a:ext cx="3749039" cy="2194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1353312"/>
            <a:ext cx="64008" cy="219456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1499616"/>
            <a:ext cx="3383279" cy="329184"/>
          </a:xfrm>
          <a:prstGeom prst="rect">
            <a:avLst/>
          </a:prstGeom>
          <a:noFill/>
        </p:spPr>
        <p:txBody>
          <a:bodyPr wrap="square">
            <a:spAutoFit/>
          </a:bodyPr>
          <a:lstStyle/>
          <a:p>
            <a:pPr algn="l"/>
            <a:r>
              <a:rPr sz="1400" b="1">
                <a:solidFill>
                  <a:srgbClr val="0C2340"/>
                </a:solidFill>
                <a:latin typeface="Calibri"/>
              </a:rPr>
              <a:t>No request to another desk</a:t>
            </a:r>
          </a:p>
        </p:txBody>
      </p:sp>
      <p:sp>
        <p:nvSpPr>
          <p:cNvPr id="14" name="TextBox 13"/>
          <p:cNvSpPr txBox="1"/>
          <p:nvPr/>
        </p:nvSpPr>
        <p:spPr>
          <a:xfrm>
            <a:off x="4526280" y="1828800"/>
            <a:ext cx="3383279" cy="1600200"/>
          </a:xfrm>
          <a:prstGeom prst="rect">
            <a:avLst/>
          </a:prstGeom>
          <a:noFill/>
        </p:spPr>
        <p:txBody>
          <a:bodyPr wrap="square">
            <a:spAutoFit/>
          </a:bodyPr>
          <a:lstStyle/>
          <a:p>
            <a:pPr algn="l"/>
            <a:r>
              <a:rPr sz="1200" b="0">
                <a:solidFill>
                  <a:srgbClr val="5A6570"/>
                </a:solidFill>
                <a:latin typeface="Calibri"/>
              </a:rPr>
              <a:t>Filters replace a request for last week’s spreadsheet. Area, incident type, date, time of day and risk are selected on screen.</a:t>
            </a:r>
          </a:p>
        </p:txBody>
      </p:sp>
      <p:sp>
        <p:nvSpPr>
          <p:cNvPr id="15" name="Rounded Rectangle 14"/>
          <p:cNvSpPr/>
          <p:nvPr/>
        </p:nvSpPr>
        <p:spPr>
          <a:xfrm>
            <a:off x="8183879" y="1353312"/>
            <a:ext cx="3749039" cy="2194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83879" y="1353312"/>
            <a:ext cx="64008" cy="219456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79" y="1499616"/>
            <a:ext cx="3383279" cy="329184"/>
          </a:xfrm>
          <a:prstGeom prst="rect">
            <a:avLst/>
          </a:prstGeom>
          <a:noFill/>
        </p:spPr>
        <p:txBody>
          <a:bodyPr wrap="square">
            <a:spAutoFit/>
          </a:bodyPr>
          <a:lstStyle/>
          <a:p>
            <a:pPr algn="l"/>
            <a:r>
              <a:rPr sz="1400" b="1">
                <a:solidFill>
                  <a:srgbClr val="0C2340"/>
                </a:solidFill>
                <a:latin typeface="Calibri"/>
              </a:rPr>
              <a:t>One operational picture</a:t>
            </a:r>
          </a:p>
        </p:txBody>
      </p:sp>
      <p:sp>
        <p:nvSpPr>
          <p:cNvPr id="18" name="TextBox 17"/>
          <p:cNvSpPr txBox="1"/>
          <p:nvPr/>
        </p:nvSpPr>
        <p:spPr>
          <a:xfrm>
            <a:off x="8412479" y="1828800"/>
            <a:ext cx="3383279" cy="1600200"/>
          </a:xfrm>
          <a:prstGeom prst="rect">
            <a:avLst/>
          </a:prstGeom>
          <a:noFill/>
        </p:spPr>
        <p:txBody>
          <a:bodyPr wrap="square">
            <a:spAutoFit/>
          </a:bodyPr>
          <a:lstStyle/>
          <a:p>
            <a:pPr algn="l"/>
            <a:r>
              <a:rPr sz="1200" b="0">
                <a:solidFill>
                  <a:srgbClr val="5A6570"/>
                </a:solidFill>
                <a:latin typeface="Calibri"/>
              </a:rPr>
              <a:t>OSM infrastructure, community reports and analysis circles sit on the same map.</a:t>
            </a:r>
          </a:p>
        </p:txBody>
      </p:sp>
      <p:sp>
        <p:nvSpPr>
          <p:cNvPr id="19" name="Rounded Rectangle 18"/>
          <p:cNvSpPr/>
          <p:nvPr/>
        </p:nvSpPr>
        <p:spPr>
          <a:xfrm>
            <a:off x="411480" y="3730752"/>
            <a:ext cx="3749039" cy="2194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11480" y="3730752"/>
            <a:ext cx="64008" cy="2194560"/>
          </a:xfrm>
          <a:prstGeom prst="rect">
            <a:avLst/>
          </a:prstGeom>
          <a:solidFill>
            <a:srgbClr val="16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877056"/>
            <a:ext cx="3383279" cy="329184"/>
          </a:xfrm>
          <a:prstGeom prst="rect">
            <a:avLst/>
          </a:prstGeom>
          <a:noFill/>
        </p:spPr>
        <p:txBody>
          <a:bodyPr wrap="square">
            <a:spAutoFit/>
          </a:bodyPr>
          <a:lstStyle/>
          <a:p>
            <a:pPr algn="l"/>
            <a:r>
              <a:rPr sz="1400" b="1">
                <a:solidFill>
                  <a:srgbClr val="0C2340"/>
                </a:solidFill>
                <a:latin typeface="Calibri"/>
              </a:rPr>
              <a:t>Actionable output</a:t>
            </a:r>
          </a:p>
        </p:txBody>
      </p:sp>
      <p:sp>
        <p:nvSpPr>
          <p:cNvPr id="22" name="TextBox 21"/>
          <p:cNvSpPr txBox="1"/>
          <p:nvPr/>
        </p:nvSpPr>
        <p:spPr>
          <a:xfrm>
            <a:off x="640080" y="4206240"/>
            <a:ext cx="3383279" cy="1600200"/>
          </a:xfrm>
          <a:prstGeom prst="rect">
            <a:avLst/>
          </a:prstGeom>
          <a:noFill/>
        </p:spPr>
        <p:txBody>
          <a:bodyPr wrap="square">
            <a:spAutoFit/>
          </a:bodyPr>
          <a:lstStyle/>
          <a:p>
            <a:pPr algn="l"/>
            <a:r>
              <a:rPr sz="1200" b="0">
                <a:solidFill>
                  <a:srgbClr val="5A6570"/>
                </a:solidFill>
                <a:latin typeface="Calibri"/>
              </a:rPr>
              <a:t>Each High-risk cell carries a patrol hint: area, coordinates and last seen — ready for the day’s briefing.</a:t>
            </a:r>
          </a:p>
        </p:txBody>
      </p:sp>
      <p:sp>
        <p:nvSpPr>
          <p:cNvPr id="23" name="Rounded Rectangle 22"/>
          <p:cNvSpPr/>
          <p:nvPr/>
        </p:nvSpPr>
        <p:spPr>
          <a:xfrm>
            <a:off x="4297680" y="3730752"/>
            <a:ext cx="3749039" cy="2194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97680" y="3730752"/>
            <a:ext cx="64008" cy="2194560"/>
          </a:xfrm>
          <a:prstGeom prst="rect">
            <a:avLst/>
          </a:prstGeom>
          <a:solidFill>
            <a:srgbClr val="16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26280" y="3877056"/>
            <a:ext cx="3383279" cy="329184"/>
          </a:xfrm>
          <a:prstGeom prst="rect">
            <a:avLst/>
          </a:prstGeom>
          <a:noFill/>
        </p:spPr>
        <p:txBody>
          <a:bodyPr wrap="square">
            <a:spAutoFit/>
          </a:bodyPr>
          <a:lstStyle/>
          <a:p>
            <a:pPr algn="l"/>
            <a:r>
              <a:rPr sz="1400" b="1">
                <a:solidFill>
                  <a:srgbClr val="0C2340"/>
                </a:solidFill>
                <a:latin typeface="Calibri"/>
              </a:rPr>
              <a:t>Stable rules</a:t>
            </a:r>
          </a:p>
        </p:txBody>
      </p:sp>
      <p:sp>
        <p:nvSpPr>
          <p:cNvPr id="26" name="TextBox 25"/>
          <p:cNvSpPr txBox="1"/>
          <p:nvPr/>
        </p:nvSpPr>
        <p:spPr>
          <a:xfrm>
            <a:off x="4526280" y="4206240"/>
            <a:ext cx="3383279" cy="1600200"/>
          </a:xfrm>
          <a:prstGeom prst="rect">
            <a:avLst/>
          </a:prstGeom>
          <a:noFill/>
        </p:spPr>
        <p:txBody>
          <a:bodyPr wrap="square">
            <a:spAutoFit/>
          </a:bodyPr>
          <a:lstStyle/>
          <a:p>
            <a:pPr algn="l"/>
            <a:r>
              <a:rPr sz="1200" b="0">
                <a:solidFill>
                  <a:srgbClr val="5A6570"/>
                </a:solidFill>
                <a:latin typeface="Calibri"/>
              </a:rPr>
              <a:t>Risk labels come from the published pipeline, not from whoever last coloured a sheet.</a:t>
            </a:r>
          </a:p>
        </p:txBody>
      </p:sp>
      <p:sp>
        <p:nvSpPr>
          <p:cNvPr id="27" name="Rounded Rectangle 26"/>
          <p:cNvSpPr/>
          <p:nvPr/>
        </p:nvSpPr>
        <p:spPr>
          <a:xfrm>
            <a:off x="8183879" y="3730752"/>
            <a:ext cx="3749039" cy="2194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83879" y="3730752"/>
            <a:ext cx="64008" cy="2194560"/>
          </a:xfrm>
          <a:prstGeom prst="rect">
            <a:avLst/>
          </a:prstGeom>
          <a:solidFill>
            <a:srgbClr val="16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79" y="3877056"/>
            <a:ext cx="3383279" cy="329184"/>
          </a:xfrm>
          <a:prstGeom prst="rect">
            <a:avLst/>
          </a:prstGeom>
          <a:noFill/>
        </p:spPr>
        <p:txBody>
          <a:bodyPr wrap="square">
            <a:spAutoFit/>
          </a:bodyPr>
          <a:lstStyle/>
          <a:p>
            <a:pPr algn="l"/>
            <a:r>
              <a:rPr sz="1400" b="1">
                <a:solidFill>
                  <a:srgbClr val="0C2340"/>
                </a:solidFill>
                <a:latin typeface="Calibri"/>
              </a:rPr>
              <a:t>Audit trail</a:t>
            </a:r>
          </a:p>
        </p:txBody>
      </p:sp>
      <p:sp>
        <p:nvSpPr>
          <p:cNvPr id="30" name="TextBox 29"/>
          <p:cNvSpPr txBox="1"/>
          <p:nvPr/>
        </p:nvSpPr>
        <p:spPr>
          <a:xfrm>
            <a:off x="8412479" y="4206240"/>
            <a:ext cx="3383279" cy="1600200"/>
          </a:xfrm>
          <a:prstGeom prst="rect">
            <a:avLst/>
          </a:prstGeom>
          <a:noFill/>
        </p:spPr>
        <p:txBody>
          <a:bodyPr wrap="square">
            <a:spAutoFit/>
          </a:bodyPr>
          <a:lstStyle/>
          <a:p>
            <a:pPr algn="l"/>
            <a:r>
              <a:rPr sz="1200" b="0">
                <a:solidFill>
                  <a:srgbClr val="5A6570"/>
                </a:solidFill>
                <a:latin typeface="Calibri"/>
              </a:rPr>
              <a:t>Every hotspot stores count, type mix, peak time, first seen and last seen.</a:t>
            </a:r>
          </a:p>
        </p:txBody>
      </p:sp>
      <p:sp>
        <p:nvSpPr>
          <p:cNvPr id="31" name="Rectangle 30"/>
          <p:cNvSpPr/>
          <p:nvPr/>
        </p:nvSpPr>
        <p:spPr>
          <a:xfrm>
            <a:off x="0" y="6656832"/>
            <a:ext cx="12191695" cy="20116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6656832"/>
            <a:ext cx="109728" cy="20116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0040" y="6656832"/>
            <a:ext cx="9509760" cy="201168"/>
          </a:xfrm>
          <a:prstGeom prst="rect">
            <a:avLst/>
          </a:prstGeom>
          <a:noFill/>
        </p:spPr>
        <p:txBody>
          <a:bodyPr wrap="square">
            <a:spAutoFit/>
          </a:bodyPr>
          <a:lstStyle/>
          <a:p>
            <a:pPr algn="l"/>
            <a:r>
              <a:rPr sz="1000" b="0">
                <a:solidFill>
                  <a:srgbClr val="FFFFFF"/>
                </a:solidFill>
                <a:latin typeface="Calibri"/>
              </a:rPr>
              <a:t>BMS Institute of Technology and Management  ·  Department of MCA  ·  Phase I Interim Review  ·  2025–27</a:t>
            </a:r>
          </a:p>
        </p:txBody>
      </p:sp>
      <p:sp>
        <p:nvSpPr>
          <p:cNvPr id="34" name="TextBox 33"/>
          <p:cNvSpPr txBox="1"/>
          <p:nvPr/>
        </p:nvSpPr>
        <p:spPr>
          <a:xfrm>
            <a:off x="10424160" y="6656832"/>
            <a:ext cx="1508760" cy="201168"/>
          </a:xfrm>
          <a:prstGeom prst="rect">
            <a:avLst/>
          </a:prstGeom>
          <a:noFill/>
        </p:spPr>
        <p:txBody>
          <a:bodyPr wrap="square">
            <a:spAutoFit/>
          </a:bodyPr>
          <a:lstStyle/>
          <a:p>
            <a:pPr algn="r"/>
            <a:r>
              <a:rPr sz="1000" b="0">
                <a:solidFill>
                  <a:srgbClr val="C4A35A"/>
                </a:solidFill>
                <a:latin typeface="Calibri"/>
              </a:rPr>
              <a:t>13  /  23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36576"/>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37744"/>
          </a:xfrm>
          <a:prstGeom prst="rect">
            <a:avLst/>
          </a:prstGeom>
          <a:noFill/>
        </p:spPr>
        <p:txBody>
          <a:bodyPr wrap="square">
            <a:spAutoFit/>
          </a:bodyPr>
          <a:lstStyle/>
          <a:p>
            <a:pPr algn="l"/>
            <a:r>
              <a:rPr sz="1100" b="1">
                <a:solidFill>
                  <a:srgbClr val="C4A35A"/>
                </a:solidFill>
                <a:latin typeface="Calibri"/>
              </a:rPr>
              <a:t>AUTHORITY WORKFLOW</a:t>
            </a:r>
          </a:p>
        </p:txBody>
      </p:sp>
      <p:sp>
        <p:nvSpPr>
          <p:cNvPr id="6" name="TextBox 5"/>
          <p:cNvSpPr txBox="1"/>
          <p:nvPr/>
        </p:nvSpPr>
        <p:spPr>
          <a:xfrm>
            <a:off x="457200" y="420624"/>
            <a:ext cx="11247120" cy="420624"/>
          </a:xfrm>
          <a:prstGeom prst="rect">
            <a:avLst/>
          </a:prstGeom>
          <a:noFill/>
        </p:spPr>
        <p:txBody>
          <a:bodyPr wrap="square">
            <a:spAutoFit/>
          </a:bodyPr>
          <a:lstStyle/>
          <a:p>
            <a:pPr algn="l"/>
            <a:r>
              <a:rPr sz="2400" b="1">
                <a:solidFill>
                  <a:srgbClr val="0C2340"/>
                </a:solidFill>
                <a:latin typeface="Calibri"/>
              </a:rPr>
              <a:t>Intended morning use. No telephone call is required to obtain the data.</a:t>
            </a:r>
          </a:p>
        </p:txBody>
      </p:sp>
      <p:sp>
        <p:nvSpPr>
          <p:cNvPr id="7" name="Rounded Rectangle 6"/>
          <p:cNvSpPr/>
          <p:nvPr/>
        </p:nvSpPr>
        <p:spPr>
          <a:xfrm>
            <a:off x="365760" y="1417320"/>
            <a:ext cx="2788920" cy="4709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45920"/>
            <a:ext cx="2423160" cy="365760"/>
          </a:xfrm>
          <a:prstGeom prst="rect">
            <a:avLst/>
          </a:prstGeom>
          <a:noFill/>
        </p:spPr>
        <p:txBody>
          <a:bodyPr wrap="square">
            <a:spAutoFit/>
          </a:bodyPr>
          <a:lstStyle/>
          <a:p>
            <a:pPr algn="l"/>
            <a:r>
              <a:rPr sz="1800" b="1">
                <a:solidFill>
                  <a:srgbClr val="C4A35A"/>
                </a:solidFill>
                <a:latin typeface="Calibri"/>
              </a:rPr>
              <a:t>01</a:t>
            </a:r>
          </a:p>
        </p:txBody>
      </p:sp>
      <p:sp>
        <p:nvSpPr>
          <p:cNvPr id="9" name="TextBox 8"/>
          <p:cNvSpPr txBox="1"/>
          <p:nvPr/>
        </p:nvSpPr>
        <p:spPr>
          <a:xfrm>
            <a:off x="548640" y="2103120"/>
            <a:ext cx="2423160" cy="640080"/>
          </a:xfrm>
          <a:prstGeom prst="rect">
            <a:avLst/>
          </a:prstGeom>
          <a:noFill/>
        </p:spPr>
        <p:txBody>
          <a:bodyPr wrap="square">
            <a:spAutoFit/>
          </a:bodyPr>
          <a:lstStyle/>
          <a:p>
            <a:pPr algn="l"/>
            <a:r>
              <a:rPr sz="1800" b="1">
                <a:solidFill>
                  <a:srgbClr val="0C2340"/>
                </a:solidFill>
                <a:latin typeface="Calibri"/>
              </a:rPr>
              <a:t>Authenticate</a:t>
            </a:r>
          </a:p>
        </p:txBody>
      </p:sp>
      <p:sp>
        <p:nvSpPr>
          <p:cNvPr id="10" name="TextBox 9"/>
          <p:cNvSpPr txBox="1"/>
          <p:nvPr/>
        </p:nvSpPr>
        <p:spPr>
          <a:xfrm>
            <a:off x="548640" y="2834640"/>
            <a:ext cx="2423160" cy="2926080"/>
          </a:xfrm>
          <a:prstGeom prst="rect">
            <a:avLst/>
          </a:prstGeom>
          <a:noFill/>
        </p:spPr>
        <p:txBody>
          <a:bodyPr wrap="square">
            <a:spAutoFit/>
          </a:bodyPr>
          <a:lstStyle/>
          <a:p>
            <a:pPr algn="l"/>
            <a:r>
              <a:rPr sz="1400" b="0">
                <a:solidFill>
                  <a:srgbClr val="5A6570"/>
                </a:solidFill>
                <a:latin typeface="Calibri"/>
              </a:rPr>
              <a:t>The officer signs in at /admin. The session is an HttpOnly cookie. Sign-out clears it.</a:t>
            </a:r>
          </a:p>
        </p:txBody>
      </p:sp>
      <p:sp>
        <p:nvSpPr>
          <p:cNvPr id="11" name="Rounded Rectangle 10"/>
          <p:cNvSpPr/>
          <p:nvPr/>
        </p:nvSpPr>
        <p:spPr>
          <a:xfrm>
            <a:off x="3310128" y="1417320"/>
            <a:ext cx="2788920" cy="4709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93008" y="1645920"/>
            <a:ext cx="2423160" cy="365760"/>
          </a:xfrm>
          <a:prstGeom prst="rect">
            <a:avLst/>
          </a:prstGeom>
          <a:noFill/>
        </p:spPr>
        <p:txBody>
          <a:bodyPr wrap="square">
            <a:spAutoFit/>
          </a:bodyPr>
          <a:lstStyle/>
          <a:p>
            <a:pPr algn="l"/>
            <a:r>
              <a:rPr sz="1800" b="1">
                <a:solidFill>
                  <a:srgbClr val="C4A35A"/>
                </a:solidFill>
                <a:latin typeface="Calibri"/>
              </a:rPr>
              <a:t>02</a:t>
            </a:r>
          </a:p>
        </p:txBody>
      </p:sp>
      <p:sp>
        <p:nvSpPr>
          <p:cNvPr id="13" name="TextBox 12"/>
          <p:cNvSpPr txBox="1"/>
          <p:nvPr/>
        </p:nvSpPr>
        <p:spPr>
          <a:xfrm>
            <a:off x="3493008" y="2103120"/>
            <a:ext cx="2423160" cy="640080"/>
          </a:xfrm>
          <a:prstGeom prst="rect">
            <a:avLst/>
          </a:prstGeom>
          <a:noFill/>
        </p:spPr>
        <p:txBody>
          <a:bodyPr wrap="square">
            <a:spAutoFit/>
          </a:bodyPr>
          <a:lstStyle/>
          <a:p>
            <a:pPr algn="l"/>
            <a:r>
              <a:rPr sz="1800" b="1">
                <a:solidFill>
                  <a:srgbClr val="0C2340"/>
                </a:solidFill>
                <a:latin typeface="Calibri"/>
              </a:rPr>
              <a:t>Read the KPIs</a:t>
            </a:r>
          </a:p>
        </p:txBody>
      </p:sp>
      <p:sp>
        <p:nvSpPr>
          <p:cNvPr id="14" name="TextBox 13"/>
          <p:cNvSpPr txBox="1"/>
          <p:nvPr/>
        </p:nvSpPr>
        <p:spPr>
          <a:xfrm>
            <a:off x="3493008" y="2834640"/>
            <a:ext cx="2423160" cy="2926080"/>
          </a:xfrm>
          <a:prstGeom prst="rect">
            <a:avLst/>
          </a:prstGeom>
          <a:noFill/>
        </p:spPr>
        <p:txBody>
          <a:bodyPr wrap="square">
            <a:spAutoFit/>
          </a:bodyPr>
          <a:lstStyle/>
          <a:p>
            <a:pPr algn="l"/>
            <a:r>
              <a:rPr sz="1400" b="0">
                <a:solidFill>
                  <a:srgbClr val="5A6570"/>
                </a:solidFill>
                <a:latin typeface="Calibri"/>
              </a:rPr>
              <a:t>Hotspot count, High-risk cells and alert count indicate whether the day is ordinary or elevated.</a:t>
            </a:r>
          </a:p>
        </p:txBody>
      </p:sp>
      <p:sp>
        <p:nvSpPr>
          <p:cNvPr id="15" name="Rounded Rectangle 14"/>
          <p:cNvSpPr/>
          <p:nvPr/>
        </p:nvSpPr>
        <p:spPr>
          <a:xfrm>
            <a:off x="6254496" y="1417320"/>
            <a:ext cx="2788920" cy="4709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1645920"/>
            <a:ext cx="2423160" cy="365760"/>
          </a:xfrm>
          <a:prstGeom prst="rect">
            <a:avLst/>
          </a:prstGeom>
          <a:noFill/>
        </p:spPr>
        <p:txBody>
          <a:bodyPr wrap="square">
            <a:spAutoFit/>
          </a:bodyPr>
          <a:lstStyle/>
          <a:p>
            <a:pPr algn="l"/>
            <a:r>
              <a:rPr sz="1800" b="1">
                <a:solidFill>
                  <a:srgbClr val="C4A35A"/>
                </a:solidFill>
                <a:latin typeface="Calibri"/>
              </a:rPr>
              <a:t>03</a:t>
            </a:r>
          </a:p>
        </p:txBody>
      </p:sp>
      <p:sp>
        <p:nvSpPr>
          <p:cNvPr id="17" name="TextBox 16"/>
          <p:cNvSpPr txBox="1"/>
          <p:nvPr/>
        </p:nvSpPr>
        <p:spPr>
          <a:xfrm>
            <a:off x="6437376" y="2103120"/>
            <a:ext cx="2423160" cy="640080"/>
          </a:xfrm>
          <a:prstGeom prst="rect">
            <a:avLst/>
          </a:prstGeom>
          <a:noFill/>
        </p:spPr>
        <p:txBody>
          <a:bodyPr wrap="square">
            <a:spAutoFit/>
          </a:bodyPr>
          <a:lstStyle/>
          <a:p>
            <a:pPr algn="l"/>
            <a:r>
              <a:rPr sz="1800" b="1">
                <a:solidFill>
                  <a:srgbClr val="0C2340"/>
                </a:solidFill>
                <a:latin typeface="Calibri"/>
              </a:rPr>
              <a:t>Filter</a:t>
            </a:r>
          </a:p>
        </p:txBody>
      </p:sp>
      <p:sp>
        <p:nvSpPr>
          <p:cNvPr id="18" name="TextBox 17"/>
          <p:cNvSpPr txBox="1"/>
          <p:nvPr/>
        </p:nvSpPr>
        <p:spPr>
          <a:xfrm>
            <a:off x="6437376" y="2834640"/>
            <a:ext cx="2423160" cy="2926080"/>
          </a:xfrm>
          <a:prstGeom prst="rect">
            <a:avLst/>
          </a:prstGeom>
          <a:noFill/>
        </p:spPr>
        <p:txBody>
          <a:bodyPr wrap="square">
            <a:spAutoFit/>
          </a:bodyPr>
          <a:lstStyle/>
          <a:p>
            <a:pPr algn="l"/>
            <a:r>
              <a:rPr sz="1400" b="0">
                <a:solidFill>
                  <a:srgbClr val="5A6570"/>
                </a:solidFill>
                <a:latin typeface="Calibri"/>
              </a:rPr>
              <a:t>Area, incident type, from/to date, time of day and risk. The table and the map follow the same filters.</a:t>
            </a:r>
          </a:p>
        </p:txBody>
      </p:sp>
      <p:sp>
        <p:nvSpPr>
          <p:cNvPr id="19" name="Rounded Rectangle 18"/>
          <p:cNvSpPr/>
          <p:nvPr/>
        </p:nvSpPr>
        <p:spPr>
          <a:xfrm>
            <a:off x="9198864" y="1417320"/>
            <a:ext cx="2788920" cy="4709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81744" y="1645920"/>
            <a:ext cx="2423160" cy="365760"/>
          </a:xfrm>
          <a:prstGeom prst="rect">
            <a:avLst/>
          </a:prstGeom>
          <a:noFill/>
        </p:spPr>
        <p:txBody>
          <a:bodyPr wrap="square">
            <a:spAutoFit/>
          </a:bodyPr>
          <a:lstStyle/>
          <a:p>
            <a:pPr algn="l"/>
            <a:r>
              <a:rPr sz="1800" b="1">
                <a:solidFill>
                  <a:srgbClr val="C4A35A"/>
                </a:solidFill>
                <a:latin typeface="Calibri"/>
              </a:rPr>
              <a:t>04</a:t>
            </a:r>
          </a:p>
        </p:txBody>
      </p:sp>
      <p:sp>
        <p:nvSpPr>
          <p:cNvPr id="21" name="TextBox 20"/>
          <p:cNvSpPr txBox="1"/>
          <p:nvPr/>
        </p:nvSpPr>
        <p:spPr>
          <a:xfrm>
            <a:off x="9381744" y="2103120"/>
            <a:ext cx="2423160" cy="640080"/>
          </a:xfrm>
          <a:prstGeom prst="rect">
            <a:avLst/>
          </a:prstGeom>
          <a:noFill/>
        </p:spPr>
        <p:txBody>
          <a:bodyPr wrap="square">
            <a:spAutoFit/>
          </a:bodyPr>
          <a:lstStyle/>
          <a:p>
            <a:pPr algn="l"/>
            <a:r>
              <a:rPr sz="1800" b="1">
                <a:solidFill>
                  <a:srgbClr val="0C2340"/>
                </a:solidFill>
                <a:latin typeface="Calibri"/>
              </a:rPr>
              <a:t>Brief and act</a:t>
            </a:r>
          </a:p>
        </p:txBody>
      </p:sp>
      <p:sp>
        <p:nvSpPr>
          <p:cNvPr id="22" name="TextBox 21"/>
          <p:cNvSpPr txBox="1"/>
          <p:nvPr/>
        </p:nvSpPr>
        <p:spPr>
          <a:xfrm>
            <a:off x="9381744" y="2834640"/>
            <a:ext cx="2423160" cy="2926080"/>
          </a:xfrm>
          <a:prstGeom prst="rect">
            <a:avLst/>
          </a:prstGeom>
          <a:noFill/>
        </p:spPr>
        <p:txBody>
          <a:bodyPr wrap="square">
            <a:spAutoFit/>
          </a:bodyPr>
          <a:lstStyle/>
          <a:p>
            <a:pPr algn="l"/>
            <a:r>
              <a:rPr sz="1400" b="0">
                <a:solidFill>
                  <a:srgbClr val="5A6570"/>
                </a:solidFill>
                <a:latin typeface="Calibri"/>
              </a:rPr>
              <a:t>High circles are inspected on the map. Patrol hints are copied into the day’s briefing.</a:t>
            </a:r>
          </a:p>
        </p:txBody>
      </p:sp>
      <p:sp>
        <p:nvSpPr>
          <p:cNvPr id="23" name="Rectangle 22"/>
          <p:cNvSpPr/>
          <p:nvPr/>
        </p:nvSpPr>
        <p:spPr>
          <a:xfrm>
            <a:off x="0" y="6656832"/>
            <a:ext cx="12191695" cy="20116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656832"/>
            <a:ext cx="109728" cy="20116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 y="6656832"/>
            <a:ext cx="9509760" cy="201168"/>
          </a:xfrm>
          <a:prstGeom prst="rect">
            <a:avLst/>
          </a:prstGeom>
          <a:noFill/>
        </p:spPr>
        <p:txBody>
          <a:bodyPr wrap="square">
            <a:spAutoFit/>
          </a:bodyPr>
          <a:lstStyle/>
          <a:p>
            <a:pPr algn="l"/>
            <a:r>
              <a:rPr sz="1000" b="0">
                <a:solidFill>
                  <a:srgbClr val="FFFFFF"/>
                </a:solidFill>
                <a:latin typeface="Calibri"/>
              </a:rPr>
              <a:t>BMS Institute of Technology and Management  ·  Department of MCA  ·  Phase I Interim Review  ·  2025–27</a:t>
            </a:r>
          </a:p>
        </p:txBody>
      </p:sp>
      <p:sp>
        <p:nvSpPr>
          <p:cNvPr id="26" name="TextBox 25"/>
          <p:cNvSpPr txBox="1"/>
          <p:nvPr/>
        </p:nvSpPr>
        <p:spPr>
          <a:xfrm>
            <a:off x="10424160" y="6656832"/>
            <a:ext cx="1508760" cy="201168"/>
          </a:xfrm>
          <a:prstGeom prst="rect">
            <a:avLst/>
          </a:prstGeom>
          <a:noFill/>
        </p:spPr>
        <p:txBody>
          <a:bodyPr wrap="square">
            <a:spAutoFit/>
          </a:bodyPr>
          <a:lstStyle/>
          <a:p>
            <a:pPr algn="r"/>
            <a:r>
              <a:rPr sz="1000" b="0">
                <a:solidFill>
                  <a:srgbClr val="C4A35A"/>
                </a:solidFill>
                <a:latin typeface="Calibri"/>
              </a:rPr>
              <a:t>14  /  23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36576"/>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37744"/>
          </a:xfrm>
          <a:prstGeom prst="rect">
            <a:avLst/>
          </a:prstGeom>
          <a:noFill/>
        </p:spPr>
        <p:txBody>
          <a:bodyPr wrap="square">
            <a:spAutoFit/>
          </a:bodyPr>
          <a:lstStyle/>
          <a:p>
            <a:pPr algn="l"/>
            <a:r>
              <a:rPr sz="1100" b="1">
                <a:solidFill>
                  <a:srgbClr val="C4A35A"/>
                </a:solidFill>
                <a:latin typeface="Calibri"/>
              </a:rPr>
              <a:t>SECURITY OVERVIEW</a:t>
            </a:r>
          </a:p>
        </p:txBody>
      </p:sp>
      <p:sp>
        <p:nvSpPr>
          <p:cNvPr id="6" name="TextBox 5"/>
          <p:cNvSpPr txBox="1"/>
          <p:nvPr/>
        </p:nvSpPr>
        <p:spPr>
          <a:xfrm>
            <a:off x="457200" y="420624"/>
            <a:ext cx="11247120" cy="420624"/>
          </a:xfrm>
          <a:prstGeom prst="rect">
            <a:avLst/>
          </a:prstGeom>
          <a:noFill/>
        </p:spPr>
        <p:txBody>
          <a:bodyPr wrap="square">
            <a:spAutoFit/>
          </a:bodyPr>
          <a:lstStyle/>
          <a:p>
            <a:pPr algn="l"/>
            <a:r>
              <a:rPr sz="2400" b="1">
                <a:solidFill>
                  <a:srgbClr val="0C2340"/>
                </a:solidFill>
                <a:latin typeface="Calibri"/>
              </a:rPr>
              <a:t>Anonymous-first reporting. Closed command view.</a:t>
            </a:r>
          </a:p>
        </p:txBody>
      </p:sp>
      <p:pic>
        <p:nvPicPr>
          <p:cNvPr id="7" name="Picture 6" descr="safeher-security.png"/>
          <p:cNvPicPr>
            <a:picLocks noChangeAspect="1"/>
          </p:cNvPicPr>
          <p:nvPr/>
        </p:nvPicPr>
        <p:blipFill>
          <a:blip r:embed="rId2"/>
          <a:stretch>
            <a:fillRect/>
          </a:stretch>
        </p:blipFill>
        <p:spPr>
          <a:xfrm>
            <a:off x="320040" y="1207008"/>
            <a:ext cx="11521440" cy="6144768"/>
          </a:xfrm>
          <a:prstGeom prst="rect">
            <a:avLst/>
          </a:prstGeom>
        </p:spPr>
      </p:pic>
      <p:sp>
        <p:nvSpPr>
          <p:cNvPr id="8" name="Rectangle 7"/>
          <p:cNvSpPr/>
          <p:nvPr/>
        </p:nvSpPr>
        <p:spPr>
          <a:xfrm>
            <a:off x="0" y="6656832"/>
            <a:ext cx="12191695" cy="20116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656832"/>
            <a:ext cx="109728" cy="20116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656832"/>
            <a:ext cx="9509760" cy="201168"/>
          </a:xfrm>
          <a:prstGeom prst="rect">
            <a:avLst/>
          </a:prstGeom>
          <a:noFill/>
        </p:spPr>
        <p:txBody>
          <a:bodyPr wrap="square">
            <a:spAutoFit/>
          </a:bodyPr>
          <a:lstStyle/>
          <a:p>
            <a:pPr algn="l"/>
            <a:r>
              <a:rPr sz="1000" b="0">
                <a:solidFill>
                  <a:srgbClr val="FFFFFF"/>
                </a:solidFill>
                <a:latin typeface="Calibri"/>
              </a:rPr>
              <a:t>BMS Institute of Technology and Management  ·  Department of MCA  ·  Phase I Interim Review  ·  2025–27</a:t>
            </a:r>
          </a:p>
        </p:txBody>
      </p:sp>
      <p:sp>
        <p:nvSpPr>
          <p:cNvPr id="11" name="TextBox 10"/>
          <p:cNvSpPr txBox="1"/>
          <p:nvPr/>
        </p:nvSpPr>
        <p:spPr>
          <a:xfrm>
            <a:off x="10424160" y="6656832"/>
            <a:ext cx="1508760" cy="201168"/>
          </a:xfrm>
          <a:prstGeom prst="rect">
            <a:avLst/>
          </a:prstGeom>
          <a:noFill/>
        </p:spPr>
        <p:txBody>
          <a:bodyPr wrap="square">
            <a:spAutoFit/>
          </a:bodyPr>
          <a:lstStyle/>
          <a:p>
            <a:pPr algn="r"/>
            <a:r>
              <a:rPr sz="1000" b="0">
                <a:solidFill>
                  <a:srgbClr val="C4A35A"/>
                </a:solidFill>
                <a:latin typeface="Calibri"/>
              </a:rPr>
              <a:t>15  /  23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36576"/>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37744"/>
          </a:xfrm>
          <a:prstGeom prst="rect">
            <a:avLst/>
          </a:prstGeom>
          <a:noFill/>
        </p:spPr>
        <p:txBody>
          <a:bodyPr wrap="square">
            <a:spAutoFit/>
          </a:bodyPr>
          <a:lstStyle/>
          <a:p>
            <a:pPr algn="l"/>
            <a:r>
              <a:rPr sz="1100" b="1">
                <a:solidFill>
                  <a:srgbClr val="C4A35A"/>
                </a:solidFill>
                <a:latin typeface="Calibri"/>
              </a:rPr>
              <a:t>SECURITY CONTROLS IMPLEMENTED</a:t>
            </a:r>
          </a:p>
        </p:txBody>
      </p:sp>
      <p:sp>
        <p:nvSpPr>
          <p:cNvPr id="6" name="TextBox 5"/>
          <p:cNvSpPr txBox="1"/>
          <p:nvPr/>
        </p:nvSpPr>
        <p:spPr>
          <a:xfrm>
            <a:off x="457200" y="420624"/>
            <a:ext cx="11247120" cy="420624"/>
          </a:xfrm>
          <a:prstGeom prst="rect">
            <a:avLst/>
          </a:prstGeom>
          <a:noFill/>
        </p:spPr>
        <p:txBody>
          <a:bodyPr wrap="square">
            <a:spAutoFit/>
          </a:bodyPr>
          <a:lstStyle/>
          <a:p>
            <a:pPr algn="l"/>
            <a:r>
              <a:rPr sz="2400" b="1">
                <a:solidFill>
                  <a:srgbClr val="0C2340"/>
                </a:solidFill>
                <a:latin typeface="Calibri"/>
              </a:rPr>
              <a:t>These controls exist in the current codebase. They are not a future proposal.</a:t>
            </a:r>
          </a:p>
        </p:txBody>
      </p:sp>
      <p:sp>
        <p:nvSpPr>
          <p:cNvPr id="7" name="Rounded Rectangle 6"/>
          <p:cNvSpPr/>
          <p:nvPr/>
        </p:nvSpPr>
        <p:spPr>
          <a:xfrm>
            <a:off x="411480" y="1353312"/>
            <a:ext cx="5623560" cy="4800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353312"/>
            <a:ext cx="64008" cy="4800600"/>
          </a:xfrm>
          <a:prstGeom prst="rect">
            <a:avLst/>
          </a:prstGeom>
          <a:solidFill>
            <a:srgbClr val="1F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499616"/>
            <a:ext cx="5257800" cy="329184"/>
          </a:xfrm>
          <a:prstGeom prst="rect">
            <a:avLst/>
          </a:prstGeom>
          <a:noFill/>
        </p:spPr>
        <p:txBody>
          <a:bodyPr wrap="square">
            <a:spAutoFit/>
          </a:bodyPr>
          <a:lstStyle/>
          <a:p>
            <a:pPr algn="l"/>
            <a:r>
              <a:rPr sz="1400" b="1">
                <a:solidFill>
                  <a:srgbClr val="0C2340"/>
                </a:solidFill>
                <a:latin typeface="Calibri"/>
              </a:rPr>
              <a:t>Public reporting</a:t>
            </a:r>
          </a:p>
        </p:txBody>
      </p:sp>
      <p:sp>
        <p:nvSpPr>
          <p:cNvPr id="10" name="TextBox 9"/>
          <p:cNvSpPr txBox="1"/>
          <p:nvPr/>
        </p:nvSpPr>
        <p:spPr>
          <a:xfrm>
            <a:off x="640080" y="1828800"/>
            <a:ext cx="5257800" cy="4206240"/>
          </a:xfrm>
          <a:prstGeom prst="rect">
            <a:avLst/>
          </a:prstGeom>
          <a:noFill/>
        </p:spPr>
        <p:txBody>
          <a:bodyPr wrap="square">
            <a:spAutoFit/>
          </a:bodyPr>
          <a:lstStyle/>
          <a:p>
            <a:pPr algn="l"/>
            <a:r>
              <a:rPr sz="1200" b="0">
                <a:solidFill>
                  <a:srgbClr val="5A6570"/>
                </a:solidFill>
                <a:latin typeface="Calibri"/>
              </a:rPr>
              <a:t>No name, telephone number or photograph is required.
A device identifier is used only to cap five reports per hour.
Transport is HTTPS into Supabase.
Row Level Security: insert is allowed; SELECT is allowed only where status = approved. Rejected rows never appear on maps.
GPS places the report. The system does not retain a tracking trail of the reporter.</a:t>
            </a:r>
          </a:p>
        </p:txBody>
      </p:sp>
      <p:sp>
        <p:nvSpPr>
          <p:cNvPr id="11" name="Rounded Rectangle 10"/>
          <p:cNvSpPr/>
          <p:nvPr/>
        </p:nvSpPr>
        <p:spPr>
          <a:xfrm>
            <a:off x="6217920" y="1353312"/>
            <a:ext cx="5532120" cy="4800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353312"/>
            <a:ext cx="64008" cy="4800600"/>
          </a:xfrm>
          <a:prstGeom prst="rect">
            <a:avLst/>
          </a:prstGeom>
          <a:solidFill>
            <a:srgbClr val="16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499616"/>
            <a:ext cx="5166360" cy="329184"/>
          </a:xfrm>
          <a:prstGeom prst="rect">
            <a:avLst/>
          </a:prstGeom>
          <a:noFill/>
        </p:spPr>
        <p:txBody>
          <a:bodyPr wrap="square">
            <a:spAutoFit/>
          </a:bodyPr>
          <a:lstStyle/>
          <a:p>
            <a:pPr algn="l"/>
            <a:r>
              <a:rPr sz="1400" b="1">
                <a:solidFill>
                  <a:srgbClr val="0C2340"/>
                </a:solidFill>
                <a:latin typeface="Calibri"/>
              </a:rPr>
              <a:t>Authority dashboard</a:t>
            </a:r>
          </a:p>
        </p:txBody>
      </p:sp>
      <p:sp>
        <p:nvSpPr>
          <p:cNvPr id="14" name="TextBox 13"/>
          <p:cNvSpPr txBox="1"/>
          <p:nvPr/>
        </p:nvSpPr>
        <p:spPr>
          <a:xfrm>
            <a:off x="6446520" y="1828800"/>
            <a:ext cx="5166360" cy="4206240"/>
          </a:xfrm>
          <a:prstGeom prst="rect">
            <a:avLst/>
          </a:prstGeom>
          <a:noFill/>
        </p:spPr>
        <p:txBody>
          <a:bodyPr wrap="square">
            <a:spAutoFit/>
          </a:bodyPr>
          <a:lstStyle/>
          <a:p>
            <a:pPr algn="l"/>
            <a:r>
              <a:rPr sz="1200" b="0">
                <a:solidFill>
                  <a:srgbClr val="5A6570"/>
                </a:solidFill>
                <a:latin typeface="Calibri"/>
              </a:rPr>
              <a:t>Next.js middleware blocks every /admin route except login unless a valid session cookie is present.
The password is checked on the server. ADMIN_PASSWORD is an environment variable, not a client constant.
The session cookie is HttpOnly, SameSite=Lax, Secure in production, with a seven-day expiry.
Sign-out deletes the session.
Officers see locations and aggregates. Reporter identities cannot be disclosed because they are not stored.</a:t>
            </a:r>
          </a:p>
        </p:txBody>
      </p:sp>
      <p:sp>
        <p:nvSpPr>
          <p:cNvPr id="15" name="Rectangle 14"/>
          <p:cNvSpPr/>
          <p:nvPr/>
        </p:nvSpPr>
        <p:spPr>
          <a:xfrm>
            <a:off x="0" y="6656832"/>
            <a:ext cx="12191695" cy="20116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656832"/>
            <a:ext cx="109728" cy="20116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6656832"/>
            <a:ext cx="9509760" cy="201168"/>
          </a:xfrm>
          <a:prstGeom prst="rect">
            <a:avLst/>
          </a:prstGeom>
          <a:noFill/>
        </p:spPr>
        <p:txBody>
          <a:bodyPr wrap="square">
            <a:spAutoFit/>
          </a:bodyPr>
          <a:lstStyle/>
          <a:p>
            <a:pPr algn="l"/>
            <a:r>
              <a:rPr sz="1000" b="0">
                <a:solidFill>
                  <a:srgbClr val="FFFFFF"/>
                </a:solidFill>
                <a:latin typeface="Calibri"/>
              </a:rPr>
              <a:t>BMS Institute of Technology and Management  ·  Department of MCA  ·  Phase I Interim Review  ·  2025–27</a:t>
            </a:r>
          </a:p>
        </p:txBody>
      </p:sp>
      <p:sp>
        <p:nvSpPr>
          <p:cNvPr id="18" name="TextBox 17"/>
          <p:cNvSpPr txBox="1"/>
          <p:nvPr/>
        </p:nvSpPr>
        <p:spPr>
          <a:xfrm>
            <a:off x="10424160" y="6656832"/>
            <a:ext cx="1508760" cy="201168"/>
          </a:xfrm>
          <a:prstGeom prst="rect">
            <a:avLst/>
          </a:prstGeom>
          <a:noFill/>
        </p:spPr>
        <p:txBody>
          <a:bodyPr wrap="square">
            <a:spAutoFit/>
          </a:bodyPr>
          <a:lstStyle/>
          <a:p>
            <a:pPr algn="r"/>
            <a:r>
              <a:rPr sz="1000" b="0">
                <a:solidFill>
                  <a:srgbClr val="C4A35A"/>
                </a:solidFill>
                <a:latin typeface="Calibri"/>
              </a:rPr>
              <a:t>16  /  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36576"/>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37744"/>
          </a:xfrm>
          <a:prstGeom prst="rect">
            <a:avLst/>
          </a:prstGeom>
          <a:noFill/>
        </p:spPr>
        <p:txBody>
          <a:bodyPr wrap="square">
            <a:spAutoFit/>
          </a:bodyPr>
          <a:lstStyle/>
          <a:p>
            <a:pPr algn="l"/>
            <a:r>
              <a:rPr sz="1100" b="1">
                <a:solidFill>
                  <a:srgbClr val="C4A35A"/>
                </a:solidFill>
                <a:latin typeface="Calibri"/>
              </a:rPr>
              <a:t>MOBILE APPLICATION</a:t>
            </a:r>
          </a:p>
        </p:txBody>
      </p:sp>
      <p:sp>
        <p:nvSpPr>
          <p:cNvPr id="6" name="TextBox 5"/>
          <p:cNvSpPr txBox="1"/>
          <p:nvPr/>
        </p:nvSpPr>
        <p:spPr>
          <a:xfrm>
            <a:off x="457200" y="420624"/>
            <a:ext cx="11247120" cy="420624"/>
          </a:xfrm>
          <a:prstGeom prst="rect">
            <a:avLst/>
          </a:prstGeom>
          <a:noFill/>
        </p:spPr>
        <p:txBody>
          <a:bodyPr wrap="square">
            <a:spAutoFit/>
          </a:bodyPr>
          <a:lstStyle/>
          <a:p>
            <a:pPr algn="l"/>
            <a:r>
              <a:rPr sz="2400" b="1">
                <a:solidFill>
                  <a:srgbClr val="0C2340"/>
                </a:solidFill>
                <a:latin typeface="Calibri"/>
              </a:rPr>
              <a:t>Four steps: location  →  what happened  →  details  →  confirmation</a:t>
            </a:r>
          </a:p>
        </p:txBody>
      </p:sp>
      <p:pic>
        <p:nvPicPr>
          <p:cNvPr id="7" name="Picture 6" descr="safeher-app-report.png"/>
          <p:cNvPicPr>
            <a:picLocks noChangeAspect="1"/>
          </p:cNvPicPr>
          <p:nvPr/>
        </p:nvPicPr>
        <p:blipFill>
          <a:blip r:embed="rId2"/>
          <a:stretch>
            <a:fillRect/>
          </a:stretch>
        </p:blipFill>
        <p:spPr>
          <a:xfrm>
            <a:off x="365760" y="1207008"/>
            <a:ext cx="2983230" cy="5303520"/>
          </a:xfrm>
          <a:prstGeom prst="rect">
            <a:avLst/>
          </a:prstGeom>
        </p:spPr>
      </p:pic>
      <p:sp>
        <p:nvSpPr>
          <p:cNvPr id="8" name="TextBox 7"/>
          <p:cNvSpPr txBox="1"/>
          <p:nvPr/>
        </p:nvSpPr>
        <p:spPr>
          <a:xfrm>
            <a:off x="5074920" y="1417320"/>
            <a:ext cx="6675120" cy="4937760"/>
          </a:xfrm>
          <a:prstGeom prst="rect">
            <a:avLst/>
          </a:prstGeom>
          <a:noFill/>
        </p:spPr>
        <p:txBody>
          <a:bodyPr wrap="square">
            <a:spAutoFit/>
          </a:bodyPr>
          <a:lstStyle/>
          <a:p>
            <a:pPr>
              <a:spcAft>
                <a:spcPts val="800"/>
              </a:spcAft>
            </a:pPr>
            <a:r>
              <a:rPr sz="1500" b="0">
                <a:solidFill>
                  <a:srgbClr val="1B2430"/>
                </a:solidFill>
                <a:latin typeface="Calibri"/>
              </a:rPr>
              <a:t>•  Tabs: Home, Report, Map, SOS.</a:t>
            </a:r>
          </a:p>
          <a:p>
            <a:pPr>
              <a:spcAft>
                <a:spcPts val="800"/>
              </a:spcAft>
            </a:pPr>
            <a:r>
              <a:rPr sz="1500" b="0">
                <a:solidFill>
                  <a:srgbClr val="1B2430"/>
                </a:solidFill>
                <a:latin typeface="Calibri"/>
              </a:rPr>
              <a:t>•  Built with Expo so the same codebase targets iOS and Android.</a:t>
            </a:r>
          </a:p>
          <a:p>
            <a:pPr>
              <a:spcAft>
                <a:spcPts val="800"/>
              </a:spcAft>
            </a:pPr>
            <a:r>
              <a:rPr sz="1500" b="0">
                <a:solidFill>
                  <a:srgbClr val="1B2430"/>
                </a:solidFill>
                <a:latin typeface="Calibri"/>
              </a:rPr>
              <a:t>•  The Karnataka district is confirmed from GPS before submit.</a:t>
            </a:r>
          </a:p>
          <a:p>
            <a:pPr>
              <a:spcAft>
                <a:spcPts val="800"/>
              </a:spcAft>
            </a:pPr>
            <a:r>
              <a:rPr sz="1500" b="0">
                <a:solidFill>
                  <a:srgbClr val="1B2430"/>
                </a:solidFill>
                <a:latin typeface="Calibri"/>
              </a:rPr>
              <a:t>•  Incident types are requested only when something happened.</a:t>
            </a:r>
          </a:p>
          <a:p>
            <a:pPr>
              <a:spcAft>
                <a:spcPts val="800"/>
              </a:spcAft>
            </a:pPr>
            <a:r>
              <a:rPr sz="1500" b="0">
                <a:solidFill>
                  <a:srgbClr val="1B2430"/>
                </a:solidFill>
                <a:latin typeface="Calibri"/>
              </a:rPr>
              <a:t>•  Context fields: lighting, crowd, CCTV, police, transport, optional comment.</a:t>
            </a:r>
          </a:p>
          <a:p>
            <a:pPr>
              <a:spcAft>
                <a:spcPts val="800"/>
              </a:spcAft>
            </a:pPr>
            <a:r>
              <a:rPr sz="1500" b="0">
                <a:solidFill>
                  <a:srgbClr val="1B2430"/>
                </a:solidFill>
                <a:latin typeface="Calibri"/>
              </a:rPr>
              <a:t>•  SOS keeps helpline numbers one tap away.</a:t>
            </a:r>
          </a:p>
          <a:p>
            <a:pPr>
              <a:spcAft>
                <a:spcPts val="800"/>
              </a:spcAft>
            </a:pPr>
            <a:r>
              <a:rPr sz="1500" b="0">
                <a:solidFill>
                  <a:srgbClr val="1B2430"/>
                </a:solidFill>
                <a:latin typeface="Calibri"/>
              </a:rPr>
              <a:t>•  A successful submit is the start of the whole pipeline.</a:t>
            </a:r>
          </a:p>
        </p:txBody>
      </p:sp>
      <p:sp>
        <p:nvSpPr>
          <p:cNvPr id="9" name="Rectangle 8"/>
          <p:cNvSpPr/>
          <p:nvPr/>
        </p:nvSpPr>
        <p:spPr>
          <a:xfrm>
            <a:off x="0" y="6656832"/>
            <a:ext cx="12191695" cy="20116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656832"/>
            <a:ext cx="109728" cy="20116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6656832"/>
            <a:ext cx="9509760" cy="201168"/>
          </a:xfrm>
          <a:prstGeom prst="rect">
            <a:avLst/>
          </a:prstGeom>
          <a:noFill/>
        </p:spPr>
        <p:txBody>
          <a:bodyPr wrap="square">
            <a:spAutoFit/>
          </a:bodyPr>
          <a:lstStyle/>
          <a:p>
            <a:pPr algn="l"/>
            <a:r>
              <a:rPr sz="1000" b="0">
                <a:solidFill>
                  <a:srgbClr val="FFFFFF"/>
                </a:solidFill>
                <a:latin typeface="Calibri"/>
              </a:rPr>
              <a:t>BMS Institute of Technology and Management  ·  Department of MCA  ·  Phase I Interim Review  ·  2025–27</a:t>
            </a:r>
          </a:p>
        </p:txBody>
      </p:sp>
      <p:sp>
        <p:nvSpPr>
          <p:cNvPr id="12" name="TextBox 11"/>
          <p:cNvSpPr txBox="1"/>
          <p:nvPr/>
        </p:nvSpPr>
        <p:spPr>
          <a:xfrm>
            <a:off x="10424160" y="6656832"/>
            <a:ext cx="1508760" cy="201168"/>
          </a:xfrm>
          <a:prstGeom prst="rect">
            <a:avLst/>
          </a:prstGeom>
          <a:noFill/>
        </p:spPr>
        <p:txBody>
          <a:bodyPr wrap="square">
            <a:spAutoFit/>
          </a:bodyPr>
          <a:lstStyle/>
          <a:p>
            <a:pPr algn="r"/>
            <a:r>
              <a:rPr sz="1000" b="0">
                <a:solidFill>
                  <a:srgbClr val="C4A35A"/>
                </a:solidFill>
                <a:latin typeface="Calibri"/>
              </a:rPr>
              <a:t>17  /  23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36576"/>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37744"/>
          </a:xfrm>
          <a:prstGeom prst="rect">
            <a:avLst/>
          </a:prstGeom>
          <a:noFill/>
        </p:spPr>
        <p:txBody>
          <a:bodyPr wrap="square">
            <a:spAutoFit/>
          </a:bodyPr>
          <a:lstStyle/>
          <a:p>
            <a:pPr algn="l"/>
            <a:r>
              <a:rPr sz="1100" b="1">
                <a:solidFill>
                  <a:srgbClr val="C4A35A"/>
                </a:solidFill>
                <a:latin typeface="Calibri"/>
              </a:rPr>
              <a:t>MOBILE APPLICATION  ·  COMMUNITY MAP</a:t>
            </a:r>
          </a:p>
        </p:txBody>
      </p:sp>
      <p:sp>
        <p:nvSpPr>
          <p:cNvPr id="6" name="TextBox 5"/>
          <p:cNvSpPr txBox="1"/>
          <p:nvPr/>
        </p:nvSpPr>
        <p:spPr>
          <a:xfrm>
            <a:off x="457200" y="420624"/>
            <a:ext cx="11247120" cy="420624"/>
          </a:xfrm>
          <a:prstGeom prst="rect">
            <a:avLst/>
          </a:prstGeom>
          <a:noFill/>
        </p:spPr>
        <p:txBody>
          <a:bodyPr wrap="square">
            <a:spAutoFit/>
          </a:bodyPr>
          <a:lstStyle/>
          <a:p>
            <a:pPr algn="l"/>
            <a:r>
              <a:rPr sz="2400" b="1">
                <a:solidFill>
                  <a:srgbClr val="0C2340"/>
                </a:solidFill>
                <a:latin typeface="Calibri"/>
              </a:rPr>
              <a:t>Residents see community signal. The command view remains on /admin.</a:t>
            </a:r>
          </a:p>
        </p:txBody>
      </p:sp>
      <p:pic>
        <p:nvPicPr>
          <p:cNvPr id="7" name="Picture 6" descr="safeher-app-map.png"/>
          <p:cNvPicPr>
            <a:picLocks noChangeAspect="1"/>
          </p:cNvPicPr>
          <p:nvPr/>
        </p:nvPicPr>
        <p:blipFill>
          <a:blip r:embed="rId2"/>
          <a:stretch>
            <a:fillRect/>
          </a:stretch>
        </p:blipFill>
        <p:spPr>
          <a:xfrm>
            <a:off x="365760" y="1207008"/>
            <a:ext cx="2983230" cy="5303520"/>
          </a:xfrm>
          <a:prstGeom prst="rect">
            <a:avLst/>
          </a:prstGeom>
        </p:spPr>
      </p:pic>
      <p:sp>
        <p:nvSpPr>
          <p:cNvPr id="8" name="TextBox 7"/>
          <p:cNvSpPr txBox="1"/>
          <p:nvPr/>
        </p:nvSpPr>
        <p:spPr>
          <a:xfrm>
            <a:off x="5074920" y="1417320"/>
            <a:ext cx="6675120" cy="4937760"/>
          </a:xfrm>
          <a:prstGeom prst="rect">
            <a:avLst/>
          </a:prstGeom>
          <a:noFill/>
        </p:spPr>
        <p:txBody>
          <a:bodyPr wrap="square">
            <a:spAutoFit/>
          </a:bodyPr>
          <a:lstStyle/>
          <a:p>
            <a:pPr>
              <a:spcAft>
                <a:spcPts val="800"/>
              </a:spcAft>
            </a:pPr>
            <a:r>
              <a:rPr sz="1500" b="0">
                <a:solidFill>
                  <a:srgbClr val="1B2430"/>
                </a:solidFill>
                <a:latin typeface="Calibri"/>
              </a:rPr>
              <a:t>•  Green markers indicate a safe feeling.</a:t>
            </a:r>
          </a:p>
          <a:p>
            <a:pPr>
              <a:spcAft>
                <a:spcPts val="800"/>
              </a:spcAft>
            </a:pPr>
            <a:r>
              <a:rPr sz="1500" b="0">
                <a:solidFill>
                  <a:srgbClr val="1B2430"/>
                </a:solidFill>
                <a:latin typeface="Calibri"/>
              </a:rPr>
              <a:t>•  Red markers indicate unsafe or incident-like reports.</a:t>
            </a:r>
          </a:p>
          <a:p>
            <a:pPr>
              <a:spcAft>
                <a:spcPts val="800"/>
              </a:spcAft>
            </a:pPr>
            <a:r>
              <a:rPr sz="1500" b="0">
                <a:solidFill>
                  <a:srgbClr val="1B2430"/>
                </a:solidFill>
                <a:latin typeface="Calibri"/>
              </a:rPr>
              <a:t>•  Larger circles mark analysis hotspots.</a:t>
            </a:r>
          </a:p>
          <a:p>
            <a:pPr>
              <a:spcAft>
                <a:spcPts val="800"/>
              </a:spcAft>
            </a:pPr>
            <a:r>
              <a:rPr sz="1500" b="0">
                <a:solidFill>
                  <a:srgbClr val="1B2430"/>
                </a:solidFill>
                <a:latin typeface="Calibri"/>
              </a:rPr>
              <a:t>•  Demo points are labelled so live police data is not implied.</a:t>
            </a:r>
          </a:p>
          <a:p>
            <a:pPr>
              <a:spcAft>
                <a:spcPts val="800"/>
              </a:spcAft>
            </a:pPr>
            <a:r>
              <a:rPr sz="1500" b="0">
                <a:solidFill>
                  <a:srgbClr val="1B2430"/>
                </a:solidFill>
                <a:latin typeface="Calibri"/>
              </a:rPr>
              <a:t>•  Filters, patrol alerts and full KPIs are reserved for authenticated officers.</a:t>
            </a:r>
          </a:p>
        </p:txBody>
      </p:sp>
      <p:sp>
        <p:nvSpPr>
          <p:cNvPr id="9" name="Rectangle 8"/>
          <p:cNvSpPr/>
          <p:nvPr/>
        </p:nvSpPr>
        <p:spPr>
          <a:xfrm>
            <a:off x="0" y="6656832"/>
            <a:ext cx="12191695" cy="20116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656832"/>
            <a:ext cx="109728" cy="20116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6656832"/>
            <a:ext cx="9509760" cy="201168"/>
          </a:xfrm>
          <a:prstGeom prst="rect">
            <a:avLst/>
          </a:prstGeom>
          <a:noFill/>
        </p:spPr>
        <p:txBody>
          <a:bodyPr wrap="square">
            <a:spAutoFit/>
          </a:bodyPr>
          <a:lstStyle/>
          <a:p>
            <a:pPr algn="l"/>
            <a:r>
              <a:rPr sz="1000" b="0">
                <a:solidFill>
                  <a:srgbClr val="FFFFFF"/>
                </a:solidFill>
                <a:latin typeface="Calibri"/>
              </a:rPr>
              <a:t>BMS Institute of Technology and Management  ·  Department of MCA  ·  Phase I Interim Review  ·  2025–27</a:t>
            </a:r>
          </a:p>
        </p:txBody>
      </p:sp>
      <p:sp>
        <p:nvSpPr>
          <p:cNvPr id="12" name="TextBox 11"/>
          <p:cNvSpPr txBox="1"/>
          <p:nvPr/>
        </p:nvSpPr>
        <p:spPr>
          <a:xfrm>
            <a:off x="10424160" y="6656832"/>
            <a:ext cx="1508760" cy="201168"/>
          </a:xfrm>
          <a:prstGeom prst="rect">
            <a:avLst/>
          </a:prstGeom>
          <a:noFill/>
        </p:spPr>
        <p:txBody>
          <a:bodyPr wrap="square">
            <a:spAutoFit/>
          </a:bodyPr>
          <a:lstStyle/>
          <a:p>
            <a:pPr algn="r"/>
            <a:r>
              <a:rPr sz="1000" b="0">
                <a:solidFill>
                  <a:srgbClr val="C4A35A"/>
                </a:solidFill>
                <a:latin typeface="Calibri"/>
              </a:rPr>
              <a:t>18  /  23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36576"/>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37744"/>
          </a:xfrm>
          <a:prstGeom prst="rect">
            <a:avLst/>
          </a:prstGeom>
          <a:noFill/>
        </p:spPr>
        <p:txBody>
          <a:bodyPr wrap="square">
            <a:spAutoFit/>
          </a:bodyPr>
          <a:lstStyle/>
          <a:p>
            <a:pPr algn="l"/>
            <a:r>
              <a:rPr sz="1100" b="1">
                <a:solidFill>
                  <a:srgbClr val="C4A35A"/>
                </a:solidFill>
                <a:latin typeface="Calibri"/>
              </a:rPr>
              <a:t>AUTHORITY DASHBOARD  ·  FILTERS</a:t>
            </a:r>
          </a:p>
        </p:txBody>
      </p:sp>
      <p:sp>
        <p:nvSpPr>
          <p:cNvPr id="6" name="TextBox 5"/>
          <p:cNvSpPr txBox="1"/>
          <p:nvPr/>
        </p:nvSpPr>
        <p:spPr>
          <a:xfrm>
            <a:off x="457200" y="420624"/>
            <a:ext cx="11247120" cy="420624"/>
          </a:xfrm>
          <a:prstGeom prst="rect">
            <a:avLst/>
          </a:prstGeom>
          <a:noFill/>
        </p:spPr>
        <p:txBody>
          <a:bodyPr wrap="square">
            <a:spAutoFit/>
          </a:bodyPr>
          <a:lstStyle/>
          <a:p>
            <a:pPr algn="l"/>
            <a:r>
              <a:rPr sz="2400" b="1">
                <a:solidFill>
                  <a:srgbClr val="0C2340"/>
                </a:solidFill>
                <a:latin typeface="Calibri"/>
              </a:rPr>
              <a:t>Area  ·  incident type  ·  date range  ·  time of day  ·  risk  ·  reset  —  table and map follow the same selection</a:t>
            </a:r>
          </a:p>
        </p:txBody>
      </p:sp>
      <p:pic>
        <p:nvPicPr>
          <p:cNvPr id="7" name="Picture 6" descr="safeher-dashboard-filters.png"/>
          <p:cNvPicPr>
            <a:picLocks noChangeAspect="1"/>
          </p:cNvPicPr>
          <p:nvPr/>
        </p:nvPicPr>
        <p:blipFill>
          <a:blip r:embed="rId2"/>
          <a:stretch>
            <a:fillRect/>
          </a:stretch>
        </p:blipFill>
        <p:spPr>
          <a:xfrm>
            <a:off x="320040" y="1234440"/>
            <a:ext cx="11521440" cy="6480810"/>
          </a:xfrm>
          <a:prstGeom prst="rect">
            <a:avLst/>
          </a:prstGeom>
        </p:spPr>
      </p:pic>
      <p:sp>
        <p:nvSpPr>
          <p:cNvPr id="8" name="Rectangle 7"/>
          <p:cNvSpPr/>
          <p:nvPr/>
        </p:nvSpPr>
        <p:spPr>
          <a:xfrm>
            <a:off x="0" y="6656832"/>
            <a:ext cx="12191695" cy="20116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656832"/>
            <a:ext cx="109728" cy="20116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656832"/>
            <a:ext cx="9509760" cy="201168"/>
          </a:xfrm>
          <a:prstGeom prst="rect">
            <a:avLst/>
          </a:prstGeom>
          <a:noFill/>
        </p:spPr>
        <p:txBody>
          <a:bodyPr wrap="square">
            <a:spAutoFit/>
          </a:bodyPr>
          <a:lstStyle/>
          <a:p>
            <a:pPr algn="l"/>
            <a:r>
              <a:rPr sz="1000" b="0">
                <a:solidFill>
                  <a:srgbClr val="FFFFFF"/>
                </a:solidFill>
                <a:latin typeface="Calibri"/>
              </a:rPr>
              <a:t>BMS Institute of Technology and Management  ·  Department of MCA  ·  Phase I Interim Review  ·  2025–27</a:t>
            </a:r>
          </a:p>
        </p:txBody>
      </p:sp>
      <p:sp>
        <p:nvSpPr>
          <p:cNvPr id="11" name="TextBox 10"/>
          <p:cNvSpPr txBox="1"/>
          <p:nvPr/>
        </p:nvSpPr>
        <p:spPr>
          <a:xfrm>
            <a:off x="10424160" y="6656832"/>
            <a:ext cx="1508760" cy="201168"/>
          </a:xfrm>
          <a:prstGeom prst="rect">
            <a:avLst/>
          </a:prstGeom>
          <a:noFill/>
        </p:spPr>
        <p:txBody>
          <a:bodyPr wrap="square">
            <a:spAutoFit/>
          </a:bodyPr>
          <a:lstStyle/>
          <a:p>
            <a:pPr algn="r"/>
            <a:r>
              <a:rPr sz="1000" b="0">
                <a:solidFill>
                  <a:srgbClr val="C4A35A"/>
                </a:solidFill>
                <a:latin typeface="Calibri"/>
              </a:rPr>
              <a:t>19  /  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36576"/>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37744"/>
          </a:xfrm>
          <a:prstGeom prst="rect">
            <a:avLst/>
          </a:prstGeom>
          <a:noFill/>
        </p:spPr>
        <p:txBody>
          <a:bodyPr wrap="square">
            <a:spAutoFit/>
          </a:bodyPr>
          <a:lstStyle/>
          <a:p>
            <a:pPr algn="l"/>
            <a:r>
              <a:rPr sz="1100" b="1">
                <a:solidFill>
                  <a:srgbClr val="C4A35A"/>
                </a:solidFill>
                <a:latin typeface="Calibri"/>
              </a:rPr>
              <a:t>AUTHORITY DASHBOARD  ·  MAP</a:t>
            </a:r>
          </a:p>
        </p:txBody>
      </p:sp>
      <p:sp>
        <p:nvSpPr>
          <p:cNvPr id="6" name="TextBox 5"/>
          <p:cNvSpPr txBox="1"/>
          <p:nvPr/>
        </p:nvSpPr>
        <p:spPr>
          <a:xfrm>
            <a:off x="457200" y="420624"/>
            <a:ext cx="11247120" cy="420624"/>
          </a:xfrm>
          <a:prstGeom prst="rect">
            <a:avLst/>
          </a:prstGeom>
          <a:noFill/>
        </p:spPr>
        <p:txBody>
          <a:bodyPr wrap="square">
            <a:spAutoFit/>
          </a:bodyPr>
          <a:lstStyle/>
          <a:p>
            <a:pPr algn="l"/>
            <a:r>
              <a:rPr sz="2400" b="1">
                <a:solidFill>
                  <a:srgbClr val="0C2340"/>
                </a:solidFill>
                <a:latin typeface="Calibri"/>
              </a:rPr>
              <a:t>Streets, community reports and analysis hotspots on one screen</a:t>
            </a:r>
          </a:p>
        </p:txBody>
      </p:sp>
      <p:pic>
        <p:nvPicPr>
          <p:cNvPr id="7" name="Picture 6" descr="safeher-hotspots-map.png"/>
          <p:cNvPicPr>
            <a:picLocks noChangeAspect="1"/>
          </p:cNvPicPr>
          <p:nvPr/>
        </p:nvPicPr>
        <p:blipFill>
          <a:blip r:embed="rId2"/>
          <a:stretch>
            <a:fillRect/>
          </a:stretch>
        </p:blipFill>
        <p:spPr>
          <a:xfrm>
            <a:off x="274320" y="1207008"/>
            <a:ext cx="7726679" cy="4346257"/>
          </a:xfrm>
          <a:prstGeom prst="rect">
            <a:avLst/>
          </a:prstGeom>
        </p:spPr>
      </p:pic>
      <p:sp>
        <p:nvSpPr>
          <p:cNvPr id="8" name="TextBox 7"/>
          <p:cNvSpPr txBox="1"/>
          <p:nvPr/>
        </p:nvSpPr>
        <p:spPr>
          <a:xfrm>
            <a:off x="8183879" y="1417320"/>
            <a:ext cx="3657600" cy="4846320"/>
          </a:xfrm>
          <a:prstGeom prst="rect">
            <a:avLst/>
          </a:prstGeom>
          <a:noFill/>
        </p:spPr>
        <p:txBody>
          <a:bodyPr wrap="square">
            <a:spAutoFit/>
          </a:bodyPr>
          <a:lstStyle/>
          <a:p>
            <a:pPr>
              <a:spcAft>
                <a:spcPts val="800"/>
              </a:spcAft>
            </a:pPr>
            <a:r>
              <a:rPr sz="1400" b="0">
                <a:solidFill>
                  <a:srgbClr val="1B2430"/>
                </a:solidFill>
                <a:latin typeface="Calibri"/>
              </a:rPr>
              <a:t>•  Each layer can be toggled.</a:t>
            </a:r>
          </a:p>
          <a:p>
            <a:pPr>
              <a:spcAft>
                <a:spcPts val="800"/>
              </a:spcAft>
            </a:pPr>
            <a:r>
              <a:rPr sz="1400" b="0">
                <a:solidFill>
                  <a:srgbClr val="1B2430"/>
                </a:solidFill>
                <a:latin typeface="Calibri"/>
              </a:rPr>
              <a:t>•  Filters match the hotspot table.</a:t>
            </a:r>
          </a:p>
          <a:p>
            <a:pPr>
              <a:spcAft>
                <a:spcPts val="800"/>
              </a:spcAft>
            </a:pPr>
            <a:r>
              <a:rPr sz="1400" b="0">
                <a:solidFill>
                  <a:srgbClr val="1B2430"/>
                </a:solidFill>
                <a:latin typeface="Calibri"/>
              </a:rPr>
              <a:t>•  A circle shows area, count, peak time and risk.</a:t>
            </a:r>
          </a:p>
          <a:p>
            <a:pPr>
              <a:spcAft>
                <a:spcPts val="800"/>
              </a:spcAft>
            </a:pPr>
            <a:r>
              <a:rPr sz="1400" b="0">
                <a:solidFill>
                  <a:srgbClr val="1B2430"/>
                </a:solidFill>
                <a:latin typeface="Calibri"/>
              </a:rPr>
              <a:t>•  The patrol hint is available for the briefing.</a:t>
            </a:r>
          </a:p>
          <a:p>
            <a:pPr>
              <a:spcAft>
                <a:spcPts val="800"/>
              </a:spcAft>
            </a:pPr>
            <a:r>
              <a:rPr sz="1400" b="0">
                <a:solidFill>
                  <a:srgbClr val="1B2430"/>
                </a:solidFill>
                <a:latin typeface="Calibri"/>
              </a:rPr>
              <a:t>•  GIS export from another team is not required.</a:t>
            </a:r>
          </a:p>
        </p:txBody>
      </p:sp>
      <p:sp>
        <p:nvSpPr>
          <p:cNvPr id="9" name="Rectangle 8"/>
          <p:cNvSpPr/>
          <p:nvPr/>
        </p:nvSpPr>
        <p:spPr>
          <a:xfrm>
            <a:off x="0" y="6656832"/>
            <a:ext cx="12191695" cy="20116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656832"/>
            <a:ext cx="109728" cy="20116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6656832"/>
            <a:ext cx="9509760" cy="201168"/>
          </a:xfrm>
          <a:prstGeom prst="rect">
            <a:avLst/>
          </a:prstGeom>
          <a:noFill/>
        </p:spPr>
        <p:txBody>
          <a:bodyPr wrap="square">
            <a:spAutoFit/>
          </a:bodyPr>
          <a:lstStyle/>
          <a:p>
            <a:pPr algn="l"/>
            <a:r>
              <a:rPr sz="1000" b="0">
                <a:solidFill>
                  <a:srgbClr val="FFFFFF"/>
                </a:solidFill>
                <a:latin typeface="Calibri"/>
              </a:rPr>
              <a:t>BMS Institute of Technology and Management  ·  Department of MCA  ·  Phase I Interim Review  ·  2025–27</a:t>
            </a:r>
          </a:p>
        </p:txBody>
      </p:sp>
      <p:sp>
        <p:nvSpPr>
          <p:cNvPr id="12" name="TextBox 11"/>
          <p:cNvSpPr txBox="1"/>
          <p:nvPr/>
        </p:nvSpPr>
        <p:spPr>
          <a:xfrm>
            <a:off x="10424160" y="6656832"/>
            <a:ext cx="1508760" cy="201168"/>
          </a:xfrm>
          <a:prstGeom prst="rect">
            <a:avLst/>
          </a:prstGeom>
          <a:noFill/>
        </p:spPr>
        <p:txBody>
          <a:bodyPr wrap="square">
            <a:spAutoFit/>
          </a:bodyPr>
          <a:lstStyle/>
          <a:p>
            <a:pPr algn="r"/>
            <a:r>
              <a:rPr sz="1000" b="0">
                <a:solidFill>
                  <a:srgbClr val="C4A35A"/>
                </a:solidFill>
                <a:latin typeface="Calibri"/>
              </a:rPr>
              <a:t>20  /  23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36576"/>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37744"/>
          </a:xfrm>
          <a:prstGeom prst="rect">
            <a:avLst/>
          </a:prstGeom>
          <a:noFill/>
        </p:spPr>
        <p:txBody>
          <a:bodyPr wrap="square">
            <a:spAutoFit/>
          </a:bodyPr>
          <a:lstStyle/>
          <a:p>
            <a:pPr algn="l"/>
            <a:r>
              <a:rPr sz="1100" b="1">
                <a:solidFill>
                  <a:srgbClr val="C4A35A"/>
                </a:solidFill>
                <a:latin typeface="Calibri"/>
              </a:rPr>
              <a:t>DATA SOURCES AND LIMITATIONS</a:t>
            </a:r>
          </a:p>
        </p:txBody>
      </p:sp>
      <p:sp>
        <p:nvSpPr>
          <p:cNvPr id="6" name="TextBox 5"/>
          <p:cNvSpPr txBox="1"/>
          <p:nvPr/>
        </p:nvSpPr>
        <p:spPr>
          <a:xfrm>
            <a:off x="457200" y="420624"/>
            <a:ext cx="11247120" cy="420624"/>
          </a:xfrm>
          <a:prstGeom prst="rect">
            <a:avLst/>
          </a:prstGeom>
          <a:noFill/>
        </p:spPr>
        <p:txBody>
          <a:bodyPr wrap="square">
            <a:spAutoFit/>
          </a:bodyPr>
          <a:lstStyle/>
          <a:p>
            <a:pPr algn="l"/>
            <a:r>
              <a:rPr sz="2400" b="1">
                <a:solidFill>
                  <a:srgbClr val="0C2340"/>
                </a:solidFill>
                <a:latin typeface="Calibri"/>
              </a:rPr>
              <a:t>What each layer is, and what it is not</a:t>
            </a:r>
          </a:p>
        </p:txBody>
      </p:sp>
      <p:sp>
        <p:nvSpPr>
          <p:cNvPr id="7" name="Rounded Rectangle 6"/>
          <p:cNvSpPr/>
          <p:nvPr/>
        </p:nvSpPr>
        <p:spPr>
          <a:xfrm>
            <a:off x="365760" y="1298448"/>
            <a:ext cx="1143000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499616"/>
            <a:ext cx="3383280" cy="457200"/>
          </a:xfrm>
          <a:prstGeom prst="rect">
            <a:avLst/>
          </a:prstGeom>
          <a:noFill/>
        </p:spPr>
        <p:txBody>
          <a:bodyPr wrap="square">
            <a:spAutoFit/>
          </a:bodyPr>
          <a:lstStyle/>
          <a:p>
            <a:pPr algn="l"/>
            <a:r>
              <a:rPr sz="1300" b="1">
                <a:solidFill>
                  <a:srgbClr val="0C2340"/>
                </a:solidFill>
                <a:latin typeface="Calibri"/>
              </a:rPr>
              <a:t>OSM streets and camera locations</a:t>
            </a:r>
          </a:p>
        </p:txBody>
      </p:sp>
      <p:sp>
        <p:nvSpPr>
          <p:cNvPr id="9" name="TextBox 8"/>
          <p:cNvSpPr txBox="1"/>
          <p:nvPr/>
        </p:nvSpPr>
        <p:spPr>
          <a:xfrm>
            <a:off x="4023360" y="1499616"/>
            <a:ext cx="2240280" cy="457200"/>
          </a:xfrm>
          <a:prstGeom prst="rect">
            <a:avLst/>
          </a:prstGeom>
          <a:noFill/>
        </p:spPr>
        <p:txBody>
          <a:bodyPr wrap="square">
            <a:spAutoFit/>
          </a:bodyPr>
          <a:lstStyle/>
          <a:p>
            <a:pPr algn="l"/>
            <a:r>
              <a:rPr sz="1300" b="1">
                <a:solidFill>
                  <a:srgbClr val="C4A35A"/>
                </a:solidFill>
                <a:latin typeface="Calibri"/>
              </a:rPr>
              <a:t>Observed geography</a:t>
            </a:r>
          </a:p>
        </p:txBody>
      </p:sp>
      <p:sp>
        <p:nvSpPr>
          <p:cNvPr id="10" name="TextBox 9"/>
          <p:cNvSpPr txBox="1"/>
          <p:nvPr/>
        </p:nvSpPr>
        <p:spPr>
          <a:xfrm>
            <a:off x="6355080" y="1444751"/>
            <a:ext cx="5212080" cy="548640"/>
          </a:xfrm>
          <a:prstGeom prst="rect">
            <a:avLst/>
          </a:prstGeom>
          <a:noFill/>
        </p:spPr>
        <p:txBody>
          <a:bodyPr wrap="square">
            <a:spAutoFit/>
          </a:bodyPr>
          <a:lstStyle/>
          <a:p>
            <a:pPr algn="l"/>
            <a:r>
              <a:rPr sz="1200" b="0">
                <a:solidFill>
                  <a:srgbClr val="5A6570"/>
                </a:solidFill>
                <a:latin typeface="Calibri"/>
              </a:rPr>
              <a:t>604,573 Karnataka streets across 30 districts; 5,578 cameras. Used as infrastructure context.</a:t>
            </a:r>
          </a:p>
        </p:txBody>
      </p:sp>
      <p:sp>
        <p:nvSpPr>
          <p:cNvPr id="11" name="Rounded Rectangle 10"/>
          <p:cNvSpPr/>
          <p:nvPr/>
        </p:nvSpPr>
        <p:spPr>
          <a:xfrm>
            <a:off x="365760" y="2139696"/>
            <a:ext cx="1143000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2340864"/>
            <a:ext cx="3383280" cy="457200"/>
          </a:xfrm>
          <a:prstGeom prst="rect">
            <a:avLst/>
          </a:prstGeom>
          <a:noFill/>
        </p:spPr>
        <p:txBody>
          <a:bodyPr wrap="square">
            <a:spAutoFit/>
          </a:bodyPr>
          <a:lstStyle/>
          <a:p>
            <a:pPr algn="l"/>
            <a:r>
              <a:rPr sz="1300" b="1">
                <a:solidFill>
                  <a:srgbClr val="0C2340"/>
                </a:solidFill>
                <a:latin typeface="Calibri"/>
              </a:rPr>
              <a:t>Street safety score</a:t>
            </a:r>
          </a:p>
        </p:txBody>
      </p:sp>
      <p:sp>
        <p:nvSpPr>
          <p:cNvPr id="13" name="TextBox 12"/>
          <p:cNvSpPr txBox="1"/>
          <p:nvPr/>
        </p:nvSpPr>
        <p:spPr>
          <a:xfrm>
            <a:off x="4023360" y="2340864"/>
            <a:ext cx="2240280" cy="457200"/>
          </a:xfrm>
          <a:prstGeom prst="rect">
            <a:avLst/>
          </a:prstGeom>
          <a:noFill/>
        </p:spPr>
        <p:txBody>
          <a:bodyPr wrap="square">
            <a:spAutoFit/>
          </a:bodyPr>
          <a:lstStyle/>
          <a:p>
            <a:pPr algn="l"/>
            <a:r>
              <a:rPr sz="1300" b="1">
                <a:solidFill>
                  <a:srgbClr val="C4A35A"/>
                </a:solidFill>
                <a:latin typeface="Calibri"/>
              </a:rPr>
              <a:t>Modelled proxy</a:t>
            </a:r>
          </a:p>
        </p:txBody>
      </p:sp>
      <p:sp>
        <p:nvSpPr>
          <p:cNvPr id="14" name="TextBox 13"/>
          <p:cNvSpPr txBox="1"/>
          <p:nvPr/>
        </p:nvSpPr>
        <p:spPr>
          <a:xfrm>
            <a:off x="6355080" y="2286000"/>
            <a:ext cx="5212080" cy="548640"/>
          </a:xfrm>
          <a:prstGeom prst="rect">
            <a:avLst/>
          </a:prstGeom>
          <a:noFill/>
        </p:spPr>
        <p:txBody>
          <a:bodyPr wrap="square">
            <a:spAutoFit/>
          </a:bodyPr>
          <a:lstStyle/>
          <a:p>
            <a:pPr algn="l"/>
            <a:r>
              <a:rPr sz="1200" b="0">
                <a:solidFill>
                  <a:srgbClr val="5A6570"/>
                </a:solidFill>
                <a:latin typeface="Calibri"/>
              </a:rPr>
              <a:t>Nine infrastructure factors. Statewide average 4.16 / 10. It is not a crime rate.</a:t>
            </a:r>
          </a:p>
        </p:txBody>
      </p:sp>
      <p:sp>
        <p:nvSpPr>
          <p:cNvPr id="15" name="Rounded Rectangle 14"/>
          <p:cNvSpPr/>
          <p:nvPr/>
        </p:nvSpPr>
        <p:spPr>
          <a:xfrm>
            <a:off x="365760" y="2980944"/>
            <a:ext cx="1143000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3182112"/>
            <a:ext cx="3383280" cy="457200"/>
          </a:xfrm>
          <a:prstGeom prst="rect">
            <a:avLst/>
          </a:prstGeom>
          <a:noFill/>
        </p:spPr>
        <p:txBody>
          <a:bodyPr wrap="square">
            <a:spAutoFit/>
          </a:bodyPr>
          <a:lstStyle/>
          <a:p>
            <a:pPr algn="l"/>
            <a:r>
              <a:rPr sz="1300" b="1">
                <a:solidFill>
                  <a:srgbClr val="0C2340"/>
                </a:solidFill>
                <a:latin typeface="Calibri"/>
              </a:rPr>
              <a:t>Application reports (this run)</a:t>
            </a:r>
          </a:p>
        </p:txBody>
      </p:sp>
      <p:sp>
        <p:nvSpPr>
          <p:cNvPr id="17" name="TextBox 16"/>
          <p:cNvSpPr txBox="1"/>
          <p:nvPr/>
        </p:nvSpPr>
        <p:spPr>
          <a:xfrm>
            <a:off x="4023360" y="3182112"/>
            <a:ext cx="2240280" cy="457200"/>
          </a:xfrm>
          <a:prstGeom prst="rect">
            <a:avLst/>
          </a:prstGeom>
          <a:noFill/>
        </p:spPr>
        <p:txBody>
          <a:bodyPr wrap="square">
            <a:spAutoFit/>
          </a:bodyPr>
          <a:lstStyle/>
          <a:p>
            <a:pPr algn="l"/>
            <a:r>
              <a:rPr sz="1300" b="1">
                <a:solidFill>
                  <a:srgbClr val="C4A35A"/>
                </a:solidFill>
                <a:latin typeface="Calibri"/>
              </a:rPr>
              <a:t>Synthetic, live-ready</a:t>
            </a:r>
          </a:p>
        </p:txBody>
      </p:sp>
      <p:sp>
        <p:nvSpPr>
          <p:cNvPr id="18" name="TextBox 17"/>
          <p:cNvSpPr txBox="1"/>
          <p:nvPr/>
        </p:nvSpPr>
        <p:spPr>
          <a:xfrm>
            <a:off x="6355080" y="3127248"/>
            <a:ext cx="5212080" cy="548640"/>
          </a:xfrm>
          <a:prstGeom prst="rect">
            <a:avLst/>
          </a:prstGeom>
          <a:noFill/>
        </p:spPr>
        <p:txBody>
          <a:bodyPr wrap="square">
            <a:spAutoFit/>
          </a:bodyPr>
          <a:lstStyle/>
          <a:p>
            <a:pPr algn="l"/>
            <a:r>
              <a:rPr sz="1200" b="0">
                <a:solidFill>
                  <a:srgbClr val="5A6570"/>
                </a:solidFill>
                <a:latin typeface="Calibri"/>
              </a:rPr>
              <a:t>1,079 demo rows across 30 districts. Live rows use the same table and the same pipeline.</a:t>
            </a:r>
          </a:p>
        </p:txBody>
      </p:sp>
      <p:sp>
        <p:nvSpPr>
          <p:cNvPr id="19" name="Rounded Rectangle 18"/>
          <p:cNvSpPr/>
          <p:nvPr/>
        </p:nvSpPr>
        <p:spPr>
          <a:xfrm>
            <a:off x="365760" y="3822191"/>
            <a:ext cx="1143000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4023359"/>
            <a:ext cx="3383280" cy="457200"/>
          </a:xfrm>
          <a:prstGeom prst="rect">
            <a:avLst/>
          </a:prstGeom>
          <a:noFill/>
        </p:spPr>
        <p:txBody>
          <a:bodyPr wrap="square">
            <a:spAutoFit/>
          </a:bodyPr>
          <a:lstStyle/>
          <a:p>
            <a:pPr algn="l"/>
            <a:r>
              <a:rPr sz="1300" b="1">
                <a:solidFill>
                  <a:srgbClr val="0C2340"/>
                </a:solidFill>
                <a:latin typeface="Calibri"/>
              </a:rPr>
              <a:t>Hotspots and alerts</a:t>
            </a:r>
          </a:p>
        </p:txBody>
      </p:sp>
      <p:sp>
        <p:nvSpPr>
          <p:cNvPr id="21" name="TextBox 20"/>
          <p:cNvSpPr txBox="1"/>
          <p:nvPr/>
        </p:nvSpPr>
        <p:spPr>
          <a:xfrm>
            <a:off x="4023360" y="4023359"/>
            <a:ext cx="2240280" cy="457200"/>
          </a:xfrm>
          <a:prstGeom prst="rect">
            <a:avLst/>
          </a:prstGeom>
          <a:noFill/>
        </p:spPr>
        <p:txBody>
          <a:bodyPr wrap="square">
            <a:spAutoFit/>
          </a:bodyPr>
          <a:lstStyle/>
          <a:p>
            <a:pPr algn="l"/>
            <a:r>
              <a:rPr sz="1300" b="1">
                <a:solidFill>
                  <a:srgbClr val="C4A35A"/>
                </a:solidFill>
                <a:latin typeface="Calibri"/>
              </a:rPr>
              <a:t>Derived</a:t>
            </a:r>
          </a:p>
        </p:txBody>
      </p:sp>
      <p:sp>
        <p:nvSpPr>
          <p:cNvPr id="22" name="TextBox 21"/>
          <p:cNvSpPr txBox="1"/>
          <p:nvPr/>
        </p:nvSpPr>
        <p:spPr>
          <a:xfrm>
            <a:off x="6355080" y="3968496"/>
            <a:ext cx="5212080" cy="548640"/>
          </a:xfrm>
          <a:prstGeom prst="rect">
            <a:avLst/>
          </a:prstGeom>
          <a:noFill/>
        </p:spPr>
        <p:txBody>
          <a:bodyPr wrap="square">
            <a:spAutoFit/>
          </a:bodyPr>
          <a:lstStyle/>
          <a:p>
            <a:pPr algn="l"/>
            <a:r>
              <a:rPr sz="1200" b="0">
                <a:solidFill>
                  <a:srgbClr val="5A6570"/>
                </a:solidFill>
                <a:latin typeface="Calibri"/>
              </a:rPr>
              <a:t>1 km clusters of incident-like reports. Historical concentration, not a forecast.</a:t>
            </a:r>
          </a:p>
        </p:txBody>
      </p:sp>
      <p:sp>
        <p:nvSpPr>
          <p:cNvPr id="23" name="Rounded Rectangle 22"/>
          <p:cNvSpPr/>
          <p:nvPr/>
        </p:nvSpPr>
        <p:spPr>
          <a:xfrm>
            <a:off x="365760" y="4663440"/>
            <a:ext cx="1143000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 y="4864607"/>
            <a:ext cx="3383280" cy="457200"/>
          </a:xfrm>
          <a:prstGeom prst="rect">
            <a:avLst/>
          </a:prstGeom>
          <a:noFill/>
        </p:spPr>
        <p:txBody>
          <a:bodyPr wrap="square">
            <a:spAutoFit/>
          </a:bodyPr>
          <a:lstStyle/>
          <a:p>
            <a:pPr algn="l"/>
            <a:r>
              <a:rPr sz="1300" b="1">
                <a:solidFill>
                  <a:srgbClr val="0C2340"/>
                </a:solidFill>
                <a:latin typeface="Calibri"/>
              </a:rPr>
              <a:t>KSP 2023–24 tables</a:t>
            </a:r>
          </a:p>
        </p:txBody>
      </p:sp>
      <p:sp>
        <p:nvSpPr>
          <p:cNvPr id="25" name="TextBox 24"/>
          <p:cNvSpPr txBox="1"/>
          <p:nvPr/>
        </p:nvSpPr>
        <p:spPr>
          <a:xfrm>
            <a:off x="4023360" y="4864607"/>
            <a:ext cx="2240280" cy="457200"/>
          </a:xfrm>
          <a:prstGeom prst="rect">
            <a:avLst/>
          </a:prstGeom>
          <a:noFill/>
        </p:spPr>
        <p:txBody>
          <a:bodyPr wrap="square">
            <a:spAutoFit/>
          </a:bodyPr>
          <a:lstStyle/>
          <a:p>
            <a:pPr algn="l"/>
            <a:r>
              <a:rPr sz="1300" b="1">
                <a:solidFill>
                  <a:srgbClr val="C4A35A"/>
                </a:solidFill>
                <a:latin typeface="Calibri"/>
              </a:rPr>
              <a:t>Official, district grain</a:t>
            </a:r>
          </a:p>
        </p:txBody>
      </p:sp>
      <p:sp>
        <p:nvSpPr>
          <p:cNvPr id="26" name="TextBox 25"/>
          <p:cNvSpPr txBox="1"/>
          <p:nvPr/>
        </p:nvSpPr>
        <p:spPr>
          <a:xfrm>
            <a:off x="6355080" y="4809744"/>
            <a:ext cx="5212080" cy="548640"/>
          </a:xfrm>
          <a:prstGeom prst="rect">
            <a:avLst/>
          </a:prstGeom>
          <a:noFill/>
        </p:spPr>
        <p:txBody>
          <a:bodyPr wrap="square">
            <a:spAutoFit/>
          </a:bodyPr>
          <a:lstStyle/>
          <a:p>
            <a:pPr algn="l"/>
            <a:r>
              <a:rPr sz="1200" b="0">
                <a:solidFill>
                  <a:srgbClr val="5A6570"/>
                </a:solidFill>
                <a:latin typeface="Calibri"/>
              </a:rPr>
              <a:t>All 30 Karnataka districts. Never drawn as street dots.</a:t>
            </a:r>
          </a:p>
        </p:txBody>
      </p:sp>
      <p:sp>
        <p:nvSpPr>
          <p:cNvPr id="27" name="Rounded Rectangle 26"/>
          <p:cNvSpPr/>
          <p:nvPr/>
        </p:nvSpPr>
        <p:spPr>
          <a:xfrm>
            <a:off x="365760" y="5504688"/>
            <a:ext cx="1143000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 y="5705855"/>
            <a:ext cx="3383280" cy="457200"/>
          </a:xfrm>
          <a:prstGeom prst="rect">
            <a:avLst/>
          </a:prstGeom>
          <a:noFill/>
        </p:spPr>
        <p:txBody>
          <a:bodyPr wrap="square">
            <a:spAutoFit/>
          </a:bodyPr>
          <a:lstStyle/>
          <a:p>
            <a:pPr algn="l"/>
            <a:r>
              <a:rPr sz="1300" b="1">
                <a:solidFill>
                  <a:srgbClr val="0C2340"/>
                </a:solidFill>
                <a:latin typeface="Calibri"/>
              </a:rPr>
              <a:t>CCTV video</a:t>
            </a:r>
          </a:p>
        </p:txBody>
      </p:sp>
      <p:sp>
        <p:nvSpPr>
          <p:cNvPr id="29" name="TextBox 28"/>
          <p:cNvSpPr txBox="1"/>
          <p:nvPr/>
        </p:nvSpPr>
        <p:spPr>
          <a:xfrm>
            <a:off x="4023360" y="5705855"/>
            <a:ext cx="2240280" cy="457200"/>
          </a:xfrm>
          <a:prstGeom prst="rect">
            <a:avLst/>
          </a:prstGeom>
          <a:noFill/>
        </p:spPr>
        <p:txBody>
          <a:bodyPr wrap="square">
            <a:spAutoFit/>
          </a:bodyPr>
          <a:lstStyle/>
          <a:p>
            <a:pPr algn="l"/>
            <a:r>
              <a:rPr sz="1300" b="1">
                <a:solidFill>
                  <a:srgbClr val="C4A35A"/>
                </a:solidFill>
                <a:latin typeface="Calibri"/>
              </a:rPr>
              <a:t>Out of scope</a:t>
            </a:r>
          </a:p>
        </p:txBody>
      </p:sp>
      <p:sp>
        <p:nvSpPr>
          <p:cNvPr id="30" name="TextBox 29"/>
          <p:cNvSpPr txBox="1"/>
          <p:nvPr/>
        </p:nvSpPr>
        <p:spPr>
          <a:xfrm>
            <a:off x="6355080" y="5650992"/>
            <a:ext cx="5212080" cy="548640"/>
          </a:xfrm>
          <a:prstGeom prst="rect">
            <a:avLst/>
          </a:prstGeom>
          <a:noFill/>
        </p:spPr>
        <p:txBody>
          <a:bodyPr wrap="square">
            <a:spAutoFit/>
          </a:bodyPr>
          <a:lstStyle/>
          <a:p>
            <a:pPr algn="l"/>
            <a:r>
              <a:rPr sz="1200" b="0">
                <a:solidFill>
                  <a:srgbClr val="5A6570"/>
                </a:solidFill>
                <a:latin typeface="Calibri"/>
              </a:rPr>
              <a:t>Camera locations may be shown. Live Safe City streams are not used.</a:t>
            </a:r>
          </a:p>
        </p:txBody>
      </p:sp>
      <p:sp>
        <p:nvSpPr>
          <p:cNvPr id="31" name="Rectangle 30"/>
          <p:cNvSpPr/>
          <p:nvPr/>
        </p:nvSpPr>
        <p:spPr>
          <a:xfrm>
            <a:off x="0" y="6656832"/>
            <a:ext cx="12191695" cy="20116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6656832"/>
            <a:ext cx="109728" cy="20116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0040" y="6656832"/>
            <a:ext cx="9509760" cy="201168"/>
          </a:xfrm>
          <a:prstGeom prst="rect">
            <a:avLst/>
          </a:prstGeom>
          <a:noFill/>
        </p:spPr>
        <p:txBody>
          <a:bodyPr wrap="square">
            <a:spAutoFit/>
          </a:bodyPr>
          <a:lstStyle/>
          <a:p>
            <a:pPr algn="l"/>
            <a:r>
              <a:rPr sz="1000" b="0">
                <a:solidFill>
                  <a:srgbClr val="FFFFFF"/>
                </a:solidFill>
                <a:latin typeface="Calibri"/>
              </a:rPr>
              <a:t>BMS Institute of Technology and Management  ·  Department of MCA  ·  Phase I Interim Review  ·  2025–27</a:t>
            </a:r>
          </a:p>
        </p:txBody>
      </p:sp>
      <p:sp>
        <p:nvSpPr>
          <p:cNvPr id="34" name="TextBox 33"/>
          <p:cNvSpPr txBox="1"/>
          <p:nvPr/>
        </p:nvSpPr>
        <p:spPr>
          <a:xfrm>
            <a:off x="10424160" y="6656832"/>
            <a:ext cx="1508760" cy="201168"/>
          </a:xfrm>
          <a:prstGeom prst="rect">
            <a:avLst/>
          </a:prstGeom>
          <a:noFill/>
        </p:spPr>
        <p:txBody>
          <a:bodyPr wrap="square">
            <a:spAutoFit/>
          </a:bodyPr>
          <a:lstStyle/>
          <a:p>
            <a:pPr algn="r"/>
            <a:r>
              <a:rPr sz="1000" b="0">
                <a:solidFill>
                  <a:srgbClr val="C4A35A"/>
                </a:solidFill>
                <a:latin typeface="Calibri"/>
              </a:rPr>
              <a:t>21  /  23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36576"/>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37744"/>
          </a:xfrm>
          <a:prstGeom prst="rect">
            <a:avLst/>
          </a:prstGeom>
          <a:noFill/>
        </p:spPr>
        <p:txBody>
          <a:bodyPr wrap="square">
            <a:spAutoFit/>
          </a:bodyPr>
          <a:lstStyle/>
          <a:p>
            <a:pPr algn="l"/>
            <a:r>
              <a:rPr sz="1100" b="1">
                <a:solidFill>
                  <a:srgbClr val="C4A35A"/>
                </a:solidFill>
                <a:latin typeface="Calibri"/>
              </a:rPr>
              <a:t>STATUS AT INTERIM</a:t>
            </a:r>
          </a:p>
        </p:txBody>
      </p:sp>
      <p:sp>
        <p:nvSpPr>
          <p:cNvPr id="6" name="TextBox 5"/>
          <p:cNvSpPr txBox="1"/>
          <p:nvPr/>
        </p:nvSpPr>
        <p:spPr>
          <a:xfrm>
            <a:off x="457200" y="420624"/>
            <a:ext cx="11247120" cy="420624"/>
          </a:xfrm>
          <a:prstGeom prst="rect">
            <a:avLst/>
          </a:prstGeom>
          <a:noFill/>
        </p:spPr>
        <p:txBody>
          <a:bodyPr wrap="square">
            <a:spAutoFit/>
          </a:bodyPr>
          <a:lstStyle/>
          <a:p>
            <a:pPr algn="l"/>
            <a:r>
              <a:rPr sz="2400" b="1">
                <a:solidFill>
                  <a:srgbClr val="0C2340"/>
                </a:solidFill>
                <a:latin typeface="Calibri"/>
              </a:rPr>
              <a:t>The process is defined and implemented for local demonstration</a:t>
            </a:r>
          </a:p>
        </p:txBody>
      </p:sp>
      <p:sp>
        <p:nvSpPr>
          <p:cNvPr id="7" name="Rounded Rectangle 6"/>
          <p:cNvSpPr/>
          <p:nvPr/>
        </p:nvSpPr>
        <p:spPr>
          <a:xfrm>
            <a:off x="411480" y="1353312"/>
            <a:ext cx="5623560" cy="4800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536192"/>
            <a:ext cx="5166360" cy="365760"/>
          </a:xfrm>
          <a:prstGeom prst="rect">
            <a:avLst/>
          </a:prstGeom>
          <a:noFill/>
        </p:spPr>
        <p:txBody>
          <a:bodyPr wrap="square">
            <a:spAutoFit/>
          </a:bodyPr>
          <a:lstStyle/>
          <a:p>
            <a:pPr algn="l"/>
            <a:r>
              <a:rPr sz="1800" b="1">
                <a:solidFill>
                  <a:srgbClr val="1F6B4A"/>
                </a:solidFill>
                <a:latin typeface="Calibri"/>
              </a:rPr>
              <a:t>Completed</a:t>
            </a:r>
          </a:p>
        </p:txBody>
      </p:sp>
      <p:sp>
        <p:nvSpPr>
          <p:cNvPr id="9" name="TextBox 8"/>
          <p:cNvSpPr txBox="1"/>
          <p:nvPr/>
        </p:nvSpPr>
        <p:spPr>
          <a:xfrm>
            <a:off x="640080" y="2011680"/>
            <a:ext cx="5166360" cy="3840480"/>
          </a:xfrm>
          <a:prstGeom prst="rect">
            <a:avLst/>
          </a:prstGeom>
          <a:noFill/>
        </p:spPr>
        <p:txBody>
          <a:bodyPr wrap="square">
            <a:spAutoFit/>
          </a:bodyPr>
          <a:lstStyle/>
          <a:p>
            <a:pPr>
              <a:spcAft>
                <a:spcPts val="800"/>
              </a:spcAft>
            </a:pPr>
            <a:r>
              <a:rPr sz="1400" b="0">
                <a:solidFill>
                  <a:srgbClr val="1B2430"/>
                </a:solidFill>
                <a:latin typeface="Calibri"/>
              </a:rPr>
              <a:t>•  Shared title, module split and synopsis.</a:t>
            </a:r>
          </a:p>
          <a:p>
            <a:pPr>
              <a:spcAft>
                <a:spcPts val="800"/>
              </a:spcAft>
            </a:pPr>
            <a:r>
              <a:rPr sz="1400" b="0">
                <a:solidFill>
                  <a:srgbClr val="1B2430"/>
                </a:solidFill>
                <a:latin typeface="Calibri"/>
              </a:rPr>
              <a:t>•  OSM infrastructure dataset for Karnataka (30 districts, 604,573 streets).</a:t>
            </a:r>
          </a:p>
          <a:p>
            <a:pPr>
              <a:spcAft>
                <a:spcPts val="800"/>
              </a:spcAft>
            </a:pPr>
            <a:r>
              <a:rPr sz="1400" b="0">
                <a:solidFill>
                  <a:srgbClr val="1B2430"/>
                </a:solidFill>
                <a:latin typeface="Calibri"/>
              </a:rPr>
              <a:t>•  Application schema, HTTPS submit and Row Level Security.</a:t>
            </a:r>
          </a:p>
          <a:p>
            <a:pPr>
              <a:spcAft>
                <a:spcPts val="800"/>
              </a:spcAft>
            </a:pPr>
            <a:r>
              <a:rPr sz="1400" b="0">
                <a:solidFill>
                  <a:srgbClr val="1B2430"/>
                </a:solidFill>
                <a:latin typeface="Calibri"/>
              </a:rPr>
              <a:t>•  Analysis pipeline with self-check: 72 hotspots, 55 alerts, 30 districts.</a:t>
            </a:r>
          </a:p>
          <a:p>
            <a:pPr>
              <a:spcAft>
                <a:spcPts val="800"/>
              </a:spcAft>
            </a:pPr>
            <a:r>
              <a:rPr sz="1400" b="0">
                <a:solidFill>
                  <a:srgbClr val="1B2430"/>
                </a:solidFill>
                <a:latin typeface="Calibri"/>
              </a:rPr>
              <a:t>•  Authority dashboard: login, filters, hotspots, map.</a:t>
            </a:r>
          </a:p>
          <a:p>
            <a:pPr>
              <a:spcAft>
                <a:spcPts val="800"/>
              </a:spcAft>
            </a:pPr>
            <a:r>
              <a:rPr sz="1400" b="0">
                <a:solidFill>
                  <a:srgbClr val="1B2430"/>
                </a:solidFill>
                <a:latin typeface="Calibri"/>
              </a:rPr>
              <a:t>•  Security: anonymous reports, rate limit, admin session cookie.</a:t>
            </a:r>
          </a:p>
        </p:txBody>
      </p:sp>
      <p:sp>
        <p:nvSpPr>
          <p:cNvPr id="10" name="Rounded Rectangle 9"/>
          <p:cNvSpPr/>
          <p:nvPr/>
        </p:nvSpPr>
        <p:spPr>
          <a:xfrm>
            <a:off x="6217920" y="1353312"/>
            <a:ext cx="5532120" cy="4800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536192"/>
            <a:ext cx="5074920" cy="365760"/>
          </a:xfrm>
          <a:prstGeom prst="rect">
            <a:avLst/>
          </a:prstGeom>
          <a:noFill/>
        </p:spPr>
        <p:txBody>
          <a:bodyPr wrap="square">
            <a:spAutoFit/>
          </a:bodyPr>
          <a:lstStyle/>
          <a:p>
            <a:pPr algn="l"/>
            <a:r>
              <a:rPr sz="1800" b="1">
                <a:solidFill>
                  <a:srgbClr val="B45309"/>
                </a:solidFill>
                <a:latin typeface="Calibri"/>
              </a:rPr>
              <a:t>Remaining after interim</a:t>
            </a:r>
          </a:p>
        </p:txBody>
      </p:sp>
      <p:sp>
        <p:nvSpPr>
          <p:cNvPr id="12" name="TextBox 11"/>
          <p:cNvSpPr txBox="1"/>
          <p:nvPr/>
        </p:nvSpPr>
        <p:spPr>
          <a:xfrm>
            <a:off x="6446520" y="2011680"/>
            <a:ext cx="5074920" cy="3840480"/>
          </a:xfrm>
          <a:prstGeom prst="rect">
            <a:avLst/>
          </a:prstGeom>
          <a:noFill/>
        </p:spPr>
        <p:txBody>
          <a:bodyPr wrap="square">
            <a:spAutoFit/>
          </a:bodyPr>
          <a:lstStyle/>
          <a:p>
            <a:pPr>
              <a:spcAft>
                <a:spcPts val="800"/>
              </a:spcAft>
            </a:pPr>
            <a:r>
              <a:rPr sz="1400" b="0">
                <a:solidFill>
                  <a:srgbClr val="1B2430"/>
                </a:solidFill>
                <a:latin typeface="Calibri"/>
              </a:rPr>
              <a:t>•  Run the Expo application and Next.js dashboard live in the laboratory.</a:t>
            </a:r>
          </a:p>
          <a:p>
            <a:pPr>
              <a:spcAft>
                <a:spcPts val="800"/>
              </a:spcAft>
            </a:pPr>
            <a:r>
              <a:rPr sz="1400" b="0">
                <a:solidFill>
                  <a:srgbClr val="1B2430"/>
                </a:solidFill>
                <a:latin typeface="Calibri"/>
              </a:rPr>
              <a:t>•  Feed live approved rows into analysis/input/live_reports.json on a schedule.</a:t>
            </a:r>
          </a:p>
          <a:p>
            <a:pPr>
              <a:spcAft>
                <a:spcPts val="800"/>
              </a:spcAft>
            </a:pPr>
            <a:r>
              <a:rPr sz="1400" b="0">
                <a:solidFill>
                  <a:srgbClr val="1B2430"/>
                </a:solidFill>
                <a:latin typeface="Calibri"/>
              </a:rPr>
              <a:t>•  Optional: hold new reports as pending until moderation.</a:t>
            </a:r>
          </a:p>
          <a:p>
            <a:pPr>
              <a:spcAft>
                <a:spcPts val="800"/>
              </a:spcAft>
            </a:pPr>
            <a:r>
              <a:rPr sz="1400" b="0">
                <a:solidFill>
                  <a:srgbClr val="1B2430"/>
                </a:solidFill>
                <a:latin typeface="Calibri"/>
              </a:rPr>
              <a:t>•  Public store deployment is optional. It is not required to demonstrate the process.</a:t>
            </a:r>
          </a:p>
        </p:txBody>
      </p:sp>
      <p:sp>
        <p:nvSpPr>
          <p:cNvPr id="13" name="Rectangle 12"/>
          <p:cNvSpPr/>
          <p:nvPr/>
        </p:nvSpPr>
        <p:spPr>
          <a:xfrm>
            <a:off x="0" y="6656832"/>
            <a:ext cx="12191695" cy="20116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6656832"/>
            <a:ext cx="109728" cy="20116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 y="6656832"/>
            <a:ext cx="9509760" cy="201168"/>
          </a:xfrm>
          <a:prstGeom prst="rect">
            <a:avLst/>
          </a:prstGeom>
          <a:noFill/>
        </p:spPr>
        <p:txBody>
          <a:bodyPr wrap="square">
            <a:spAutoFit/>
          </a:bodyPr>
          <a:lstStyle/>
          <a:p>
            <a:pPr algn="l"/>
            <a:r>
              <a:rPr sz="1000" b="0">
                <a:solidFill>
                  <a:srgbClr val="FFFFFF"/>
                </a:solidFill>
                <a:latin typeface="Calibri"/>
              </a:rPr>
              <a:t>BMS Institute of Technology and Management  ·  Department of MCA  ·  Phase I Interim Review  ·  2025–27</a:t>
            </a:r>
          </a:p>
        </p:txBody>
      </p:sp>
      <p:sp>
        <p:nvSpPr>
          <p:cNvPr id="16" name="TextBox 15"/>
          <p:cNvSpPr txBox="1"/>
          <p:nvPr/>
        </p:nvSpPr>
        <p:spPr>
          <a:xfrm>
            <a:off x="10424160" y="6656832"/>
            <a:ext cx="1508760" cy="201168"/>
          </a:xfrm>
          <a:prstGeom prst="rect">
            <a:avLst/>
          </a:prstGeom>
          <a:noFill/>
        </p:spPr>
        <p:txBody>
          <a:bodyPr wrap="square">
            <a:spAutoFit/>
          </a:bodyPr>
          <a:lstStyle/>
          <a:p>
            <a:pPr algn="r"/>
            <a:r>
              <a:rPr sz="1000" b="0">
                <a:solidFill>
                  <a:srgbClr val="C4A35A"/>
                </a:solidFill>
                <a:latin typeface="Calibri"/>
              </a:rPr>
              <a:t>22  /  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74519"/>
            <a:ext cx="10972800" cy="640080"/>
          </a:xfrm>
          <a:prstGeom prst="rect">
            <a:avLst/>
          </a:prstGeom>
          <a:noFill/>
        </p:spPr>
        <p:txBody>
          <a:bodyPr wrap="square">
            <a:spAutoFit/>
          </a:bodyPr>
          <a:lstStyle/>
          <a:p>
            <a:pPr algn="l"/>
            <a:r>
              <a:rPr sz="4000" b="1">
                <a:solidFill>
                  <a:srgbClr val="FFFFFF"/>
                </a:solidFill>
                <a:latin typeface="Calibri"/>
              </a:rPr>
              <a:t>Thank you</a:t>
            </a:r>
          </a:p>
        </p:txBody>
      </p:sp>
      <p:sp>
        <p:nvSpPr>
          <p:cNvPr id="5" name="Rectangle 4"/>
          <p:cNvSpPr/>
          <p:nvPr/>
        </p:nvSpPr>
        <p:spPr>
          <a:xfrm>
            <a:off x="731520" y="2606040"/>
            <a:ext cx="1645920" cy="4572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880360"/>
            <a:ext cx="10789920" cy="822960"/>
          </a:xfrm>
          <a:prstGeom prst="rect">
            <a:avLst/>
          </a:prstGeom>
          <a:noFill/>
        </p:spPr>
        <p:txBody>
          <a:bodyPr wrap="square">
            <a:spAutoFit/>
          </a:bodyPr>
          <a:lstStyle/>
          <a:p>
            <a:pPr algn="l"/>
            <a:r>
              <a:rPr sz="1600" b="0">
                <a:solidFill>
                  <a:srgbClr val="D6C48A"/>
                </a:solidFill>
                <a:latin typeface="Calibri"/>
              </a:rPr>
              <a:t>SafeHer gives authorities maps, filters and patrol alerts they can retrieve themselves —
without depending on anyone else to send the data.</a:t>
            </a:r>
          </a:p>
        </p:txBody>
      </p:sp>
      <p:sp>
        <p:nvSpPr>
          <p:cNvPr id="7" name="TextBox 6"/>
          <p:cNvSpPr txBox="1"/>
          <p:nvPr/>
        </p:nvSpPr>
        <p:spPr>
          <a:xfrm>
            <a:off x="731520" y="4023360"/>
            <a:ext cx="10972800" cy="1463040"/>
          </a:xfrm>
          <a:prstGeom prst="rect">
            <a:avLst/>
          </a:prstGeom>
          <a:noFill/>
        </p:spPr>
        <p:txBody>
          <a:bodyPr wrap="square">
            <a:spAutoFit/>
          </a:bodyPr>
          <a:lstStyle/>
          <a:p>
            <a:pPr algn="l"/>
            <a:r>
              <a:rPr sz="1500" b="0">
                <a:solidFill>
                  <a:srgbClr val="FFFFFF"/>
                </a:solidFill>
                <a:latin typeface="Calibri"/>
              </a:rPr>
              <a:t>Anusha K  ·  1BY25MC017          Aman Yadav  ·  1BY25MC012
Guide: Dr. M Sridevi          Department of MCA, BMS Institute of Technology and Management</a:t>
            </a:r>
          </a:p>
        </p:txBody>
      </p:sp>
      <p:sp>
        <p:nvSpPr>
          <p:cNvPr id="8" name="Rectangle 7"/>
          <p:cNvSpPr/>
          <p:nvPr/>
        </p:nvSpPr>
        <p:spPr>
          <a:xfrm>
            <a:off x="0" y="6656832"/>
            <a:ext cx="12191695" cy="20116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656832"/>
            <a:ext cx="109728" cy="20116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656832"/>
            <a:ext cx="9509760" cy="201168"/>
          </a:xfrm>
          <a:prstGeom prst="rect">
            <a:avLst/>
          </a:prstGeom>
          <a:noFill/>
        </p:spPr>
        <p:txBody>
          <a:bodyPr wrap="square">
            <a:spAutoFit/>
          </a:bodyPr>
          <a:lstStyle/>
          <a:p>
            <a:pPr algn="l"/>
            <a:r>
              <a:rPr sz="1000" b="0">
                <a:solidFill>
                  <a:srgbClr val="FFFFFF"/>
                </a:solidFill>
                <a:latin typeface="Calibri"/>
              </a:rPr>
              <a:t>BMS Institute of Technology and Management  ·  Department of MCA  ·  Phase I Interim Review  ·  2025–27</a:t>
            </a:r>
          </a:p>
        </p:txBody>
      </p:sp>
      <p:sp>
        <p:nvSpPr>
          <p:cNvPr id="11" name="TextBox 10"/>
          <p:cNvSpPr txBox="1"/>
          <p:nvPr/>
        </p:nvSpPr>
        <p:spPr>
          <a:xfrm>
            <a:off x="10424160" y="6656832"/>
            <a:ext cx="1508760" cy="201168"/>
          </a:xfrm>
          <a:prstGeom prst="rect">
            <a:avLst/>
          </a:prstGeom>
          <a:noFill/>
        </p:spPr>
        <p:txBody>
          <a:bodyPr wrap="square">
            <a:spAutoFit/>
          </a:bodyPr>
          <a:lstStyle/>
          <a:p>
            <a:pPr algn="r"/>
            <a:r>
              <a:rPr sz="1000" b="0">
                <a:solidFill>
                  <a:srgbClr val="C4A35A"/>
                </a:solidFill>
                <a:latin typeface="Calibri"/>
              </a:rPr>
              <a:t>23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